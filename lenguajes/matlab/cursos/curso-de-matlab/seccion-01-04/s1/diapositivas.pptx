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4"/>
  </p:notesMasterIdLst>
  <p:sldIdLst>
    <p:sldId id="357" r:id="rId2"/>
    <p:sldId id="358" r:id="rId3"/>
    <p:sldId id="359" r:id="rId4"/>
    <p:sldId id="360" r:id="rId5"/>
    <p:sldId id="361" r:id="rId6"/>
    <p:sldId id="362" r:id="rId7"/>
    <p:sldId id="363" r:id="rId8"/>
    <p:sldId id="467" r:id="rId9"/>
    <p:sldId id="256" r:id="rId10"/>
    <p:sldId id="257" r:id="rId11"/>
    <p:sldId id="258" r:id="rId12"/>
    <p:sldId id="364" r:id="rId13"/>
    <p:sldId id="365" r:id="rId14"/>
    <p:sldId id="369" r:id="rId15"/>
    <p:sldId id="367" r:id="rId16"/>
    <p:sldId id="368" r:id="rId17"/>
    <p:sldId id="264" r:id="rId18"/>
    <p:sldId id="370" r:id="rId19"/>
    <p:sldId id="371" r:id="rId20"/>
    <p:sldId id="267" r:id="rId21"/>
    <p:sldId id="268" r:id="rId22"/>
    <p:sldId id="269" r:id="rId23"/>
    <p:sldId id="270" r:id="rId24"/>
    <p:sldId id="372" r:id="rId25"/>
    <p:sldId id="403" r:id="rId26"/>
    <p:sldId id="464" r:id="rId27"/>
    <p:sldId id="341" r:id="rId28"/>
    <p:sldId id="468" r:id="rId29"/>
    <p:sldId id="469" r:id="rId30"/>
    <p:sldId id="340" r:id="rId31"/>
    <p:sldId id="273" r:id="rId32"/>
    <p:sldId id="374" r:id="rId33"/>
    <p:sldId id="375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6" r:id="rId42"/>
    <p:sldId id="383" r:id="rId43"/>
    <p:sldId id="384" r:id="rId44"/>
    <p:sldId id="388" r:id="rId45"/>
    <p:sldId id="387" r:id="rId46"/>
    <p:sldId id="285" r:id="rId47"/>
    <p:sldId id="389" r:id="rId48"/>
    <p:sldId id="390" r:id="rId49"/>
    <p:sldId id="405" r:id="rId50"/>
    <p:sldId id="406" r:id="rId51"/>
    <p:sldId id="407" r:id="rId52"/>
    <p:sldId id="408" r:id="rId53"/>
    <p:sldId id="483" r:id="rId54"/>
    <p:sldId id="410" r:id="rId55"/>
    <p:sldId id="411" r:id="rId56"/>
    <p:sldId id="412" r:id="rId57"/>
    <p:sldId id="413" r:id="rId58"/>
    <p:sldId id="414" r:id="rId59"/>
    <p:sldId id="415" r:id="rId60"/>
    <p:sldId id="416" r:id="rId61"/>
    <p:sldId id="417" r:id="rId62"/>
    <p:sldId id="418" r:id="rId63"/>
    <p:sldId id="419" r:id="rId64"/>
    <p:sldId id="420" r:id="rId65"/>
    <p:sldId id="289" r:id="rId66"/>
    <p:sldId id="402" r:id="rId67"/>
    <p:sldId id="465" r:id="rId68"/>
    <p:sldId id="393" r:id="rId69"/>
    <p:sldId id="470" r:id="rId70"/>
    <p:sldId id="394" r:id="rId71"/>
    <p:sldId id="395" r:id="rId72"/>
    <p:sldId id="396" r:id="rId73"/>
    <p:sldId id="397" r:id="rId74"/>
    <p:sldId id="466" r:id="rId75"/>
    <p:sldId id="471" r:id="rId76"/>
    <p:sldId id="473" r:id="rId77"/>
    <p:sldId id="400" r:id="rId78"/>
    <p:sldId id="399" r:id="rId79"/>
    <p:sldId id="398" r:id="rId80"/>
    <p:sldId id="401" r:id="rId81"/>
    <p:sldId id="291" r:id="rId82"/>
    <p:sldId id="292" r:id="rId83"/>
    <p:sldId id="294" r:id="rId84"/>
    <p:sldId id="295" r:id="rId85"/>
    <p:sldId id="356" r:id="rId86"/>
    <p:sldId id="304" r:id="rId87"/>
    <p:sldId id="305" r:id="rId88"/>
    <p:sldId id="306" r:id="rId89"/>
    <p:sldId id="350" r:id="rId90"/>
    <p:sldId id="429" r:id="rId91"/>
    <p:sldId id="422" r:id="rId92"/>
    <p:sldId id="430" r:id="rId93"/>
    <p:sldId id="425" r:id="rId94"/>
    <p:sldId id="426" r:id="rId95"/>
    <p:sldId id="431" r:id="rId96"/>
    <p:sldId id="423" r:id="rId97"/>
    <p:sldId id="432" r:id="rId98"/>
    <p:sldId id="427" r:id="rId99"/>
    <p:sldId id="433" r:id="rId100"/>
    <p:sldId id="428" r:id="rId101"/>
    <p:sldId id="311" r:id="rId102"/>
    <p:sldId id="434" r:id="rId103"/>
    <p:sldId id="453" r:id="rId104"/>
    <p:sldId id="474" r:id="rId105"/>
    <p:sldId id="454" r:id="rId106"/>
    <p:sldId id="438" r:id="rId107"/>
    <p:sldId id="484" r:id="rId108"/>
    <p:sldId id="485" r:id="rId109"/>
    <p:sldId id="475" r:id="rId110"/>
    <p:sldId id="440" r:id="rId111"/>
    <p:sldId id="441" r:id="rId112"/>
    <p:sldId id="482" r:id="rId113"/>
    <p:sldId id="481" r:id="rId114"/>
    <p:sldId id="479" r:id="rId115"/>
    <p:sldId id="478" r:id="rId116"/>
    <p:sldId id="477" r:id="rId117"/>
    <p:sldId id="480" r:id="rId118"/>
    <p:sldId id="459" r:id="rId119"/>
    <p:sldId id="457" r:id="rId120"/>
    <p:sldId id="458" r:id="rId121"/>
    <p:sldId id="476" r:id="rId122"/>
    <p:sldId id="327" r:id="rId123"/>
    <p:sldId id="463" r:id="rId124"/>
    <p:sldId id="330" r:id="rId125"/>
    <p:sldId id="462" r:id="rId126"/>
    <p:sldId id="460" r:id="rId127"/>
    <p:sldId id="461" r:id="rId128"/>
    <p:sldId id="351" r:id="rId129"/>
    <p:sldId id="353" r:id="rId130"/>
    <p:sldId id="354" r:id="rId131"/>
    <p:sldId id="355" r:id="rId132"/>
    <p:sldId id="352" r:id="rId13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uan Pedro" initials="J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94" autoAdjust="0"/>
    <p:restoredTop sz="96154" autoAdjust="0"/>
  </p:normalViewPr>
  <p:slideViewPr>
    <p:cSldViewPr>
      <p:cViewPr>
        <p:scale>
          <a:sx n="81" d="100"/>
          <a:sy n="81" d="100"/>
        </p:scale>
        <p:origin x="-1068" y="-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10-13T16:00:23.816" idx="1">
    <p:pos x="4517" y="1309"/>
    <p:text>También se puede crear una función de transferencia definiendo a s como variable y a F como función de transferencia.
G1=syslin('c',1,%s+2)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184C3-1681-489A-8945-A3D407E930D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C4621-427A-41CF-BF9C-4C220CB6C4D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849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C4621-427A-41CF-BF9C-4C220CB6C4D5}" type="slidenum">
              <a:rPr lang="es-AR" smtClean="0"/>
              <a:t>37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52384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C4621-427A-41CF-BF9C-4C220CB6C4D5}" type="slidenum">
              <a:rPr lang="es-AR" smtClean="0"/>
              <a:t>51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5266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5C4621-427A-41CF-BF9C-4C220CB6C4D5}" type="slidenum">
              <a:rPr lang="es-AR" smtClean="0"/>
              <a:t>79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92316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B033A-7DC6-4090-8530-9BABC09316F8}" type="slidenum">
              <a:rPr lang="es-AR" smtClean="0"/>
              <a:t>110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2114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B033A-7DC6-4090-8530-9BABC09316F8}" type="slidenum">
              <a:rPr lang="es-AR" smtClean="0"/>
              <a:t>111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3211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7D5FE3BB-7C61-4440-ACCC-86D1CD4A9B71}" type="datetimeFigureOut">
              <a:rPr lang="es-AR" smtClean="0"/>
              <a:t>23/11/2023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4131F8CD-03FD-48BE-BB49-2F8DF74A1447}" type="slidenum">
              <a:rPr lang="es-AR" smtClean="0"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3.png"/><Relationship Id="rId4" Type="http://schemas.openxmlformats.org/officeDocument/2006/relationships/image" Target="../media/image102.png"/><Relationship Id="rId9" Type="http://schemas.openxmlformats.org/officeDocument/2006/relationships/image" Target="../media/image15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1.png"/><Relationship Id="rId7" Type="http://schemas.openxmlformats.org/officeDocument/2006/relationships/image" Target="../media/image26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1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113.png"/><Relationship Id="rId18" Type="http://schemas.openxmlformats.org/officeDocument/2006/relationships/image" Target="../media/image161.png"/><Relationship Id="rId3" Type="http://schemas.openxmlformats.org/officeDocument/2006/relationships/image" Target="../media/image110.png"/><Relationship Id="rId21" Type="http://schemas.openxmlformats.org/officeDocument/2006/relationships/image" Target="../media/image190.png"/><Relationship Id="rId7" Type="http://schemas.openxmlformats.org/officeDocument/2006/relationships/image" Target="../media/image51.png"/><Relationship Id="rId12" Type="http://schemas.openxmlformats.org/officeDocument/2006/relationships/image" Target="../media/image102.png"/><Relationship Id="rId17" Type="http://schemas.openxmlformats.org/officeDocument/2006/relationships/image" Target="../media/image15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1.png"/><Relationship Id="rId20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92.png"/><Relationship Id="rId5" Type="http://schemas.openxmlformats.org/officeDocument/2006/relationships/image" Target="../media/image310.png"/><Relationship Id="rId15" Type="http://schemas.openxmlformats.org/officeDocument/2006/relationships/image" Target="../media/image131.png"/><Relationship Id="rId10" Type="http://schemas.openxmlformats.org/officeDocument/2006/relationships/image" Target="../media/image80.png"/><Relationship Id="rId19" Type="http://schemas.openxmlformats.org/officeDocument/2006/relationships/image" Target="../media/image171.png"/><Relationship Id="rId4" Type="http://schemas.openxmlformats.org/officeDocument/2006/relationships/image" Target="../media/image210.png"/><Relationship Id="rId9" Type="http://schemas.openxmlformats.org/officeDocument/2006/relationships/image" Target="../media/image71.png"/><Relationship Id="rId14" Type="http://schemas.openxmlformats.org/officeDocument/2006/relationships/image" Target="../media/image122.png"/><Relationship Id="rId22" Type="http://schemas.openxmlformats.org/officeDocument/2006/relationships/image" Target="../media/image200.png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8.png"/><Relationship Id="rId21" Type="http://schemas.openxmlformats.org/officeDocument/2006/relationships/image" Target="../media/image38.png"/><Relationship Id="rId7" Type="http://schemas.openxmlformats.org/officeDocument/2006/relationships/image" Target="../media/image240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image" Target="../media/image280.png"/><Relationship Id="rId5" Type="http://schemas.openxmlformats.org/officeDocument/2006/relationships/image" Target="../media/image220.png"/><Relationship Id="rId15" Type="http://schemas.openxmlformats.org/officeDocument/2006/relationships/image" Target="../media/image32.png"/><Relationship Id="rId10" Type="http://schemas.openxmlformats.org/officeDocument/2006/relationships/image" Target="../media/image270.png"/><Relationship Id="rId19" Type="http://schemas.openxmlformats.org/officeDocument/2006/relationships/image" Target="../media/image36.png"/><Relationship Id="rId4" Type="http://schemas.openxmlformats.org/officeDocument/2006/relationships/image" Target="../media/image211.png"/><Relationship Id="rId9" Type="http://schemas.openxmlformats.org/officeDocument/2006/relationships/image" Target="../media/image260.png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1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17112" y="1730403"/>
            <a:ext cx="7643320" cy="1204306"/>
          </a:xfrm>
        </p:spPr>
        <p:txBody>
          <a:bodyPr anchor="ctr">
            <a:normAutofit/>
          </a:bodyPr>
          <a:lstStyle/>
          <a:p>
            <a:pPr algn="ctr"/>
            <a:r>
              <a:rPr lang="es-AR" dirty="0"/>
              <a:t>Matlab, </a:t>
            </a:r>
            <a:r>
              <a:rPr lang="es-AR" dirty="0" err="1"/>
              <a:t>Octave</a:t>
            </a:r>
            <a:r>
              <a:rPr lang="es-AR" dirty="0"/>
              <a:t>, </a:t>
            </a:r>
            <a:r>
              <a:rPr lang="es-AR" dirty="0" err="1"/>
              <a:t>Scilab</a:t>
            </a:r>
            <a:r>
              <a:rPr lang="es-AR" dirty="0"/>
              <a:t> y sus entornos</a:t>
            </a:r>
          </a:p>
        </p:txBody>
      </p:sp>
    </p:spTree>
    <p:extLst>
      <p:ext uri="{BB962C8B-B14F-4D97-AF65-F5344CB8AC3E}">
        <p14:creationId xmlns:p14="http://schemas.microsoft.com/office/powerpoint/2010/main" val="3343057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100628"/>
            <a:ext cx="8280920" cy="5757372"/>
          </a:xfrm>
        </p:spPr>
        <p:txBody>
          <a:bodyPr>
            <a:normAutofit fontScale="92500" lnSpcReduction="10000"/>
          </a:bodyPr>
          <a:lstStyle/>
          <a:p>
            <a:pPr marL="0" lvl="5" indent="0" algn="just">
              <a:buNone/>
            </a:pPr>
            <a:r>
              <a:rPr lang="es-AR" sz="2000" b="0" dirty="0" smtClean="0"/>
              <a:t>Es un lenguaje de alto nivel desarrollado para diseñar algoritmos, realizar análisis de datos, cálculo diferencial, integral y numérico. Además, cuenta con</a:t>
            </a:r>
            <a:r>
              <a:rPr lang="es-AR" dirty="0" smtClean="0"/>
              <a:t> </a:t>
            </a:r>
            <a:r>
              <a:rPr lang="es-AR" sz="2100" dirty="0"/>
              <a:t>entorno de simulación virtual llamada </a:t>
            </a:r>
            <a:r>
              <a:rPr lang="es-AR" sz="2100" dirty="0" err="1"/>
              <a:t>Simulink</a:t>
            </a:r>
            <a:r>
              <a:rPr lang="es-AR" sz="2100" dirty="0"/>
              <a:t>. </a:t>
            </a:r>
          </a:p>
          <a:p>
            <a:pPr marL="0" indent="0" algn="just">
              <a:buNone/>
            </a:pPr>
            <a:endParaRPr lang="es-AR" sz="2000" b="0" dirty="0" smtClean="0"/>
          </a:p>
          <a:p>
            <a:pPr marL="0" indent="0" algn="just"/>
            <a:r>
              <a:rPr lang="es-AR" sz="2000" b="0" dirty="0" smtClean="0"/>
              <a:t>Se creó con el objetivo de:</a:t>
            </a: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s-AR" sz="2000" dirty="0" smtClean="0"/>
              <a:t>Analizar datos</a:t>
            </a: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s-AR" sz="2000" dirty="0" smtClean="0"/>
              <a:t>Desarrollar algoritmos</a:t>
            </a:r>
          </a:p>
          <a:p>
            <a:pPr lvl="3" algn="just">
              <a:buFont typeface="Arial" panose="020B0604020202020204" pitchFamily="34" charset="0"/>
              <a:buChar char="•"/>
            </a:pPr>
            <a:r>
              <a:rPr lang="es-AR" sz="2000" dirty="0" smtClean="0"/>
              <a:t>Crear modelos </a:t>
            </a:r>
            <a:r>
              <a:rPr lang="es-AR" sz="2000" dirty="0" err="1" smtClean="0"/>
              <a:t>matematicos</a:t>
            </a:r>
            <a:endParaRPr lang="es-AR" sz="2000" dirty="0" smtClean="0"/>
          </a:p>
          <a:p>
            <a:pPr marL="0" lvl="3" indent="0" algn="just">
              <a:buNone/>
            </a:pPr>
            <a:endParaRPr lang="es-AR" sz="2000" dirty="0" smtClean="0"/>
          </a:p>
          <a:p>
            <a:pPr marL="0" lvl="3" indent="0" algn="just">
              <a:buNone/>
            </a:pPr>
            <a:r>
              <a:rPr lang="es-AR" sz="2000" dirty="0" smtClean="0"/>
              <a:t>Usado en:</a:t>
            </a:r>
          </a:p>
          <a:p>
            <a:pPr marL="752094" lvl="5" indent="-285750" algn="just"/>
            <a:r>
              <a:rPr lang="es-AR" sz="2000" dirty="0" smtClean="0"/>
              <a:t>Sistemas de control</a:t>
            </a:r>
            <a:endParaRPr lang="es-AR" sz="2000" dirty="0"/>
          </a:p>
          <a:p>
            <a:pPr marL="752094" lvl="5" indent="-285750" algn="just"/>
            <a:r>
              <a:rPr lang="es-AR" sz="2000" dirty="0" smtClean="0"/>
              <a:t>Machine </a:t>
            </a:r>
            <a:r>
              <a:rPr lang="es-AR" sz="2000" dirty="0" err="1" smtClean="0"/>
              <a:t>learning</a:t>
            </a:r>
            <a:endParaRPr lang="es-AR" sz="2000" dirty="0"/>
          </a:p>
          <a:p>
            <a:pPr marL="752094" lvl="5" indent="-285750" algn="just"/>
            <a:r>
              <a:rPr lang="es-AR" sz="2000" dirty="0" smtClean="0"/>
              <a:t>Procesamiento de señales</a:t>
            </a:r>
            <a:endParaRPr lang="es-AR" sz="2000" dirty="0"/>
          </a:p>
          <a:p>
            <a:pPr marL="752094" lvl="5" indent="-285750" algn="just"/>
            <a:r>
              <a:rPr lang="es-AR" sz="2000" dirty="0" smtClean="0"/>
              <a:t>Deep </a:t>
            </a:r>
            <a:r>
              <a:rPr lang="es-AR" sz="2000" dirty="0" err="1" smtClean="0"/>
              <a:t>Learning</a:t>
            </a:r>
            <a:endParaRPr lang="es-AR" sz="2000" dirty="0"/>
          </a:p>
          <a:p>
            <a:pPr marL="752094" lvl="5" indent="-285750" algn="just"/>
            <a:r>
              <a:rPr lang="es-AR" sz="2000" dirty="0" smtClean="0"/>
              <a:t>Mantenimiento predictivo</a:t>
            </a:r>
            <a:endParaRPr lang="es-AR" sz="2000" dirty="0"/>
          </a:p>
          <a:p>
            <a:pPr marL="752094" lvl="5" indent="-285750" algn="just"/>
            <a:r>
              <a:rPr lang="es-AR" sz="2000" dirty="0" smtClean="0"/>
              <a:t>Prueba y medición</a:t>
            </a:r>
          </a:p>
          <a:p>
            <a:pPr marL="752094" lvl="5" indent="-285750" algn="just"/>
            <a:r>
              <a:rPr lang="es-AR" sz="2000" dirty="0" smtClean="0"/>
              <a:t>Robótica</a:t>
            </a:r>
          </a:p>
          <a:p>
            <a:pPr marL="752094" lvl="5" indent="-285750" algn="just"/>
            <a:r>
              <a:rPr lang="es-AR" sz="2000" dirty="0" smtClean="0"/>
              <a:t>Comunicaciones inalámbricas</a:t>
            </a:r>
          </a:p>
          <a:p>
            <a:pPr marL="0" lvl="5" indent="0">
              <a:buNone/>
            </a:pPr>
            <a:endParaRPr lang="es-AR" sz="2000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matlab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3363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100628"/>
            <a:ext cx="8280920" cy="5757372"/>
          </a:xfrm>
        </p:spPr>
        <p:txBody>
          <a:bodyPr>
            <a:normAutofit/>
          </a:bodyPr>
          <a:lstStyle/>
          <a:p>
            <a:pPr marL="0" lvl="5" indent="0" algn="just">
              <a:buNone/>
            </a:pPr>
            <a:r>
              <a:rPr lang="es-AR" sz="2000" dirty="0" smtClean="0"/>
              <a:t>Se </a:t>
            </a:r>
            <a:r>
              <a:rPr lang="es-AR" sz="2000" dirty="0"/>
              <a:t>considera a </a:t>
            </a:r>
            <a:r>
              <a:rPr lang="es-AR" sz="2000" dirty="0" err="1"/>
              <a:t>Octave</a:t>
            </a:r>
            <a:r>
              <a:rPr lang="es-AR" sz="2000" dirty="0"/>
              <a:t> el software de código libre equivalente de Matlab, el cual es propiedad de </a:t>
            </a:r>
            <a:r>
              <a:rPr lang="es-AR" sz="2000" dirty="0" err="1"/>
              <a:t>Mathworks</a:t>
            </a:r>
            <a:r>
              <a:rPr lang="es-AR" sz="2000" dirty="0"/>
              <a:t>. </a:t>
            </a:r>
            <a:r>
              <a:rPr lang="es-AR" sz="2000" dirty="0" smtClean="0"/>
              <a:t>Es parte del proyecto GNU </a:t>
            </a:r>
            <a:r>
              <a:rPr lang="es-AR" sz="2000" dirty="0" err="1" smtClean="0"/>
              <a:t>Octave</a:t>
            </a:r>
            <a:r>
              <a:rPr lang="es-AR" sz="2000" dirty="0" smtClean="0"/>
              <a:t>.</a:t>
            </a:r>
            <a:endParaRPr lang="es-AR" sz="2000" dirty="0"/>
          </a:p>
          <a:p>
            <a:pPr marL="0" lvl="5" indent="0" algn="just">
              <a:buNone/>
            </a:pPr>
            <a:endParaRPr lang="es-AR" sz="2000" dirty="0"/>
          </a:p>
          <a:p>
            <a:pPr marL="0" lvl="5" indent="0" algn="just">
              <a:buNone/>
            </a:pPr>
            <a:r>
              <a:rPr lang="es-AR" sz="2000" dirty="0" err="1"/>
              <a:t>Octave</a:t>
            </a:r>
            <a:r>
              <a:rPr lang="es-AR" sz="2000" dirty="0"/>
              <a:t> no requiere una licencia paga, mientras que Matlab sí. </a:t>
            </a:r>
          </a:p>
          <a:p>
            <a:pPr marL="0" lvl="5" indent="0" algn="just">
              <a:buNone/>
            </a:pPr>
            <a:endParaRPr lang="es-AR" sz="2000" dirty="0"/>
          </a:p>
          <a:p>
            <a:pPr marL="0" lvl="5" indent="0" algn="just">
              <a:buNone/>
            </a:pPr>
            <a:r>
              <a:rPr lang="es-AR" sz="2000" dirty="0"/>
              <a:t>Tanto </a:t>
            </a:r>
            <a:r>
              <a:rPr lang="es-AR" sz="2000" dirty="0" err="1"/>
              <a:t>Octave</a:t>
            </a:r>
            <a:r>
              <a:rPr lang="es-AR" sz="2000" dirty="0"/>
              <a:t> como </a:t>
            </a:r>
            <a:r>
              <a:rPr lang="es-AR" sz="2000" dirty="0" smtClean="0"/>
              <a:t>Matlab </a:t>
            </a:r>
            <a:r>
              <a:rPr lang="es-AR" sz="2000" dirty="0"/>
              <a:t>tienen una gran comunidad de usuarios que comparten sus trabajos y </a:t>
            </a:r>
            <a:r>
              <a:rPr lang="es-AR" sz="2000" dirty="0" smtClean="0"/>
              <a:t>funciones.</a:t>
            </a:r>
          </a:p>
          <a:p>
            <a:pPr marL="0" lvl="5" indent="0" algn="just">
              <a:buNone/>
            </a:pPr>
            <a:endParaRPr lang="es-AR" sz="2000" dirty="0" smtClean="0"/>
          </a:p>
          <a:p>
            <a:pPr marL="0" lvl="5" indent="0" algn="just">
              <a:buNone/>
            </a:pPr>
            <a:r>
              <a:rPr lang="es-AR" sz="2000" dirty="0" smtClean="0"/>
              <a:t>Para </a:t>
            </a:r>
            <a:r>
              <a:rPr lang="es-AR" sz="2000" dirty="0" err="1" smtClean="0"/>
              <a:t>Octave</a:t>
            </a:r>
            <a:r>
              <a:rPr lang="es-AR" sz="2000" dirty="0" smtClean="0"/>
              <a:t> se puede descargar paquetes de funciones e instalarlos en el programa. Matlab, en cambio, solo permite descargar los paquetes de </a:t>
            </a:r>
            <a:r>
              <a:rPr lang="es-AR" sz="2000" dirty="0" err="1" smtClean="0"/>
              <a:t>Mathworks</a:t>
            </a:r>
            <a:r>
              <a:rPr lang="es-AR" sz="2000" dirty="0" smtClean="0"/>
              <a:t>.</a:t>
            </a:r>
          </a:p>
          <a:p>
            <a:pPr marL="0" lvl="5" indent="0" algn="just">
              <a:buNone/>
            </a:pPr>
            <a:endParaRPr lang="es-AR" dirty="0"/>
          </a:p>
          <a:p>
            <a:pPr marL="0" lvl="5" indent="0" algn="just">
              <a:buNone/>
            </a:pPr>
            <a:r>
              <a:rPr lang="es-AR" sz="2000" dirty="0" smtClean="0"/>
              <a:t>Este software no tiene un equivalente a </a:t>
            </a:r>
            <a:r>
              <a:rPr lang="es-AR" sz="2000" dirty="0" err="1" smtClean="0"/>
              <a:t>Simulink</a:t>
            </a:r>
            <a:r>
              <a:rPr lang="es-AR" sz="2000" dirty="0" smtClean="0"/>
              <a:t>.</a:t>
            </a:r>
          </a:p>
          <a:p>
            <a:pPr marL="0" lvl="5" indent="0" algn="just">
              <a:buNone/>
            </a:pPr>
            <a:endParaRPr lang="es-AR" dirty="0"/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octave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0118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100628"/>
            <a:ext cx="8280920" cy="5757372"/>
          </a:xfrm>
        </p:spPr>
        <p:txBody>
          <a:bodyPr>
            <a:normAutofit/>
          </a:bodyPr>
          <a:lstStyle/>
          <a:p>
            <a:pPr marL="0" lvl="5" indent="0" algn="just">
              <a:buNone/>
            </a:pPr>
            <a:r>
              <a:rPr lang="es-AR" sz="2000" dirty="0" smtClean="0"/>
              <a:t>Al igual que </a:t>
            </a:r>
            <a:r>
              <a:rPr lang="es-AR" sz="2000" dirty="0" err="1" smtClean="0"/>
              <a:t>Octave</a:t>
            </a:r>
            <a:r>
              <a:rPr lang="es-AR" sz="2000" dirty="0" smtClean="0"/>
              <a:t>, se lo considera un software equivalente a Matlab pero las funciones que tiene cargadas suelen tener un nombre distinto. Fue desarrollado por </a:t>
            </a:r>
            <a:r>
              <a:rPr lang="es-AR" sz="2000" dirty="0" err="1" smtClean="0"/>
              <a:t>Scilab</a:t>
            </a:r>
            <a:r>
              <a:rPr lang="es-AR" sz="2000" dirty="0" smtClean="0"/>
              <a:t> </a:t>
            </a:r>
            <a:r>
              <a:rPr lang="es-AR" sz="2000" dirty="0" err="1" smtClean="0"/>
              <a:t>Enterprises</a:t>
            </a:r>
            <a:r>
              <a:rPr lang="es-AR" sz="2000" dirty="0" smtClean="0"/>
              <a:t>.</a:t>
            </a:r>
            <a:endParaRPr lang="es-AR" sz="2000" dirty="0"/>
          </a:p>
          <a:p>
            <a:pPr marL="0" lvl="5" indent="0" algn="just">
              <a:buNone/>
            </a:pPr>
            <a:endParaRPr lang="es-AR" sz="2000" dirty="0"/>
          </a:p>
          <a:p>
            <a:pPr marL="0" lvl="5" indent="0" algn="just">
              <a:buNone/>
            </a:pPr>
            <a:r>
              <a:rPr lang="es-AR" sz="2000" dirty="0" smtClean="0"/>
              <a:t>Al igual que </a:t>
            </a:r>
            <a:r>
              <a:rPr lang="es-AR" sz="2000" dirty="0" err="1" smtClean="0"/>
              <a:t>Octave</a:t>
            </a:r>
            <a:r>
              <a:rPr lang="es-AR" sz="2000" dirty="0" smtClean="0"/>
              <a:t>, </a:t>
            </a:r>
            <a:r>
              <a:rPr lang="es-AR" sz="2000" dirty="0"/>
              <a:t>no requiere una licencia </a:t>
            </a:r>
            <a:r>
              <a:rPr lang="es-AR" sz="2000" dirty="0" smtClean="0"/>
              <a:t>paga. </a:t>
            </a:r>
            <a:endParaRPr lang="es-AR" sz="2000" dirty="0"/>
          </a:p>
          <a:p>
            <a:pPr marL="0" lvl="5" indent="0" algn="just">
              <a:buNone/>
            </a:pPr>
            <a:endParaRPr lang="es-AR" sz="2000" dirty="0"/>
          </a:p>
          <a:p>
            <a:pPr marL="0" lvl="5" indent="0" algn="just">
              <a:buNone/>
            </a:pPr>
            <a:r>
              <a:rPr lang="es-AR" sz="2000" dirty="0" smtClean="0"/>
              <a:t>Como los otros dos softwares, tienen </a:t>
            </a:r>
            <a:r>
              <a:rPr lang="es-AR" sz="2000" dirty="0"/>
              <a:t>una gran comunidad de </a:t>
            </a:r>
            <a:r>
              <a:rPr lang="es-AR" sz="2000" dirty="0" smtClean="0"/>
              <a:t>usuarios, los cuales suben a internet sus trabajos para fomentar el intercambio.</a:t>
            </a:r>
          </a:p>
          <a:p>
            <a:pPr marL="0" lvl="5" indent="0" algn="just">
              <a:buNone/>
            </a:pPr>
            <a:endParaRPr lang="es-AR" sz="2000" dirty="0" smtClean="0"/>
          </a:p>
          <a:p>
            <a:pPr marL="0" lvl="5" indent="0" algn="just">
              <a:buNone/>
            </a:pPr>
            <a:r>
              <a:rPr lang="es-AR" sz="2000" dirty="0" smtClean="0"/>
              <a:t>Como </a:t>
            </a:r>
            <a:r>
              <a:rPr lang="es-AR" sz="2000" dirty="0" err="1" smtClean="0"/>
              <a:t>Octave</a:t>
            </a:r>
            <a:r>
              <a:rPr lang="es-AR" sz="2000" dirty="0" smtClean="0"/>
              <a:t>, tiene la ventaja de que se puede descargar paquetes de funciones. </a:t>
            </a:r>
          </a:p>
          <a:p>
            <a:pPr marL="0" lvl="5" indent="0" algn="just">
              <a:buNone/>
            </a:pPr>
            <a:endParaRPr lang="es-AR" dirty="0"/>
          </a:p>
          <a:p>
            <a:pPr marL="0" lvl="5" indent="0" algn="just">
              <a:buNone/>
            </a:pPr>
            <a:r>
              <a:rPr lang="es-AR" sz="2000" dirty="0" smtClean="0"/>
              <a:t>Si bien es un software desarrollado para análisis numérico, puede usarse para el fin que el usuario quiera darle.</a:t>
            </a:r>
          </a:p>
          <a:p>
            <a:pPr marL="0" lvl="5" indent="0" algn="just">
              <a:buNone/>
            </a:pPr>
            <a:endParaRPr lang="es-AR" dirty="0"/>
          </a:p>
          <a:p>
            <a:pPr marL="0" lvl="5" indent="0" algn="just">
              <a:buNone/>
            </a:pPr>
            <a:r>
              <a:rPr lang="es-AR" sz="2000" dirty="0"/>
              <a:t>Tiene un equivalente a </a:t>
            </a:r>
            <a:r>
              <a:rPr lang="es-AR" sz="2000" dirty="0" err="1"/>
              <a:t>Simulink</a:t>
            </a:r>
            <a:r>
              <a:rPr lang="es-AR" sz="2000" dirty="0"/>
              <a:t>, llamada </a:t>
            </a:r>
            <a:r>
              <a:rPr lang="es-AR" sz="2000" dirty="0" err="1"/>
              <a:t>Xcos</a:t>
            </a:r>
            <a:r>
              <a:rPr lang="es-AR" sz="2000" dirty="0"/>
              <a:t>. </a:t>
            </a:r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scilab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5711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"/>
          <a:stretch/>
        </p:blipFill>
        <p:spPr bwMode="auto">
          <a:xfrm>
            <a:off x="0" y="-1"/>
            <a:ext cx="9143999" cy="3384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4" t="7158" r="12480" b="5545"/>
          <a:stretch/>
        </p:blipFill>
        <p:spPr bwMode="auto">
          <a:xfrm>
            <a:off x="-36511" y="3384377"/>
            <a:ext cx="9180512" cy="350100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0" y="432000"/>
            <a:ext cx="1547664" cy="28529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-36512" y="3789040"/>
            <a:ext cx="2160240" cy="30243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Rectángulo"/>
          <p:cNvSpPr/>
          <p:nvPr/>
        </p:nvSpPr>
        <p:spPr>
          <a:xfrm>
            <a:off x="1547664" y="426692"/>
            <a:ext cx="5688632" cy="2714276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Rectángulo"/>
          <p:cNvSpPr/>
          <p:nvPr/>
        </p:nvSpPr>
        <p:spPr>
          <a:xfrm>
            <a:off x="2123728" y="5408662"/>
            <a:ext cx="4692849" cy="140471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7248500" y="423294"/>
            <a:ext cx="1895501" cy="14351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7236296" y="1844824"/>
            <a:ext cx="1895501" cy="14351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6852963" y="3717032"/>
            <a:ext cx="2291038" cy="19442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6816577" y="5661248"/>
            <a:ext cx="2315220" cy="11639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2137741" y="3717032"/>
            <a:ext cx="4678836" cy="16916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2411760" y="3140968"/>
            <a:ext cx="360040" cy="1440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Flecha abajo"/>
          <p:cNvSpPr/>
          <p:nvPr/>
        </p:nvSpPr>
        <p:spPr>
          <a:xfrm>
            <a:off x="2447764" y="2706439"/>
            <a:ext cx="324036" cy="434529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069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5" grpId="0" animBg="1"/>
      <p:bldP spid="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60"/>
          <a:stretch/>
        </p:blipFill>
        <p:spPr bwMode="auto">
          <a:xfrm>
            <a:off x="0" y="-27384"/>
            <a:ext cx="9131797" cy="3411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4" t="7158" r="12480" b="5545"/>
          <a:stretch/>
        </p:blipFill>
        <p:spPr bwMode="auto">
          <a:xfrm>
            <a:off x="-36511" y="3384377"/>
            <a:ext cx="9180512" cy="350100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0" y="432000"/>
            <a:ext cx="1547664" cy="28529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-36512" y="3789040"/>
            <a:ext cx="2160240" cy="30243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Rectángulo"/>
          <p:cNvSpPr/>
          <p:nvPr/>
        </p:nvSpPr>
        <p:spPr>
          <a:xfrm>
            <a:off x="1547664" y="426692"/>
            <a:ext cx="5976664" cy="2858292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Rectángulo"/>
          <p:cNvSpPr/>
          <p:nvPr/>
        </p:nvSpPr>
        <p:spPr>
          <a:xfrm>
            <a:off x="2123728" y="5408662"/>
            <a:ext cx="4692849" cy="1404714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7524328" y="423294"/>
            <a:ext cx="1619673" cy="1435198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7524328" y="1844824"/>
            <a:ext cx="1607469" cy="14351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6852963" y="3717032"/>
            <a:ext cx="2291038" cy="1944216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6816577" y="5661248"/>
            <a:ext cx="2315220" cy="11639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2137741" y="3717032"/>
            <a:ext cx="4678836" cy="169163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0" y="172800"/>
            <a:ext cx="360040" cy="1440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Flecha abajo"/>
          <p:cNvSpPr/>
          <p:nvPr/>
        </p:nvSpPr>
        <p:spPr>
          <a:xfrm rot="5400000">
            <a:off x="432000" y="25381"/>
            <a:ext cx="324036" cy="434529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1185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5" grpId="0" animBg="1"/>
      <p:bldP spid="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3380712"/>
                  </p:ext>
                </p:extLst>
              </p:nvPr>
            </p:nvGraphicFramePr>
            <p:xfrm>
              <a:off x="2411760" y="1143247"/>
              <a:ext cx="4810790" cy="53040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274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2934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229349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22934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43204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Variable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Rango</a:t>
                          </a:r>
                          <a:endParaRPr lang="es-A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32048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135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int8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0446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Int16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15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15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267387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Int32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31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31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s-AR" sz="1800" b="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230312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Int64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63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63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37253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Uint8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0017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Uint16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16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335111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Uint32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32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298036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Uint64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64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332969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Single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3,4.10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3,4.10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  <a:tr h="295894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Double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AR" sz="1800" b="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1,79.10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308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1,79.10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308</m:t>
                                  </m:r>
                                </m:sup>
                              </m:sSup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11"/>
                      </a:ext>
                    </a:extLst>
                  </a:tr>
                  <a:tr h="258819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Char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Código </a:t>
                          </a:r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Ascii</a:t>
                          </a: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12"/>
                      </a:ext>
                    </a:extLst>
                  </a:tr>
                  <a:tr h="31225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Boolean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0 - 1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0 - 1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 - F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3380712"/>
                  </p:ext>
                </p:extLst>
              </p:nvPr>
            </p:nvGraphicFramePr>
            <p:xfrm>
              <a:off x="2411760" y="1143247"/>
              <a:ext cx="4810790" cy="53040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27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93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2934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293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3204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Variable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Rango</a:t>
                          </a:r>
                          <a:endParaRPr lang="es-A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32048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13545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int8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210294" r="-660" b="-99558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808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Int16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351667" r="-660" b="-10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Int32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451667" r="-660" b="-9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Int64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551667" r="-660" b="-828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Uint8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640984" r="-660" b="-7147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Uint16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753333" r="-660" b="-6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Uint32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853333" r="-660" b="-5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Uint64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953333" r="-660" b="-4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Single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1053333" r="-660" b="-3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Double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528" t="-1153333" r="-660" b="-22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Char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Código </a:t>
                          </a:r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Ascii</a:t>
                          </a: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Boolean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0 - 1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0 - 1</a:t>
                          </a: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T - F</a:t>
                          </a:r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Tipos de variable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0003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El código </a:t>
            </a:r>
            <a:r>
              <a:rPr lang="es-AR" dirty="0" err="1" smtClean="0"/>
              <a:t>ascii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10428" t="24899" r="26966" b="21206"/>
          <a:stretch/>
        </p:blipFill>
        <p:spPr>
          <a:xfrm>
            <a:off x="863452" y="1268760"/>
            <a:ext cx="763284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1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17112" y="1730403"/>
            <a:ext cx="7643320" cy="1204306"/>
          </a:xfrm>
        </p:spPr>
        <p:txBody>
          <a:bodyPr anchor="ctr"/>
          <a:lstStyle/>
          <a:p>
            <a:pPr algn="ctr"/>
            <a:r>
              <a:rPr lang="es-AR" dirty="0" smtClean="0"/>
              <a:t>Operaciones matemáticas básicas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7311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6195909"/>
                  </p:ext>
                </p:extLst>
              </p:nvPr>
            </p:nvGraphicFramePr>
            <p:xfrm>
              <a:off x="1115617" y="66248"/>
              <a:ext cx="691276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11242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52114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480375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Símbolo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Suma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+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Resta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Multiplicación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*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Multiplicación (punto)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.*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/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 (punto)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./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 invertida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\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 invertida (punto)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. \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Potencia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^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Potencia</a:t>
                          </a:r>
                          <a:r>
                            <a:rPr lang="es-AR" baseline="0" dirty="0" smtClean="0"/>
                            <a:t> (punto)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. ^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Factorial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factorial()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Redondeo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round()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Redondeo (cero)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fix</a:t>
                          </a:r>
                          <a:r>
                            <a:rPr lang="es-AR" dirty="0" smtClean="0"/>
                            <a:t>()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Redondeo (</a:t>
                          </a:r>
                          <a14:m>
                            <m:oMath xmlns:m="http://schemas.openxmlformats.org/officeDocument/2006/math">
                              <m:r>
                                <a:rPr lang="es-AR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oMath>
                          </a14:m>
                          <a:r>
                            <a:rPr lang="es-AR" dirty="0" smtClean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floor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Redondeo (</a:t>
                          </a:r>
                          <a14:m>
                            <m:oMath xmlns:m="http://schemas.openxmlformats.org/officeDocument/2006/math">
                              <m:r>
                                <a:rPr lang="es-AR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s-AR" b="0" i="1" smtClean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oMath>
                          </a14:m>
                          <a:r>
                            <a:rPr lang="es-AR" dirty="0" smtClean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ceil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Resto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rem()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Signo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sign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6195909"/>
                  </p:ext>
                </p:extLst>
              </p:nvPr>
            </p:nvGraphicFramePr>
            <p:xfrm>
              <a:off x="1115617" y="66248"/>
              <a:ext cx="6912766" cy="6675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9112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11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803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Símbolo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Suma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+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Resta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Multiplicación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*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Multiplicación (punto)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.*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/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 (punto)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./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 invertida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\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División invertida (punto)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. \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Potencia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^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Potencia</a:t>
                          </a:r>
                          <a:r>
                            <a:rPr lang="es-AR" baseline="0" dirty="0" smtClean="0"/>
                            <a:t> (punto)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. ^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Factorial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factorial()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Redondeo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round()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Redondeo (cero)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fix</a:t>
                          </a:r>
                          <a:r>
                            <a:rPr lang="es-AR" dirty="0" smtClean="0"/>
                            <a:t>()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312" t="-1404918" r="-77414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floor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312" t="-1504918" r="-77414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ceil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Resto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rem()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Signo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sign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831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817112" y="1730403"/>
            <a:ext cx="764332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Operaciones básicas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1049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10057"/>
              </p:ext>
            </p:extLst>
          </p:nvPr>
        </p:nvGraphicFramePr>
        <p:xfrm>
          <a:off x="467544" y="260648"/>
          <a:ext cx="8280921" cy="592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10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608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993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993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3033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040"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Comando</a:t>
                      </a:r>
                      <a:endParaRPr lang="es-A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Símbolo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Función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Scilab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Octave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Operador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colon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Notación </a:t>
                      </a:r>
                      <a:r>
                        <a:rPr lang="es-A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cientifica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1e3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Resultado anterior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ans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borrar variable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clear</a:t>
                      </a:r>
                      <a:r>
                        <a:rPr lang="es-AR" dirty="0" smtClean="0"/>
                        <a:t> X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Borrar pantalla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clc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Tipo de variable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class</a:t>
                      </a:r>
                      <a:r>
                        <a:rPr lang="es-AR" baseline="0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typeof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class</a:t>
                      </a:r>
                      <a:r>
                        <a:rPr lang="es-AR" baseline="0" dirty="0" smtClean="0"/>
                        <a:t>()</a:t>
                      </a:r>
                      <a:endParaRPr lang="es-A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Parar cálculo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Ctrl</a:t>
                      </a:r>
                      <a:r>
                        <a:rPr lang="es-AR" baseline="0" dirty="0" smtClean="0"/>
                        <a:t> + c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Formato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format</a:t>
                      </a:r>
                      <a:r>
                        <a:rPr lang="es-AR" dirty="0" smtClean="0"/>
                        <a:t> X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Ayuda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help</a:t>
                      </a:r>
                      <a:r>
                        <a:rPr lang="es-AR" dirty="0" smtClean="0"/>
                        <a:t> X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Comentario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%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//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Parentesis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Mensaje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error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error()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Chequear existencia de una variable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exist</a:t>
                      </a:r>
                      <a:r>
                        <a:rPr lang="es-AR" dirty="0" smtClean="0"/>
                        <a:t> X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Chequear si una variable es escalar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Isscalar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077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299329"/>
                  </p:ext>
                </p:extLst>
              </p:nvPr>
            </p:nvGraphicFramePr>
            <p:xfrm>
              <a:off x="107504" y="548680"/>
              <a:ext cx="8954931" cy="561662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059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39743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195634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195634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195634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46269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Rango</a:t>
                          </a:r>
                          <a:endParaRPr lang="es-AR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62697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69123">
                    <a:tc rowSpan="8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Convertir a </a:t>
                          </a:r>
                          <a:r>
                            <a:rPr lang="es-AR" dirty="0" err="1" smtClean="0"/>
                            <a:t>integer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int8()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15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15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int16()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31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31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s-AR" sz="1800" b="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int32()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63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63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int64()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uint8()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16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uint16()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32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uint32()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baseline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0</m:t>
                              </m:r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64</m:t>
                                  </m:r>
                                </m:sup>
                              </m:sSup>
                              <m:r>
                                <a:rPr lang="es-AR" sz="180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−1</m:t>
                              </m:r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uint64()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4691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Convertir a single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s-AR" sz="1800" b="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3,4.10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b="0" i="0" kern="1200" baseline="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3,4.10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single()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single()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  <a:tr h="4691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Convertir a </a:t>
                          </a:r>
                          <a:r>
                            <a:rPr lang="es-AR" dirty="0" err="1" smtClean="0"/>
                            <a:t>double</a:t>
                          </a:r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AR" sz="1800" b="0" i="1" kern="1200" dirty="0" smtClean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1,79.10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308</m:t>
                                  </m:r>
                                </m:sup>
                              </m:sSup>
                            </m:oMath>
                          </a14:m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 -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1,79.10</m:t>
                                  </m:r>
                                </m:e>
                                <m:sup>
                                  <m:r>
                                    <a:rPr lang="es-AR" sz="1800" b="0" i="1" kern="1200" dirty="0" smtClean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308</m:t>
                                  </m:r>
                                </m:sup>
                              </m:sSup>
                            </m:oMath>
                          </a14:m>
                          <a:endParaRPr lang="es-AR" sz="1800" kern="1200" dirty="0" smtClean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double</a:t>
                          </a:r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xmlns="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0299329"/>
                  </p:ext>
                </p:extLst>
              </p:nvPr>
            </p:nvGraphicFramePr>
            <p:xfrm>
              <a:off x="107504" y="548680"/>
              <a:ext cx="8954931" cy="57875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05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39743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9563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19563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9563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2697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Rango</a:t>
                          </a:r>
                          <a:endParaRPr lang="es-AR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2697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9123">
                    <a:tc rowSpan="8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Convertir a </a:t>
                          </a:r>
                          <a:r>
                            <a:rPr lang="es-AR" dirty="0" err="1" smtClean="0"/>
                            <a:t>integer</a:t>
                          </a:r>
                          <a:endParaRPr lang="es-A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200000" r="-106272" b="-9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int8()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300000" r="-106272" b="-8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int16()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400000" r="-106272" b="-7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int32()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500000" r="-106272" b="-6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int64()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600000" r="-106272" b="-5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uint8()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700000" r="-106272" b="-4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uint16()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800000" r="-106272" b="-3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uint32()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469123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900000" r="-106272" b="-255844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uint64()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46912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Convertir a single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1000000" r="-106272" b="-1558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single()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single()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Convertir a </a:t>
                          </a:r>
                          <a:r>
                            <a:rPr lang="es-AR" dirty="0" err="1" smtClean="0"/>
                            <a:t>double</a:t>
                          </a:r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8065" t="-806667" r="-106272" b="-14286"/>
                          </a:stretch>
                        </a:blipFill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 fontAlgn="b"/>
                          <a:r>
                            <a:rPr lang="es-AR" sz="1800" kern="1200" dirty="0" err="1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double</a:t>
                          </a:r>
                          <a:r>
                            <a:rPr lang="es-AR" sz="1800" kern="1200" dirty="0" smtClean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()</a:t>
                          </a:r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tc hMerge="1">
                      <a:txBody>
                        <a:bodyPr/>
                        <a:lstStyle/>
                        <a:p>
                          <a:pPr algn="ctr" fontAlgn="b"/>
                          <a:endParaRPr lang="es-AR" sz="1800" kern="1200" dirty="0">
                            <a:solidFill>
                              <a:schemeClr val="dk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24469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817112" y="1730403"/>
            <a:ext cx="764332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/>
              <a:t>Operadores lógicos y de comparación</a:t>
            </a:r>
          </a:p>
        </p:txBody>
      </p:sp>
    </p:spTree>
    <p:extLst>
      <p:ext uri="{BB962C8B-B14F-4D97-AF65-F5344CB8AC3E}">
        <p14:creationId xmlns:p14="http://schemas.microsoft.com/office/powerpoint/2010/main" val="89671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4447554"/>
                  </p:ext>
                </p:extLst>
              </p:nvPr>
            </p:nvGraphicFramePr>
            <p:xfrm>
              <a:off x="251520" y="332659"/>
              <a:ext cx="8672576" cy="6264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355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46716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804162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823529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804162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89495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Operación</a:t>
                          </a:r>
                          <a:endParaRPr lang="es-AR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Símbolo</a:t>
                          </a:r>
                          <a:endParaRPr lang="es-AR" sz="24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sz="2400" dirty="0" smtClean="0"/>
                            <a:t>Ejemplo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94956">
                    <a:tc v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sz="2400" dirty="0" smtClean="0"/>
                            <a:t>Matlab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err="1" smtClean="0"/>
                            <a:t>Scilab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err="1" smtClean="0"/>
                            <a:t>Octave</a:t>
                          </a:r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Igual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i="1" dirty="0" smtClean="0">
                                    <a:latin typeface="Cambria Math"/>
                                  </a:rPr>
                                  <m:t>==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1==1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 smtClean="0"/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2==1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→0</m:t>
                                </m:r>
                              </m:oMath>
                            </m:oMathPara>
                          </a14:m>
                          <a:endParaRPr lang="es-AR" sz="2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1==1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s-AR" sz="2400" b="0" dirty="0" smtClean="0">
                            <a:ea typeface="Cambria Math"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2==1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1==1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 smtClean="0"/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2==1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→|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Distinto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m:rPr>
                                    <m:nor/>
                                  </m:rPr>
                                  <a:rPr lang="es-AR" sz="2400" b="0" i="0" dirty="0" smtClean="0"/>
                                  <m:t>=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→0</m:t>
                                </m:r>
                              </m:oMath>
                            </m:oMathPara>
                          </a14:m>
                          <a:endParaRPr lang="es-AR" sz="2400" b="0" dirty="0" smtClean="0">
                            <a:ea typeface="Cambria Math"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AR" sz="2400" b="0" dirty="0" smtClean="0">
                            <a:ea typeface="Cambria Math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→0</m:t>
                                </m:r>
                              </m:oMath>
                            </m:oMathPara>
                          </a14:m>
                          <a:endParaRPr lang="es-AR" sz="2400" b="0" dirty="0" smtClean="0">
                            <a:ea typeface="Cambria Math"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No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m:rPr>
                                    <m:nor/>
                                  </m:rPr>
                                  <a:rPr lang="es-AR" sz="2400" b="0" i="0" dirty="0" smtClean="0"/>
                                  <m:t>(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1)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→0</m:t>
                                </m:r>
                              </m:oMath>
                            </m:oMathPara>
                          </a14:m>
                          <a:endParaRPr lang="es-AR" sz="2400" b="0" dirty="0" smtClean="0">
                            <a:ea typeface="Cambria Math"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m:rPr>
                                    <m:nor/>
                                  </m:rPr>
                                  <a:rPr lang="es-AR" sz="2400" b="0" i="0" dirty="0" smtClean="0"/>
                                  <m:t>(</m:t>
                                </m:r>
                                <m:r>
                                  <a:rPr lang="es-AR" sz="2400" b="0" i="1" dirty="0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)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m:rPr>
                                    <m:nor/>
                                  </m:rPr>
                                  <a:rPr lang="es-AR" sz="2400" b="0" i="0" dirty="0" smtClean="0"/>
                                  <m:t>(</m:t>
                                </m:r>
                                <m:r>
                                  <a:rPr lang="es-AR" sz="2400" b="0" i="1" dirty="0" smtClean="0">
                                    <a:latin typeface="Cambria Math"/>
                                  </a:rPr>
                                  <m:t>𝑇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)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s-AR" sz="2400" b="0" dirty="0" smtClean="0">
                            <a:ea typeface="Cambria Math"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m:rPr>
                                    <m:nor/>
                                  </m:rPr>
                                  <a:rPr lang="es-AR" sz="2400" b="0" i="0" dirty="0" smtClean="0"/>
                                  <m:t>(</m:t>
                                </m:r>
                                <m:r>
                                  <a:rPr lang="es-AR" sz="2400" b="0" i="1" dirty="0" smtClean="0">
                                    <a:latin typeface="Cambria Math"/>
                                  </a:rPr>
                                  <m:t>𝐹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)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s-AR" sz="2400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m:rPr>
                                    <m:nor/>
                                  </m:rPr>
                                  <a:rPr lang="es-AR" sz="2400" b="0" i="0" dirty="0" smtClean="0"/>
                                  <m:t>(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1)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→0</m:t>
                                </m:r>
                              </m:oMath>
                            </m:oMathPara>
                          </a14:m>
                          <a:endParaRPr lang="es-AR" sz="2400" b="0" dirty="0" smtClean="0">
                            <a:ea typeface="Cambria Math"/>
                          </a:endParaRPr>
                        </a:p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s-AR" sz="2400" dirty="0" smtClean="0"/>
                                  <m:t>~</m:t>
                                </m:r>
                                <m:r>
                                  <m:rPr>
                                    <m:nor/>
                                  </m:rPr>
                                  <a:rPr lang="es-AR" sz="2400" b="0" i="0" dirty="0" smtClean="0"/>
                                  <m:t>(</m:t>
                                </m:r>
                                <m:r>
                                  <a:rPr lang="es-AR" sz="2400" b="0" i="1" dirty="0" smtClean="0">
                                    <a:latin typeface="Cambria Math"/>
                                  </a:rPr>
                                  <m:t>0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)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And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&amp;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 &amp; 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𝑇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 &amp; 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𝑇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 &amp; 1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err="1" smtClean="0"/>
                            <a:t>Or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|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 | 0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𝑇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 | </m:t>
                                </m:r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𝐹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/>
                                  </a:rPr>
                                  <m:t>1 | 0</m:t>
                                </m:r>
                                <m:r>
                                  <a:rPr lang="es-AR" sz="2400" b="0" i="1" smtClean="0">
                                    <a:latin typeface="Cambria Math"/>
                                    <a:ea typeface="Cambria Math"/>
                                  </a:rPr>
                                  <m:t>→1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4447554"/>
                  </p:ext>
                </p:extLst>
              </p:nvPr>
            </p:nvGraphicFramePr>
            <p:xfrm>
              <a:off x="251520" y="332659"/>
              <a:ext cx="8672576" cy="6264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35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4671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041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235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4162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94956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Operación</a:t>
                          </a:r>
                          <a:endParaRPr lang="es-AR" sz="2400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Símbolo</a:t>
                          </a:r>
                          <a:endParaRPr lang="es-AR" sz="2400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sz="2400" dirty="0" smtClean="0"/>
                            <a:t>Ejemplo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94956">
                    <a:tc v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sz="2400" dirty="0" smtClean="0"/>
                            <a:t>Matlab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err="1" smtClean="0"/>
                            <a:t>Scilab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err="1" smtClean="0"/>
                            <a:t>Octave</a:t>
                          </a:r>
                          <a:endParaRPr lang="es-AR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Igual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162" t="-200680" r="-371784" b="-4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068" t="-200680" r="-202703" b="-4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7258" t="-200680" r="-100669" b="-4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1081" t="-200680" r="-1689" b="-40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Distinto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162" t="-300680" r="-371784" b="-3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068" t="-300680" r="-202703" b="-3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7258" t="-300680" r="-100669" b="-3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1081" t="-300680" r="-1689" b="-30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No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162" t="-400680" r="-371784" b="-2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068" t="-400680" r="-202703" b="-2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7258" t="-400680" r="-100669" b="-2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1081" t="-400680" r="-1689" b="-20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smtClean="0"/>
                            <a:t>And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162" t="-500680" r="-371784" b="-1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068" t="-500680" r="-202703" b="-1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7258" t="-500680" r="-100669" b="-10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1081" t="-500680" r="-1689" b="-10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89495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 err="1" smtClean="0"/>
                            <a:t>Or</a:t>
                          </a:r>
                          <a:endParaRPr lang="es-AR" sz="2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21162" t="-600680" r="-371784" b="-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0068" t="-600680" r="-202703" b="-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7258" t="-600680" r="-100669" b="-1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81081" t="-600680" r="-1689" b="-13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4115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027497"/>
              </p:ext>
            </p:extLst>
          </p:nvPr>
        </p:nvGraphicFramePr>
        <p:xfrm>
          <a:off x="971600" y="116632"/>
          <a:ext cx="7866681" cy="640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5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15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025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983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0497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5531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34060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Entrada 1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</a:p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(and)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Entrada 2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Salida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4060"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Matlab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Scilab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Octave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T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F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4060"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Entrada 1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|</a:t>
                      </a:r>
                    </a:p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s-AR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or</a:t>
                      </a:r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Entrada 2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Salida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4060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Matlab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Scilab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2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Octave</a:t>
                      </a:r>
                      <a:endParaRPr lang="es-A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T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F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 / 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T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1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534060"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 / 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F</a:t>
                      </a:r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400" dirty="0" smtClean="0"/>
                        <a:t>0</a:t>
                      </a:r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3932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17112" y="1730403"/>
            <a:ext cx="7571312" cy="1204306"/>
          </a:xfrm>
        </p:spPr>
        <p:txBody>
          <a:bodyPr anchor="ctr">
            <a:normAutofit/>
          </a:bodyPr>
          <a:lstStyle/>
          <a:p>
            <a:pPr algn="ctr"/>
            <a:r>
              <a:rPr lang="es-AR" dirty="0" smtClean="0"/>
              <a:t>Funciones matemáticas especiales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962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565940"/>
              </p:ext>
            </p:extLst>
          </p:nvPr>
        </p:nvGraphicFramePr>
        <p:xfrm>
          <a:off x="1115617" y="116632"/>
          <a:ext cx="7132734" cy="666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364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364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3645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040"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Operación</a:t>
                      </a:r>
                      <a:endParaRPr lang="es-A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Símbolo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Función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Scilab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Octave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Seno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sin()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Seno</a:t>
                      </a:r>
                      <a:r>
                        <a:rPr lang="es-AR" baseline="0" dirty="0" smtClean="0"/>
                        <a:t> (grados)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sind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Coseno (radianes)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cos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Coseno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cosd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Tangente</a:t>
                      </a:r>
                      <a:r>
                        <a:rPr lang="es-AR" baseline="0" dirty="0" smtClean="0"/>
                        <a:t> (radianes)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tan()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Tangente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tand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Cotangente (radianes)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cot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Cotangente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cotd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Arcoseno</a:t>
                      </a:r>
                      <a:r>
                        <a:rPr lang="es-AR" dirty="0" smtClean="0"/>
                        <a:t>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asin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Arcoseno</a:t>
                      </a:r>
                      <a:r>
                        <a:rPr lang="es-AR" dirty="0" smtClean="0"/>
                        <a:t> (grados)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asind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Arcocoseno</a:t>
                      </a:r>
                      <a:r>
                        <a:rPr lang="es-AR" dirty="0" smtClean="0"/>
                        <a:t>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acos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Arcocoseno</a:t>
                      </a:r>
                      <a:r>
                        <a:rPr lang="es-AR" dirty="0" smtClean="0"/>
                        <a:t> (grados)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acosd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Arcotangente</a:t>
                      </a:r>
                      <a:r>
                        <a:rPr lang="es-AR" dirty="0" smtClean="0"/>
                        <a:t>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atan()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Arcotangente</a:t>
                      </a:r>
                      <a:r>
                        <a:rPr lang="es-AR" dirty="0" smtClean="0"/>
                        <a:t>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atand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Arcocotangente</a:t>
                      </a:r>
                      <a:r>
                        <a:rPr lang="es-AR" dirty="0" smtClean="0"/>
                        <a:t>(radianes)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acot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Arcocotangente</a:t>
                      </a:r>
                      <a:r>
                        <a:rPr lang="es-AR" baseline="0" dirty="0" smtClean="0"/>
                        <a:t> (grados)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acotd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3042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9356881"/>
                  </p:ext>
                </p:extLst>
              </p:nvPr>
            </p:nvGraphicFramePr>
            <p:xfrm>
              <a:off x="395536" y="458048"/>
              <a:ext cx="8390034" cy="5923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3258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14808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600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Símbolo</a:t>
                          </a:r>
                          <a:endParaRPr lang="es-AR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44016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sinh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460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cosh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21296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AR" b="0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AR" b="0" i="1" dirty="0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AR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exp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natural (o neperiano)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2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log2()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10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log10()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Raíz cuadrada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sqrt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r>
                            <a:rPr lang="es-AR" dirty="0" smtClean="0"/>
                            <a:t> modificada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besseli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465432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besselj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827765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erf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85705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 complementaria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err="1" smtClean="0"/>
                            <a:t>erfc</a:t>
                          </a:r>
                          <a:r>
                            <a:rPr lang="es-AR" dirty="0" smtClean="0"/>
                            <a:t>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6751916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beta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beta()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8599242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gamma()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616784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Espacio </a:t>
                          </a:r>
                          <a:r>
                            <a:rPr lang="es-AR" dirty="0" err="1" smtClean="0"/>
                            <a:t>equiespaciado</a:t>
                          </a:r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linspace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9356881"/>
                  </p:ext>
                </p:extLst>
              </p:nvPr>
            </p:nvGraphicFramePr>
            <p:xfrm>
              <a:off x="395536" y="458048"/>
              <a:ext cx="8390034" cy="5923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32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8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Símbolo</a:t>
                          </a:r>
                          <a:endParaRPr lang="es-AR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sinh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460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cosh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296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47" t="-404918" r="-103535" b="-11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exp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natural (o neperiano)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2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log2()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10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log10()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Raíz cuadrada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sqrt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r>
                            <a:rPr lang="es-AR" dirty="0" smtClean="0"/>
                            <a:t> modificada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besseli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432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besselj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7765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erf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5705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 complementaria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err="1" smtClean="0"/>
                            <a:t>erfc</a:t>
                          </a:r>
                          <a:r>
                            <a:rPr lang="es-AR" dirty="0" smtClean="0"/>
                            <a:t>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51916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beta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beta()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9242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gamma()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16784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Espacio </a:t>
                          </a:r>
                          <a:r>
                            <a:rPr lang="es-AR" dirty="0" err="1" smtClean="0"/>
                            <a:t>equiespaciado</a:t>
                          </a:r>
                          <a:endParaRPr lang="es-AR" dirty="0" smtClean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linspace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1102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17112" y="1730403"/>
            <a:ext cx="5648623" cy="1204306"/>
          </a:xfrm>
        </p:spPr>
        <p:txBody>
          <a:bodyPr anchor="ctr"/>
          <a:lstStyle/>
          <a:p>
            <a:pPr algn="ctr"/>
            <a:r>
              <a:rPr lang="es-AR" dirty="0" smtClean="0"/>
              <a:t>Vectores y matrices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3193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Vectores y matrices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100628"/>
            <a:ext cx="8568952" cy="3579849"/>
          </a:xfrm>
        </p:spPr>
        <p:txBody>
          <a:bodyPr>
            <a:noAutofit/>
          </a:bodyPr>
          <a:lstStyle/>
          <a:p>
            <a:pPr marL="0" indent="0" algn="just">
              <a:lnSpc>
                <a:spcPct val="90000"/>
              </a:lnSpc>
            </a:pPr>
            <a:r>
              <a:rPr lang="es-AR" sz="1900" b="0" dirty="0"/>
              <a:t>Vectores y matrices de iguales dimensiones pueden sumarse y restarse</a:t>
            </a:r>
          </a:p>
          <a:p>
            <a:pPr marL="0" indent="0" algn="just">
              <a:lnSpc>
                <a:spcPct val="90000"/>
              </a:lnSpc>
            </a:pPr>
            <a:endParaRPr lang="es-AR" sz="1900" b="0" dirty="0"/>
          </a:p>
          <a:p>
            <a:pPr marL="0" indent="0" algn="just">
              <a:lnSpc>
                <a:spcPct val="90000"/>
              </a:lnSpc>
            </a:pPr>
            <a:r>
              <a:rPr lang="es-AR" sz="1900" b="0" dirty="0"/>
              <a:t>La multiplicación puede realizarse según la definición matemática (usando *) o coeficiente a coeficiente (usando .*)</a:t>
            </a:r>
          </a:p>
          <a:p>
            <a:pPr marL="0" indent="0" algn="just">
              <a:lnSpc>
                <a:spcPct val="90000"/>
              </a:lnSpc>
            </a:pPr>
            <a:endParaRPr lang="es-AR" sz="1900" b="0" dirty="0"/>
          </a:p>
          <a:p>
            <a:pPr marL="0" indent="0" algn="just">
              <a:lnSpc>
                <a:spcPct val="90000"/>
              </a:lnSpc>
            </a:pPr>
            <a:r>
              <a:rPr lang="es-AR" sz="1900" b="0" dirty="0"/>
              <a:t>La división de vectores y matrices no está matemáticamente definida. Sin embargo, se puede realizar según como está definida en el programa. </a:t>
            </a:r>
          </a:p>
          <a:p>
            <a:pPr marL="0" indent="0" algn="just">
              <a:lnSpc>
                <a:spcPct val="90000"/>
              </a:lnSpc>
            </a:pPr>
            <a:endParaRPr lang="es-AR" sz="1900" b="0" dirty="0"/>
          </a:p>
          <a:p>
            <a:pPr marL="0" indent="0" algn="just">
              <a:lnSpc>
                <a:spcPct val="90000"/>
              </a:lnSpc>
            </a:pPr>
            <a:r>
              <a:rPr lang="es-AR" sz="1900" b="0" dirty="0"/>
              <a:t>Se puede usar A.^B. Esto implica elevar los coeficientes A tomando a los coeficientes de B como exponentes. Esto requiere que las dimensiones de A y B sean iguales.</a:t>
            </a:r>
          </a:p>
        </p:txBody>
      </p:sp>
    </p:spTree>
    <p:extLst>
      <p:ext uri="{BB962C8B-B14F-4D97-AF65-F5344CB8AC3E}">
        <p14:creationId xmlns:p14="http://schemas.microsoft.com/office/powerpoint/2010/main" val="163541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Título"/>
              <p:cNvSpPr>
                <a:spLocks noGrp="1"/>
              </p:cNvSpPr>
              <p:nvPr>
                <p:ph type="title"/>
              </p:nvPr>
            </p:nvSpPr>
            <p:spPr>
              <a:xfrm>
                <a:off x="0" y="1274523"/>
                <a:ext cx="9144000" cy="548640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𝐵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/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  <a:ea typeface="Cambria Math"/>
                        </a:rPr>
                        <m:t>𝐵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" name="1 Títul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274523"/>
                <a:ext cx="9144000" cy="54864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2009391"/>
            <a:ext cx="8568952" cy="3579849"/>
          </a:xfrm>
        </p:spPr>
        <p:txBody>
          <a:bodyPr>
            <a:normAutofit/>
          </a:bodyPr>
          <a:lstStyle/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A y B deben tener la misma cantidad N de columnas, excepto que A sea escalar</a:t>
            </a:r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s-AR" sz="1900" b="0" dirty="0"/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Si A es escalar, entonces B/A es dividir cada coeficiente de B por ese escalar</a:t>
            </a:r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s-AR" sz="1900" b="0" dirty="0"/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Si A es una matriz de </a:t>
            </a:r>
            <a:r>
              <a:rPr lang="es-AR" sz="1900" b="0" dirty="0" err="1"/>
              <a:t>NxN</a:t>
            </a:r>
            <a:r>
              <a:rPr lang="es-AR" sz="1900" b="0" dirty="0"/>
              <a:t> y B tiene N columnas, B/A es igual a calcular B*</a:t>
            </a:r>
            <a:r>
              <a:rPr lang="es-AR" sz="1900" b="0" dirty="0" err="1"/>
              <a:t>inv</a:t>
            </a:r>
            <a:r>
              <a:rPr lang="es-AR" sz="1900" b="0" dirty="0"/>
              <a:t>(A)</a:t>
            </a:r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s-AR" sz="1900" b="0" dirty="0"/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Si A es una matriz no cuadrada de </a:t>
            </a:r>
            <a:r>
              <a:rPr lang="es-AR" sz="1900" b="0" dirty="0" err="1"/>
              <a:t>MxN</a:t>
            </a:r>
            <a:r>
              <a:rPr lang="es-AR" sz="1900" b="0" dirty="0"/>
              <a:t> y B una matriz de N columnas, entonces se resuelve el problema </a:t>
            </a:r>
            <a:r>
              <a:rPr lang="es-AR" sz="1900" b="0" dirty="0" err="1"/>
              <a:t>x.A</a:t>
            </a:r>
            <a:r>
              <a:rPr lang="es-AR" sz="1900" b="0" dirty="0"/>
              <a:t>=B por cuadrados mínimos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Vectores y matrices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6855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988840"/>
            <a:ext cx="8568952" cy="3579849"/>
          </a:xfrm>
        </p:spPr>
        <p:txBody>
          <a:bodyPr>
            <a:normAutofit fontScale="92500"/>
          </a:bodyPr>
          <a:lstStyle/>
          <a:p>
            <a:pPr marL="0" indent="-468000" algn="just">
              <a:buFont typeface="Wingdings" panose="05000000000000000000" pitchFamily="2" charset="2"/>
              <a:buChar char="q"/>
            </a:pPr>
            <a:r>
              <a:rPr lang="es-AR" sz="2000" b="0" dirty="0"/>
              <a:t>A y B deben tener la misma cantidad M de filas, </a:t>
            </a:r>
            <a:r>
              <a:rPr lang="es-AR" sz="2000" b="0" dirty="0" smtClean="0"/>
              <a:t>excepto </a:t>
            </a:r>
            <a:r>
              <a:rPr lang="es-AR" sz="2000" b="0" dirty="0"/>
              <a:t>que A sea </a:t>
            </a:r>
            <a:r>
              <a:rPr lang="es-AR" sz="2000" b="0" dirty="0" smtClean="0"/>
              <a:t>escalar</a:t>
            </a:r>
          </a:p>
          <a:p>
            <a:pPr marL="0" indent="-468000" algn="just">
              <a:buFont typeface="Wingdings" panose="05000000000000000000" pitchFamily="2" charset="2"/>
              <a:buChar char="q"/>
            </a:pPr>
            <a:endParaRPr lang="es-AR" sz="2000" b="0" dirty="0"/>
          </a:p>
          <a:p>
            <a:pPr marL="0" indent="-468000" algn="just">
              <a:buFont typeface="Wingdings" panose="05000000000000000000" pitchFamily="2" charset="2"/>
              <a:buChar char="q"/>
            </a:pPr>
            <a:r>
              <a:rPr lang="es-AR" sz="2000" b="0" dirty="0"/>
              <a:t>Si A es escalar, entonces A\B es dividir cada coeficiente de B por ese escalar</a:t>
            </a:r>
          </a:p>
          <a:p>
            <a:pPr marL="0" indent="-468000" algn="just">
              <a:buFont typeface="Wingdings" panose="05000000000000000000" pitchFamily="2" charset="2"/>
              <a:buChar char="q"/>
            </a:pPr>
            <a:endParaRPr lang="es-AR" sz="2000" b="0" dirty="0" smtClean="0"/>
          </a:p>
          <a:p>
            <a:pPr marL="0" indent="-468000" algn="just">
              <a:buFont typeface="Wingdings" panose="05000000000000000000" pitchFamily="2" charset="2"/>
              <a:buChar char="q"/>
            </a:pPr>
            <a:r>
              <a:rPr lang="es-AR" sz="2000" b="0" dirty="0" smtClean="0"/>
              <a:t>Si </a:t>
            </a:r>
            <a:r>
              <a:rPr lang="es-AR" sz="2000" b="0" dirty="0"/>
              <a:t>A </a:t>
            </a:r>
            <a:r>
              <a:rPr lang="es-AR" sz="2000" b="0" dirty="0" smtClean="0"/>
              <a:t>es una matriz de </a:t>
            </a:r>
            <a:r>
              <a:rPr lang="es-AR" sz="2000" b="0" dirty="0" err="1" smtClean="0"/>
              <a:t>NxN</a:t>
            </a:r>
            <a:r>
              <a:rPr lang="es-AR" sz="2000" b="0" dirty="0"/>
              <a:t> </a:t>
            </a:r>
            <a:r>
              <a:rPr lang="es-AR" sz="2000" b="0" dirty="0" smtClean="0"/>
              <a:t>y B es una matriz de N filas </a:t>
            </a:r>
            <a:r>
              <a:rPr lang="es-AR" sz="2000" b="0" dirty="0"/>
              <a:t>A\B es igual a calcular </a:t>
            </a:r>
            <a:r>
              <a:rPr lang="es-AR" sz="2000" b="0" dirty="0" err="1"/>
              <a:t>inv</a:t>
            </a:r>
            <a:r>
              <a:rPr lang="es-AR" sz="2000" b="0" dirty="0"/>
              <a:t>(A)*B</a:t>
            </a:r>
          </a:p>
          <a:p>
            <a:pPr marL="0" indent="-468000" algn="just">
              <a:buFont typeface="Wingdings" panose="05000000000000000000" pitchFamily="2" charset="2"/>
              <a:buChar char="q"/>
            </a:pPr>
            <a:endParaRPr lang="es-AR" sz="2000" b="0" dirty="0" smtClean="0"/>
          </a:p>
          <a:p>
            <a:pPr marL="0" indent="-468000" algn="just">
              <a:buFont typeface="Wingdings" panose="05000000000000000000" pitchFamily="2" charset="2"/>
              <a:buChar char="q"/>
            </a:pPr>
            <a:r>
              <a:rPr lang="es-AR" sz="2000" b="0" dirty="0" smtClean="0"/>
              <a:t>Si </a:t>
            </a:r>
            <a:r>
              <a:rPr lang="es-AR" sz="2000" b="0" dirty="0"/>
              <a:t>A es una matriz no cuadrada de </a:t>
            </a:r>
            <a:r>
              <a:rPr lang="es-AR" sz="2000" b="0" dirty="0" err="1"/>
              <a:t>MxN</a:t>
            </a:r>
            <a:r>
              <a:rPr lang="es-AR" sz="2000" b="0" dirty="0"/>
              <a:t> y B una matriz de M filas, entonces se resuelve el problema </a:t>
            </a:r>
            <a:r>
              <a:rPr lang="es-AR" sz="2000" b="0" dirty="0" err="1"/>
              <a:t>A.x</a:t>
            </a:r>
            <a:r>
              <a:rPr lang="es-AR" sz="2000" b="0" dirty="0"/>
              <a:t>=B por cuadrados </a:t>
            </a:r>
            <a:r>
              <a:rPr lang="es-AR" sz="2000" b="0" dirty="0" smtClean="0"/>
              <a:t>mínimos</a:t>
            </a:r>
            <a:endParaRPr lang="es-AR" sz="2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1 Título"/>
              <p:cNvSpPr txBox="1">
                <a:spLocks/>
              </p:cNvSpPr>
              <p:nvPr/>
            </p:nvSpPr>
            <p:spPr>
              <a:xfrm>
                <a:off x="0" y="1196752"/>
                <a:ext cx="9144000" cy="64807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s-ES" sz="2800" b="0" i="1" smtClean="0">
                          <a:latin typeface="Cambria Math"/>
                          <a:ea typeface="Cambria Math"/>
                        </a:rPr>
                        <m:t>\</m:t>
                      </m:r>
                      <m:r>
                        <m:rPr>
                          <m:sty m:val="p"/>
                        </m:rPr>
                        <a:rPr lang="es-ES" sz="2800" b="0" i="1" smtClean="0">
                          <a:latin typeface="Cambria Math"/>
                          <a:ea typeface="Cambria Math"/>
                        </a:rPr>
                        <m:t>B</m:t>
                      </m:r>
                      <m:r>
                        <a:rPr lang="es-AR" sz="280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s-AR" sz="2800" i="1" smtClean="0">
                          <a:latin typeface="Cambria Math"/>
                          <a:ea typeface="Cambria Math"/>
                        </a:rPr>
                        <m:t>𝐴</m:t>
                      </m:r>
                      <m:r>
                        <a:rPr lang="es-AR" sz="2800" b="0" i="1" smtClean="0"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s-AR" sz="28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s-AR" sz="280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s-AR" sz="2800" i="1" smtClean="0">
                          <a:latin typeface="Cambria Math"/>
                          <a:ea typeface="Cambria Math"/>
                        </a:rPr>
                        <m:t>𝐵</m:t>
                      </m:r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4" name="1 Títul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96752"/>
                <a:ext cx="9144000" cy="64807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Vectores y matrices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90799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282812"/>
              </p:ext>
            </p:extLst>
          </p:nvPr>
        </p:nvGraphicFramePr>
        <p:xfrm>
          <a:off x="395536" y="71968"/>
          <a:ext cx="8517383" cy="666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52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196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027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1969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0040">
                <a:tc rowSpan="2"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Comando</a:t>
                      </a:r>
                      <a:endParaRPr lang="es-AR" sz="17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Función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Matlab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Scilab</a:t>
                      </a:r>
                      <a:endParaRPr lang="es-AR" sz="17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Octave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554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Norma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norm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35064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700" dirty="0" smtClean="0"/>
                        <a:t>Largo</a:t>
                      </a:r>
                      <a:r>
                        <a:rPr lang="es-AR" sz="1700" baseline="0" dirty="0" smtClean="0"/>
                        <a:t> de un vector o matriz</a:t>
                      </a:r>
                      <a:endParaRPr lang="es-AR" sz="1700" dirty="0" smtClean="0"/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length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458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Dimensiones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un vector o matriz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size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820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Raíz cuadrada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sqrt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7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9161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Suma de coeficientes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sum()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7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7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2912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Coeficientes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máximo valor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max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106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Coeficientes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mínimo valor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min()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2017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Crear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matriz de ceros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zeros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2969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 matriz de unos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ones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11224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Crear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matriz identidad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eye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7672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Crear matriz diagonal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diag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5825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Ordenar por orden numérico un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conjunto de números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sort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sort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9576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Calcular </a:t>
                      </a:r>
                      <a:r>
                        <a:rPr lang="es-AR" sz="17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autovalores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y </a:t>
                      </a:r>
                      <a:r>
                        <a:rPr lang="es-AR" sz="17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autovectores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una matriz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eig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spec</a:t>
                      </a:r>
                      <a:r>
                        <a:rPr lang="es-AR" sz="1700" dirty="0" smtClean="0"/>
                        <a:t>(A)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eig</a:t>
                      </a:r>
                      <a:r>
                        <a:rPr lang="es-AR" sz="1700" dirty="0" smtClean="0"/>
                        <a:t>(A)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20528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Índice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AR" sz="17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end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$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end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21480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Cambiar dimensiones de una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matriz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reshape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matrix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reshape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22432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Convertir imagen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en matriz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imread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2338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7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Convertir matriz</a:t>
                      </a:r>
                      <a:r>
                        <a:rPr lang="es-AR" sz="17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en imagen</a:t>
                      </a:r>
                      <a:endParaRPr lang="es-AR" sz="17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700" dirty="0" err="1" smtClean="0"/>
                        <a:t>imshow</a:t>
                      </a:r>
                      <a:r>
                        <a:rPr lang="es-AR" sz="1700" dirty="0" smtClean="0"/>
                        <a:t>()</a:t>
                      </a:r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274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6" t="47671" r="47905" b="46976"/>
          <a:stretch/>
        </p:blipFill>
        <p:spPr bwMode="auto">
          <a:xfrm>
            <a:off x="827584" y="404664"/>
            <a:ext cx="7302290" cy="5184576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508104" y="4509120"/>
            <a:ext cx="2376264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806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6" t="47671" r="47905" b="46976"/>
          <a:stretch/>
        </p:blipFill>
        <p:spPr bwMode="auto">
          <a:xfrm>
            <a:off x="827584" y="404664"/>
            <a:ext cx="7302290" cy="5184576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508104" y="4509120"/>
            <a:ext cx="2376264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681553"/>
              </p:ext>
            </p:extLst>
          </p:nvPr>
        </p:nvGraphicFramePr>
        <p:xfrm>
          <a:off x="827584" y="404667"/>
          <a:ext cx="7289800" cy="12865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4"/>
                    </a:ext>
                  </a:extLst>
                </a:gridCol>
              </a:tblGrid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29693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2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4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5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6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7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8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9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2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98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56" t="47671" r="47905" b="46976"/>
          <a:stretch/>
        </p:blipFill>
        <p:spPr bwMode="auto">
          <a:xfrm>
            <a:off x="827584" y="404664"/>
            <a:ext cx="7302290" cy="5184576"/>
          </a:xfrm>
          <a:prstGeom prst="rect">
            <a:avLst/>
          </a:prstGeom>
          <a:noFill/>
          <a:ln w="317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580112" y="4581128"/>
            <a:ext cx="2304256" cy="8640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274947"/>
              </p:ext>
            </p:extLst>
          </p:nvPr>
        </p:nvGraphicFramePr>
        <p:xfrm>
          <a:off x="810592" y="404667"/>
          <a:ext cx="7289800" cy="12865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1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xmlns="" val="20034"/>
                    </a:ext>
                  </a:extLst>
                </a:gridCol>
              </a:tblGrid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29693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2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4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5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6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7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8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29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0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1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2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3"/>
                  </a:ext>
                </a:extLst>
              </a:tr>
              <a:tr h="148131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1825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/>
          </p:nvPr>
        </p:nvGraphicFramePr>
        <p:xfrm>
          <a:off x="1115617" y="116632"/>
          <a:ext cx="7132734" cy="666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2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3645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364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3645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60040"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Operación</a:t>
                      </a:r>
                      <a:endParaRPr lang="es-A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Símbolo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Función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Scilab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Octave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Seno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sin()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Seno</a:t>
                      </a:r>
                      <a:r>
                        <a:rPr lang="es-AR" baseline="0" dirty="0" smtClean="0"/>
                        <a:t> (grados)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sind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Coseno (radianes)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cos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Coseno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cosd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Tangente</a:t>
                      </a:r>
                      <a:r>
                        <a:rPr lang="es-AR" baseline="0" dirty="0" smtClean="0"/>
                        <a:t> (radianes)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tan()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Tangente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tand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Cotangente (radianes)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cot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Cotangente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cotd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Arcoseno</a:t>
                      </a:r>
                      <a:r>
                        <a:rPr lang="es-AR" dirty="0" smtClean="0"/>
                        <a:t>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asin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Arcoseno</a:t>
                      </a:r>
                      <a:r>
                        <a:rPr lang="es-AR" dirty="0" smtClean="0"/>
                        <a:t> (grados)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asind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Arcocoseno</a:t>
                      </a:r>
                      <a:r>
                        <a:rPr lang="es-AR" dirty="0" smtClean="0"/>
                        <a:t>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acos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Arcocoseno</a:t>
                      </a:r>
                      <a:r>
                        <a:rPr lang="es-AR" dirty="0" smtClean="0"/>
                        <a:t> (grados)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acosd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Arcotangente</a:t>
                      </a:r>
                      <a:r>
                        <a:rPr lang="es-AR" dirty="0" smtClean="0"/>
                        <a:t> (radianes)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atan()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Arcotangente</a:t>
                      </a:r>
                      <a:r>
                        <a:rPr lang="es-AR" dirty="0" smtClean="0"/>
                        <a:t> (grados)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atand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Arcocotangente</a:t>
                      </a:r>
                      <a:r>
                        <a:rPr lang="es-AR" dirty="0" smtClean="0"/>
                        <a:t>(radianes)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acot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Arcocotangente</a:t>
                      </a:r>
                      <a:r>
                        <a:rPr lang="es-AR" baseline="0" dirty="0" smtClean="0"/>
                        <a:t> (grados)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acotd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6436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5934156"/>
                  </p:ext>
                </p:extLst>
              </p:nvPr>
            </p:nvGraphicFramePr>
            <p:xfrm>
              <a:off x="395536" y="684872"/>
              <a:ext cx="8390034" cy="5552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3258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14808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</a:tblGrid>
                  <a:tr h="3600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Símbolo</a:t>
                          </a:r>
                          <a:endParaRPr lang="es-AR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44016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sinh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286460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cosh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21296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AR" b="0" i="1" dirty="0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AR" b="0" i="1" dirty="0" smtClean="0">
                                        <a:latin typeface="Cambria Math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s-AR" b="0" i="1" dirty="0" smtClean="0">
                                        <a:latin typeface="Cambria Math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exp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natural (o neperiano)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2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log2()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10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log10()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Raíz cuadrada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sqrt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r>
                            <a:rPr lang="es-AR" dirty="0" smtClean="0"/>
                            <a:t> modificada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besseli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465432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besselj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827765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erf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85705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 complementaria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err="1" smtClean="0"/>
                            <a:t>erfc</a:t>
                          </a:r>
                          <a:r>
                            <a:rPr lang="es-AR" dirty="0" smtClean="0"/>
                            <a:t>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6751916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beta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beta()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8599242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gamma()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5616784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3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5934156"/>
                  </p:ext>
                </p:extLst>
              </p:nvPr>
            </p:nvGraphicFramePr>
            <p:xfrm>
              <a:off x="395536" y="684872"/>
              <a:ext cx="8390034" cy="5552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132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8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3645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6576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Operación</a:t>
                          </a:r>
                          <a:endParaRPr lang="es-AR" dirty="0"/>
                        </a:p>
                      </a:txBody>
                      <a:tcPr anchor="ctr"/>
                    </a:tc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Símbolo</a:t>
                          </a:r>
                          <a:endParaRPr lang="es-AR" dirty="0"/>
                        </a:p>
                      </a:txBody>
                      <a:tcPr anchor="ctr"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Función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v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Matlab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Scilab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Octave</a:t>
                          </a:r>
                          <a:endParaRPr lang="es-AR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sinh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64603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Coseno hiperbólico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cosh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12966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47" t="-404918" r="-103535" b="-10213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exp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natural (o neperiano)</a:t>
                          </a:r>
                          <a:endParaRPr lang="es-AR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2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log2()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Logaritmo</a:t>
                          </a:r>
                          <a:r>
                            <a:rPr lang="es-AR" baseline="0" dirty="0" smtClean="0"/>
                            <a:t> en base 10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log10()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Raíz cuadrada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sqrt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s-AR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r>
                            <a:rPr lang="es-AR" dirty="0" smtClean="0"/>
                            <a:t> modificada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besseli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4321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Primera función de </a:t>
                          </a:r>
                          <a:r>
                            <a:rPr lang="es-AR" dirty="0" err="1" smtClean="0"/>
                            <a:t>bessel</a:t>
                          </a:r>
                          <a:endParaRPr lang="es-AR" dirty="0" smtClean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besselj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77656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s-AR" dirty="0" err="1" smtClean="0"/>
                            <a:t>erf</a:t>
                          </a:r>
                          <a:r>
                            <a:rPr lang="es-AR" dirty="0" smtClean="0"/>
                            <a:t>()</a:t>
                          </a:r>
                          <a:endParaRPr lang="es-AR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5705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error complementaria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err="1" smtClean="0"/>
                            <a:t>erfc</a:t>
                          </a:r>
                          <a:r>
                            <a:rPr lang="es-AR" dirty="0" smtClean="0"/>
                            <a:t>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51916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beta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beta()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9242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Función gamma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dirty="0" smtClean="0"/>
                            <a:t>-</a:t>
                          </a:r>
                          <a:endParaRPr lang="es-AR" dirty="0" smtClean="0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s-AR" dirty="0" smtClean="0"/>
                            <a:t>gamma()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616784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674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640740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s-AR" sz="1800" b="0" dirty="0" smtClean="0"/>
              <a:t>Paréntesis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Transposición (.’), potencia (.^), transposición conjugada compleja (‘), potencia de matriz (^)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Potencia con menos unario (.^-), potencia con más unario (.^+) o </a:t>
            </a:r>
            <a:r>
              <a:rPr lang="es-AR" sz="1800" b="0" dirty="0"/>
              <a:t>negación lógica </a:t>
            </a:r>
            <a:r>
              <a:rPr lang="es-AR" sz="1800" b="0" dirty="0" smtClean="0"/>
              <a:t>(.^~) además de una potencia de matriz con menos unario (^-), potencia de matriz con más unario (^+) o </a:t>
            </a:r>
            <a:r>
              <a:rPr lang="es-AR" sz="1800" b="0" dirty="0"/>
              <a:t>negación lógica </a:t>
            </a:r>
            <a:r>
              <a:rPr lang="es-AR" sz="1800" b="0" dirty="0" smtClean="0"/>
              <a:t>(^~).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Más unario (+), menos unario (-), </a:t>
            </a:r>
            <a:r>
              <a:rPr lang="es-AR" sz="1800" b="0" dirty="0"/>
              <a:t>negación unaria</a:t>
            </a:r>
            <a:r>
              <a:rPr lang="es-AR" sz="1800" b="0" dirty="0" smtClean="0"/>
              <a:t>(~)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Multiplicación (.*), división derecha(./), </a:t>
            </a:r>
            <a:r>
              <a:rPr lang="es-AR" sz="1800" b="0" dirty="0"/>
              <a:t>división izquierda </a:t>
            </a:r>
            <a:r>
              <a:rPr lang="es-AR" sz="1800" b="0" dirty="0" smtClean="0"/>
              <a:t>(.\), multiplicación de matrices (*), división derecha de matrices (/), división izquierda de matrices (\)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Adición (+), sustracción (-)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Operador de dos puntos (:)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Menor que (&lt;), menor o igual que (&lt;=), mayor que (&gt;), mayor que o igual a (&gt;=), igual a (==), no </a:t>
            </a:r>
            <a:r>
              <a:rPr lang="es-AR" sz="1800" b="0" dirty="0"/>
              <a:t>es igual a </a:t>
            </a:r>
            <a:r>
              <a:rPr lang="es-AR" sz="1800" b="0" dirty="0" smtClean="0"/>
              <a:t>(~=)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AND elemento por elemento (&amp;)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OR elemento por elemento (|)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AND con cortocircuito (&amp;&amp;)</a:t>
            </a:r>
          </a:p>
          <a:p>
            <a:pPr>
              <a:buFont typeface="+mj-lt"/>
              <a:buAutoNum type="arabicPeriod"/>
            </a:pPr>
            <a:r>
              <a:rPr lang="es-AR" sz="1800" b="0" dirty="0" smtClean="0"/>
              <a:t>OR con cortocircuito (||)</a:t>
            </a:r>
            <a:endParaRPr lang="es-AR" sz="1800" b="0" dirty="0"/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Precedencia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21137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969512" y="1882803"/>
            <a:ext cx="5648623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Graficación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1346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129061"/>
              </p:ext>
            </p:extLst>
          </p:nvPr>
        </p:nvGraphicFramePr>
        <p:xfrm>
          <a:off x="213928" y="1266470"/>
          <a:ext cx="8750560" cy="4978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7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3485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6836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0037">
                <a:tc rowSpan="2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Operación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Función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6325">
                <a:tc v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Matlab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Scilab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Octave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2333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Graficar</a:t>
                      </a:r>
                      <a:r>
                        <a:rPr lang="es-AR" sz="1800" baseline="0" dirty="0" smtClean="0"/>
                        <a:t> series de puntos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plot</a:t>
                      </a:r>
                      <a:r>
                        <a:rPr lang="es-AR" sz="1800" dirty="0" smtClean="0"/>
                        <a:t>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Grafico de barras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bar()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Grafico de torta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pie()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2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Introducir</a:t>
                      </a:r>
                      <a:r>
                        <a:rPr lang="es-AR" sz="1800" baseline="0" dirty="0" smtClean="0"/>
                        <a:t> grilla</a:t>
                      </a:r>
                      <a:endParaRPr lang="es-AR" sz="1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grid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xgrid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grid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060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Introducir</a:t>
                      </a:r>
                      <a:r>
                        <a:rPr lang="es-AR" sz="1800" baseline="0" dirty="0" smtClean="0"/>
                        <a:t> ejes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axis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mtlb_axis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smtClean="0"/>
                        <a:t>axis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Introducir nuevos elementos al grafico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hold</a:t>
                      </a:r>
                      <a:r>
                        <a:rPr lang="es-AR" sz="1800" dirty="0" smtClean="0"/>
                        <a:t> </a:t>
                      </a:r>
                      <a:r>
                        <a:rPr lang="es-AR" sz="1800" dirty="0" err="1" smtClean="0"/>
                        <a:t>on</a:t>
                      </a:r>
                      <a:r>
                        <a:rPr lang="es-AR" sz="1800" dirty="0" smtClean="0"/>
                        <a:t>/off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mtlb_hold</a:t>
                      </a:r>
                      <a:r>
                        <a:rPr lang="es-AR" sz="1800" dirty="0" smtClean="0"/>
                        <a:t> </a:t>
                      </a:r>
                      <a:r>
                        <a:rPr lang="es-AR" sz="1800" dirty="0" err="1" smtClean="0"/>
                        <a:t>on</a:t>
                      </a:r>
                      <a:r>
                        <a:rPr lang="es-AR" sz="1800" smtClean="0"/>
                        <a:t>/off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hold</a:t>
                      </a:r>
                      <a:r>
                        <a:rPr lang="es-AR" sz="1800" dirty="0" smtClean="0"/>
                        <a:t> </a:t>
                      </a:r>
                      <a:r>
                        <a:rPr lang="es-AR" sz="1800" dirty="0" err="1" smtClean="0"/>
                        <a:t>on</a:t>
                      </a:r>
                      <a:r>
                        <a:rPr lang="es-AR" sz="1800" dirty="0" smtClean="0"/>
                        <a:t>/off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Introducir legenda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legend</a:t>
                      </a:r>
                      <a:r>
                        <a:rPr lang="es-AR" sz="1800" dirty="0" smtClean="0"/>
                        <a:t>()</a:t>
                      </a:r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Introducir título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title</a:t>
                      </a:r>
                      <a:r>
                        <a:rPr lang="es-AR" sz="1800" dirty="0" smtClean="0"/>
                        <a:t>()</a:t>
                      </a:r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Introducir etiqueta en eje X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xlabel</a:t>
                      </a:r>
                      <a:r>
                        <a:rPr lang="es-AR" sz="1800" dirty="0" smtClean="0"/>
                        <a:t>()</a:t>
                      </a:r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Introducir etiqueta en eje Y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err="1" smtClean="0"/>
                        <a:t>ylabel</a:t>
                      </a:r>
                      <a:r>
                        <a:rPr lang="es-AR" sz="1800" dirty="0" smtClean="0"/>
                        <a:t>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Graficación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1545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5716293"/>
              </p:ext>
            </p:extLst>
          </p:nvPr>
        </p:nvGraphicFramePr>
        <p:xfrm>
          <a:off x="323528" y="1196752"/>
          <a:ext cx="8658308" cy="555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61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6530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Tipo de línea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Símbolo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Marcador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Símbolo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Color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Símbolo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Continua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Más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+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Negro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k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aseline="0" noProof="0" dirty="0" smtClean="0"/>
                        <a:t>Discontinua</a:t>
                      </a:r>
                      <a:endParaRPr lang="es-A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Círculo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Rojo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r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baseline="0" noProof="0" dirty="0" smtClean="0"/>
                        <a:t>Punteada</a:t>
                      </a:r>
                      <a:endParaRPr lang="es-AR" noProof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: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Asterisco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*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Verde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g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noProof="0" dirty="0" smtClean="0"/>
                        <a:t>Discontinua</a:t>
                      </a:r>
                      <a:r>
                        <a:rPr lang="es-AR" baseline="0" noProof="0" dirty="0" smtClean="0"/>
                        <a:t> punteada</a:t>
                      </a:r>
                      <a:endParaRPr lang="es-A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-.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Punto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.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Azul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Cruz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x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Amarillo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y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Línea</a:t>
                      </a:r>
                      <a:r>
                        <a:rPr lang="es-AR" baseline="0" dirty="0" smtClean="0"/>
                        <a:t> vertical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|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Magenta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Menos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Celeste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Cuadrado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Blanco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w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Diamante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d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r>
                        <a:rPr lang="es-AR" dirty="0" smtClean="0"/>
                        <a:t>Triángulos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^</a:t>
                      </a:r>
                      <a:endParaRPr lang="es-AR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&lt;</a:t>
                      </a:r>
                      <a:endParaRPr lang="es-A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2632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&gt;</a:t>
                      </a:r>
                      <a:endParaRPr lang="es-A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Pentágono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p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Hexágono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h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sp>
        <p:nvSpPr>
          <p:cNvPr id="3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Graficación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6440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4 Marcador de contenido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7647740"/>
              </p:ext>
            </p:extLst>
          </p:nvPr>
        </p:nvGraphicFramePr>
        <p:xfrm>
          <a:off x="35496" y="1336412"/>
          <a:ext cx="9073008" cy="4603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3927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title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xlabel</a:t>
                      </a:r>
                      <a:r>
                        <a:rPr lang="es-AR" dirty="0" smtClean="0"/>
                        <a:t> / </a:t>
                      </a:r>
                      <a:r>
                        <a:rPr lang="es-AR" dirty="0" err="1" smtClean="0"/>
                        <a:t>ylabel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legend</a:t>
                      </a:r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Propiedad</a:t>
                      </a:r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Propiedad</a:t>
                      </a:r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Propiedad</a:t>
                      </a:r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endParaRPr lang="es-A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/>
                        <a:t>‘color’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‘blue’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fontsize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3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/>
                        <a:t>‘color’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‘blue’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700" baseline="0" noProof="0" dirty="0" smtClean="0"/>
                        <a:t>‘</a:t>
                      </a:r>
                      <a:r>
                        <a:rPr lang="es-AR" sz="1700" baseline="0" noProof="0" dirty="0" err="1" smtClean="0"/>
                        <a:t>edgecolor</a:t>
                      </a:r>
                      <a:r>
                        <a:rPr lang="es-AR" sz="1700" baseline="0" noProof="0" dirty="0" smtClean="0"/>
                        <a:t>’</a:t>
                      </a:r>
                      <a:endParaRPr lang="es-AR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‘red’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fontname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‘comic</a:t>
                      </a:r>
                      <a:r>
                        <a:rPr lang="es-AR" sz="1700" baseline="0" dirty="0" smtClean="0"/>
                        <a:t> </a:t>
                      </a:r>
                      <a:r>
                        <a:rPr lang="es-AR" sz="1700" baseline="0" dirty="0" err="1" smtClean="0"/>
                        <a:t>sans</a:t>
                      </a:r>
                      <a:r>
                        <a:rPr lang="es-AR" sz="1700" baseline="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baseline="0" noProof="0" dirty="0" smtClean="0"/>
                        <a:t>‘</a:t>
                      </a:r>
                      <a:r>
                        <a:rPr lang="es-AR" sz="1700" baseline="0" noProof="0" dirty="0" err="1" smtClean="0"/>
                        <a:t>edgecolor</a:t>
                      </a:r>
                      <a:r>
                        <a:rPr lang="es-AR" sz="1700" baseline="0" noProof="0" dirty="0" smtClean="0"/>
                        <a:t>’</a:t>
                      </a:r>
                      <a:endParaRPr lang="es-AR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‘red’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700" baseline="0" noProof="0" dirty="0" smtClean="0"/>
                        <a:t>‘</a:t>
                      </a:r>
                      <a:r>
                        <a:rPr lang="es-AR" sz="1700" baseline="0" noProof="0" dirty="0" err="1" smtClean="0"/>
                        <a:t>rotation</a:t>
                      </a:r>
                      <a:r>
                        <a:rPr lang="es-AR" sz="1700" baseline="0" noProof="0" dirty="0" smtClean="0"/>
                        <a:t>’</a:t>
                      </a:r>
                      <a:endParaRPr lang="es-AR" sz="1700" noProof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0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‘color’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‘blue’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>
                          <a:solidFill>
                            <a:schemeClr val="tx1"/>
                          </a:solidFill>
                        </a:rPr>
                        <a:t>‘box’ / -</a:t>
                      </a:r>
                      <a:endParaRPr lang="es-AR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s-AR" sz="1700" dirty="0" err="1" smtClean="0">
                          <a:solidFill>
                            <a:schemeClr val="tx1"/>
                          </a:solidFill>
                        </a:rPr>
                        <a:t>on</a:t>
                      </a:r>
                      <a:r>
                        <a:rPr lang="es-AR" sz="1700" dirty="0" smtClean="0">
                          <a:solidFill>
                            <a:schemeClr val="tx1"/>
                          </a:solidFill>
                        </a:rPr>
                        <a:t>’ / %f</a:t>
                      </a:r>
                      <a:endParaRPr lang="es-AR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700" noProof="0" dirty="0" smtClean="0"/>
                        <a:t>‘position’</a:t>
                      </a:r>
                      <a:endParaRPr lang="es-AR" sz="17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[6</a:t>
                      </a:r>
                      <a:r>
                        <a:rPr lang="es-AR" sz="1700" baseline="0" dirty="0" smtClean="0"/>
                        <a:t> 25</a:t>
                      </a:r>
                      <a:r>
                        <a:rPr lang="es-AR" sz="1700" dirty="0" smtClean="0"/>
                        <a:t>]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‘position’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[1 1]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s-AR" sz="1700" dirty="0" err="1" smtClean="0">
                          <a:solidFill>
                            <a:schemeClr val="tx1"/>
                          </a:solidFill>
                        </a:rPr>
                        <a:t>location</a:t>
                      </a:r>
                      <a:r>
                        <a:rPr lang="es-AR" sz="1700" dirty="0" smtClean="0">
                          <a:solidFill>
                            <a:schemeClr val="tx1"/>
                          </a:solidFill>
                        </a:rPr>
                        <a:t>’ / -</a:t>
                      </a:r>
                      <a:endParaRPr lang="es-AR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>
                          <a:solidFill>
                            <a:schemeClr val="tx1"/>
                          </a:solidFill>
                        </a:rPr>
                        <a:t>‘</a:t>
                      </a:r>
                      <a:r>
                        <a:rPr lang="es-AR" sz="1700" dirty="0" err="1" smtClean="0">
                          <a:solidFill>
                            <a:schemeClr val="tx1"/>
                          </a:solidFill>
                        </a:rPr>
                        <a:t>south</a:t>
                      </a:r>
                      <a:r>
                        <a:rPr lang="es-AR" sz="1700" dirty="0" smtClean="0">
                          <a:solidFill>
                            <a:schemeClr val="tx1"/>
                          </a:solidFill>
                        </a:rPr>
                        <a:t>’ / [5 20]</a:t>
                      </a:r>
                      <a:endParaRPr lang="es-AR" sz="17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fontsize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10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rotation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90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numcolumns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2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backgroundcolor</a:t>
                      </a:r>
                      <a:r>
                        <a:rPr lang="es-AR" sz="1700" dirty="0" smtClean="0"/>
                        <a:t>’</a:t>
                      </a:r>
                      <a:r>
                        <a:rPr lang="es-AR" sz="1700" baseline="0" dirty="0" smtClean="0"/>
                        <a:t> </a:t>
                      </a:r>
                      <a:r>
                        <a:rPr lang="es-AR" sz="1700" dirty="0" smtClean="0"/>
                        <a:t>/ ‘</a:t>
                      </a:r>
                      <a:r>
                        <a:rPr lang="es-AR" sz="1700" dirty="0" err="1" smtClean="0"/>
                        <a:t>background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green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- / ‘box’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on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orientation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‘horizontal’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7656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edgecolor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‘red’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textcolor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green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backgroundcolor</a:t>
                      </a:r>
                      <a:r>
                        <a:rPr lang="es-AR" sz="1700" dirty="0" smtClean="0"/>
                        <a:t>’/’</a:t>
                      </a:r>
                      <a:r>
                        <a:rPr lang="es-AR" sz="1700" dirty="0" err="1" smtClean="0"/>
                        <a:t>background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green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'</a:t>
                      </a:r>
                      <a:r>
                        <a:rPr lang="es-AR" sz="1700" dirty="0" err="1" smtClean="0"/>
                        <a:t>fontsize</a:t>
                      </a:r>
                      <a:r>
                        <a:rPr lang="es-AR" sz="1700" dirty="0" smtClean="0"/>
                        <a:t>'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3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70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-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fontname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700" dirty="0" smtClean="0"/>
                        <a:t>‘</a:t>
                      </a:r>
                      <a:r>
                        <a:rPr lang="es-AR" sz="1700" dirty="0" err="1" smtClean="0"/>
                        <a:t>helvetica</a:t>
                      </a:r>
                      <a:r>
                        <a:rPr lang="es-AR" sz="1700" dirty="0" smtClean="0"/>
                        <a:t>’</a:t>
                      </a:r>
                      <a:endParaRPr lang="es-AR" sz="1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5" name="4 Cerrar llave"/>
          <p:cNvSpPr/>
          <p:nvPr/>
        </p:nvSpPr>
        <p:spPr>
          <a:xfrm>
            <a:off x="9180512" y="2873260"/>
            <a:ext cx="252536" cy="6698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5 CuadroTexto"/>
          <p:cNvSpPr txBox="1"/>
          <p:nvPr/>
        </p:nvSpPr>
        <p:spPr>
          <a:xfrm>
            <a:off x="9433048" y="2699628"/>
            <a:ext cx="1296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 smtClean="0"/>
              <a:t>Scilab</a:t>
            </a:r>
            <a:r>
              <a:rPr lang="es-AR" dirty="0" smtClean="0"/>
              <a:t> tiene solo estas dos</a:t>
            </a:r>
            <a:endParaRPr lang="es-AR" dirty="0"/>
          </a:p>
        </p:txBody>
      </p:sp>
      <p:sp>
        <p:nvSpPr>
          <p:cNvPr id="7" name="6 Rectángulo"/>
          <p:cNvSpPr/>
          <p:nvPr/>
        </p:nvSpPr>
        <p:spPr>
          <a:xfrm>
            <a:off x="2411760" y="6300028"/>
            <a:ext cx="4481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smtClean="0"/>
              <a:t>PARA SCILAB: legend</a:t>
            </a:r>
            <a:r>
              <a:rPr lang="de-DE" dirty="0"/>
              <a:t>('X (m)','Y (m)',[5 20</a:t>
            </a:r>
            <a:r>
              <a:rPr lang="de-DE" dirty="0" smtClean="0"/>
              <a:t>],%</a:t>
            </a:r>
            <a:r>
              <a:rPr lang="de-DE" dirty="0"/>
              <a:t>t);</a:t>
            </a:r>
            <a:endParaRPr lang="es-AR" dirty="0"/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Graficación</a:t>
            </a:r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5940152" y="2831149"/>
            <a:ext cx="3203848" cy="7119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692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969512" y="1882803"/>
            <a:ext cx="749092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Funciones creadas por el usuario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6712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Funciones creadas por el usuario</a:t>
            </a:r>
            <a:endParaRPr lang="es-AR" dirty="0"/>
          </a:p>
        </p:txBody>
      </p:sp>
      <p:sp>
        <p:nvSpPr>
          <p:cNvPr id="21" name="20 Rectángulo"/>
          <p:cNvSpPr/>
          <p:nvPr/>
        </p:nvSpPr>
        <p:spPr>
          <a:xfrm>
            <a:off x="1" y="1628800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 smtClean="0"/>
              <a:t>¿</a:t>
            </a:r>
            <a:r>
              <a:rPr lang="es-AR" sz="4400" dirty="0" smtClean="0"/>
              <a:t>Qué</a:t>
            </a:r>
            <a:r>
              <a:rPr lang="en-US" sz="4400" dirty="0" smtClean="0"/>
              <a:t> </a:t>
            </a:r>
            <a:r>
              <a:rPr lang="es-AR" sz="4400" dirty="0" smtClean="0"/>
              <a:t>es una función?</a:t>
            </a:r>
            <a:endParaRPr lang="es-AR" sz="4400" dirty="0"/>
          </a:p>
        </p:txBody>
      </p:sp>
      <p:sp>
        <p:nvSpPr>
          <p:cNvPr id="22" name="21 Rectángulo"/>
          <p:cNvSpPr/>
          <p:nvPr/>
        </p:nvSpPr>
        <p:spPr>
          <a:xfrm>
            <a:off x="0" y="5395863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4400" dirty="0" smtClean="0"/>
              <a:t>¿Podemos crear las nuestras?</a:t>
            </a:r>
            <a:endParaRPr lang="es-AR" sz="4400" dirty="0"/>
          </a:p>
        </p:txBody>
      </p:sp>
      <p:sp>
        <p:nvSpPr>
          <p:cNvPr id="23" name="22 Rectángulo"/>
          <p:cNvSpPr/>
          <p:nvPr/>
        </p:nvSpPr>
        <p:spPr>
          <a:xfrm>
            <a:off x="52235" y="2939460"/>
            <a:ext cx="9129102" cy="16271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4680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s-AR" sz="3200" dirty="0"/>
              <a:t>Conjunto de órdenes</a:t>
            </a:r>
          </a:p>
          <a:p>
            <a:pPr indent="-4680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s-AR" sz="3200" dirty="0"/>
              <a:t>Se ejecutan cuando el usuario llama la función</a:t>
            </a:r>
          </a:p>
          <a:p>
            <a:pPr indent="-4680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s-AR" sz="3200" dirty="0"/>
              <a:t>Tiene inputs y/o outputs</a:t>
            </a:r>
          </a:p>
        </p:txBody>
      </p:sp>
    </p:spTree>
    <p:extLst>
      <p:ext uri="{BB962C8B-B14F-4D97-AF65-F5344CB8AC3E}">
        <p14:creationId xmlns:p14="http://schemas.microsoft.com/office/powerpoint/2010/main" val="323196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Rectángulo"/>
          <p:cNvSpPr/>
          <p:nvPr/>
        </p:nvSpPr>
        <p:spPr>
          <a:xfrm>
            <a:off x="179512" y="1196752"/>
            <a:ext cx="8851951" cy="52565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3 Rectángulo"/>
          <p:cNvSpPr/>
          <p:nvPr/>
        </p:nvSpPr>
        <p:spPr>
          <a:xfrm>
            <a:off x="102055" y="1628800"/>
            <a:ext cx="88707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function </a:t>
            </a:r>
            <a:r>
              <a:rPr lang="en-US" dirty="0" smtClean="0"/>
              <a:t>[Output_1,Output_2,Output_3,…] </a:t>
            </a:r>
            <a:r>
              <a:rPr lang="en-US" dirty="0"/>
              <a:t>= </a:t>
            </a:r>
            <a:r>
              <a:rPr lang="en-US" dirty="0" err="1" smtClean="0">
                <a:solidFill>
                  <a:srgbClr val="92D050"/>
                </a:solidFill>
              </a:rPr>
              <a:t>Function_Name</a:t>
            </a:r>
            <a:r>
              <a:rPr lang="en-US" dirty="0" smtClean="0"/>
              <a:t> (Input_1,Input_2, Input_3,…)</a:t>
            </a:r>
            <a:endParaRPr lang="en-US" dirty="0"/>
          </a:p>
        </p:txBody>
      </p:sp>
      <p:sp>
        <p:nvSpPr>
          <p:cNvPr id="5" name="4 Rectángulo"/>
          <p:cNvSpPr/>
          <p:nvPr/>
        </p:nvSpPr>
        <p:spPr>
          <a:xfrm>
            <a:off x="2635312" y="2123564"/>
            <a:ext cx="3780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 smtClean="0"/>
              <a:t>Sentence 1 (Input_1,Input_2, Input_3)</a:t>
            </a:r>
            <a:endParaRPr lang="en-US" dirty="0"/>
          </a:p>
        </p:txBody>
      </p:sp>
      <p:sp>
        <p:nvSpPr>
          <p:cNvPr id="6" name="5 Rectángulo"/>
          <p:cNvSpPr/>
          <p:nvPr/>
        </p:nvSpPr>
        <p:spPr>
          <a:xfrm>
            <a:off x="2623285" y="2636912"/>
            <a:ext cx="3780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 smtClean="0"/>
              <a:t>Sentence 2 (Input_1,Input_2, Input_3)</a:t>
            </a:r>
            <a:endParaRPr lang="en-US" dirty="0"/>
          </a:p>
        </p:txBody>
      </p:sp>
      <p:sp>
        <p:nvSpPr>
          <p:cNvPr id="7" name="6 Conector"/>
          <p:cNvSpPr/>
          <p:nvPr/>
        </p:nvSpPr>
        <p:spPr>
          <a:xfrm>
            <a:off x="4459463" y="3212976"/>
            <a:ext cx="234013" cy="216024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Conector"/>
          <p:cNvSpPr/>
          <p:nvPr/>
        </p:nvSpPr>
        <p:spPr>
          <a:xfrm>
            <a:off x="4459463" y="3645024"/>
            <a:ext cx="234013" cy="216024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Conector"/>
          <p:cNvSpPr/>
          <p:nvPr/>
        </p:nvSpPr>
        <p:spPr>
          <a:xfrm>
            <a:off x="4459463" y="4077072"/>
            <a:ext cx="234013" cy="216024"/>
          </a:xfrm>
          <a:prstGeom prst="flowChartConnector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3280500" y="4427820"/>
            <a:ext cx="2565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 smtClean="0"/>
              <a:t>Output_1 = Sentence N-2</a:t>
            </a:r>
            <a:endParaRPr lang="en-US" dirty="0"/>
          </a:p>
        </p:txBody>
      </p:sp>
      <p:sp>
        <p:nvSpPr>
          <p:cNvPr id="11" name="10 Rectángulo"/>
          <p:cNvSpPr/>
          <p:nvPr/>
        </p:nvSpPr>
        <p:spPr>
          <a:xfrm>
            <a:off x="3280500" y="4931876"/>
            <a:ext cx="25653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 smtClean="0"/>
              <a:t>Output_2 = Sentence N-1</a:t>
            </a:r>
            <a:endParaRPr lang="en-US" dirty="0"/>
          </a:p>
        </p:txBody>
      </p:sp>
      <p:sp>
        <p:nvSpPr>
          <p:cNvPr id="12" name="11 Rectángulo"/>
          <p:cNvSpPr/>
          <p:nvPr/>
        </p:nvSpPr>
        <p:spPr>
          <a:xfrm>
            <a:off x="3374275" y="5435932"/>
            <a:ext cx="2377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 smtClean="0"/>
              <a:t>Output_3 = Sentence N</a:t>
            </a:r>
            <a:endParaRPr lang="en-US" dirty="0"/>
          </a:p>
        </p:txBody>
      </p:sp>
      <p:sp>
        <p:nvSpPr>
          <p:cNvPr id="13" name="12 Rectángulo"/>
          <p:cNvSpPr/>
          <p:nvPr/>
        </p:nvSpPr>
        <p:spPr>
          <a:xfrm>
            <a:off x="347793" y="5939988"/>
            <a:ext cx="554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e</a:t>
            </a:r>
            <a:r>
              <a:rPr lang="en-US" dirty="0" smtClean="0"/>
              <a:t>nd</a:t>
            </a:r>
            <a:endParaRPr lang="en-US" dirty="0"/>
          </a:p>
        </p:txBody>
      </p:sp>
      <p:sp>
        <p:nvSpPr>
          <p:cNvPr id="1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Funciones creadas por el usuario</a:t>
            </a:r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179512" y="1700808"/>
            <a:ext cx="86409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1043608" y="1700808"/>
            <a:ext cx="340255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4662183" y="1700808"/>
            <a:ext cx="1651371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ectángulo"/>
          <p:cNvSpPr/>
          <p:nvPr/>
        </p:nvSpPr>
        <p:spPr>
          <a:xfrm>
            <a:off x="6372200" y="1700808"/>
            <a:ext cx="2779713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Rectángulo"/>
          <p:cNvSpPr/>
          <p:nvPr/>
        </p:nvSpPr>
        <p:spPr>
          <a:xfrm>
            <a:off x="2665129" y="2204864"/>
            <a:ext cx="3923095" cy="801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3334829" y="4496172"/>
            <a:ext cx="2677331" cy="1309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427016" y="6021288"/>
            <a:ext cx="435808" cy="2538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173016" y="1196752"/>
            <a:ext cx="706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 smtClean="0"/>
              <a:t>% Script </a:t>
            </a:r>
            <a:r>
              <a:rPr lang="en-US" dirty="0" err="1" smtClean="0"/>
              <a:t>aparte</a:t>
            </a:r>
            <a:r>
              <a:rPr lang="en-US" dirty="0" smtClean="0"/>
              <a:t>, </a:t>
            </a:r>
            <a:r>
              <a:rPr lang="en-US" dirty="0" err="1" smtClean="0"/>
              <a:t>guardado</a:t>
            </a:r>
            <a:r>
              <a:rPr lang="en-US" dirty="0" smtClean="0"/>
              <a:t> con el </a:t>
            </a:r>
            <a:r>
              <a:rPr lang="en-US" dirty="0" err="1" smtClean="0"/>
              <a:t>nombre</a:t>
            </a:r>
            <a:r>
              <a:rPr lang="en-US" dirty="0" smtClean="0"/>
              <a:t> de la </a:t>
            </a:r>
            <a:r>
              <a:rPr lang="en-US" dirty="0" err="1" smtClean="0"/>
              <a:t>función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92D050"/>
                </a:solidFill>
              </a:rPr>
              <a:t>Function_Name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22" name="21 Rectángulo"/>
          <p:cNvSpPr/>
          <p:nvPr/>
        </p:nvSpPr>
        <p:spPr>
          <a:xfrm>
            <a:off x="251520" y="1268760"/>
            <a:ext cx="7272808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133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2" grpId="0" animBg="1"/>
      <p:bldP spid="22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894086"/>
              </p:ext>
            </p:extLst>
          </p:nvPr>
        </p:nvGraphicFramePr>
        <p:xfrm>
          <a:off x="3263835" y="1196752"/>
          <a:ext cx="3180373" cy="513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037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864096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Aleatorio1</a:t>
                      </a:r>
                    </a:p>
                    <a:p>
                      <a:pPr marL="0" algn="just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</a:t>
                      </a:r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randn</a:t>
                      </a:r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(3,4)</a:t>
                      </a:r>
                    </a:p>
                    <a:p>
                      <a:pPr marL="0" algn="just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es-A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31310"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 Aleatorio2 (u)</a:t>
                      </a:r>
                    </a:p>
                    <a:p>
                      <a:pPr marL="0" algn="just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</a:t>
                      </a:r>
                      <a:r>
                        <a:rPr lang="en-US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randn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u,u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algn="just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es-A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95894"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[x]=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Aleatorio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3 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x = 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randn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(3,4)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40290"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[x] = 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Aleatorio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4 (u)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x= 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randn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u,u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79802"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[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x,y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] = 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Aleatorio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5 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u,v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x= 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randn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u,v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A=x+1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y = 2*A;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" name="1 Flecha derecha"/>
          <p:cNvSpPr/>
          <p:nvPr/>
        </p:nvSpPr>
        <p:spPr>
          <a:xfrm>
            <a:off x="1896360" y="2461538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Flecha derecha"/>
          <p:cNvSpPr/>
          <p:nvPr/>
        </p:nvSpPr>
        <p:spPr>
          <a:xfrm>
            <a:off x="6504872" y="3438292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5 Flecha derecha"/>
          <p:cNvSpPr/>
          <p:nvPr/>
        </p:nvSpPr>
        <p:spPr>
          <a:xfrm>
            <a:off x="1896360" y="4365104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Flecha derecha"/>
          <p:cNvSpPr/>
          <p:nvPr/>
        </p:nvSpPr>
        <p:spPr>
          <a:xfrm>
            <a:off x="6504872" y="4365104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Flecha derecha"/>
          <p:cNvSpPr/>
          <p:nvPr/>
        </p:nvSpPr>
        <p:spPr>
          <a:xfrm>
            <a:off x="1896360" y="5522782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Flecha derecha"/>
          <p:cNvSpPr/>
          <p:nvPr/>
        </p:nvSpPr>
        <p:spPr>
          <a:xfrm>
            <a:off x="6504872" y="5522782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Flecha derecha"/>
          <p:cNvSpPr/>
          <p:nvPr/>
        </p:nvSpPr>
        <p:spPr>
          <a:xfrm>
            <a:off x="1896360" y="6026838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Flecha derecha"/>
          <p:cNvSpPr/>
          <p:nvPr/>
        </p:nvSpPr>
        <p:spPr>
          <a:xfrm>
            <a:off x="6504872" y="6026838"/>
            <a:ext cx="1296144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CuadroTexto"/>
              <p:cNvSpPr txBox="1"/>
              <p:nvPr/>
            </p:nvSpPr>
            <p:spPr>
              <a:xfrm>
                <a:off x="1431044" y="2420888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" name="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044" y="2420888"/>
                <a:ext cx="37644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CuadroTexto"/>
              <p:cNvSpPr txBox="1"/>
              <p:nvPr/>
            </p:nvSpPr>
            <p:spPr>
              <a:xfrm>
                <a:off x="1447903" y="4293096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903" y="4293096"/>
                <a:ext cx="37644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1464312" y="5450774"/>
                <a:ext cx="3764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312" y="5450774"/>
                <a:ext cx="376449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1464312" y="5954830"/>
                <a:ext cx="3693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312" y="5954830"/>
                <a:ext cx="369332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4 CuadroTexto"/>
              <p:cNvSpPr txBox="1"/>
              <p:nvPr/>
            </p:nvSpPr>
            <p:spPr>
              <a:xfrm>
                <a:off x="7801016" y="3356992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016" y="3356992"/>
                <a:ext cx="3679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CuadroTexto"/>
              <p:cNvSpPr txBox="1"/>
              <p:nvPr/>
            </p:nvSpPr>
            <p:spPr>
              <a:xfrm>
                <a:off x="7801016" y="4293096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1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016" y="4293096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CuadroTexto"/>
              <p:cNvSpPr txBox="1"/>
              <p:nvPr/>
            </p:nvSpPr>
            <p:spPr>
              <a:xfrm>
                <a:off x="7801016" y="5450774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016" y="5450774"/>
                <a:ext cx="367985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CuadroTexto"/>
              <p:cNvSpPr txBox="1"/>
              <p:nvPr/>
            </p:nvSpPr>
            <p:spPr>
              <a:xfrm>
                <a:off x="7801016" y="5954830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1016" y="5954830"/>
                <a:ext cx="371384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Funciones creadas por el usuario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9771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664280"/>
              </p:ext>
            </p:extLst>
          </p:nvPr>
        </p:nvGraphicFramePr>
        <p:xfrm>
          <a:off x="107505" y="1519024"/>
          <a:ext cx="9036495" cy="5399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89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9474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089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48376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9020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es-A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s-A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Aleatorio1</a:t>
                      </a:r>
                    </a:p>
                    <a:p>
                      <a:pPr marL="0" algn="just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1+rand(3,4)*9</a:t>
                      </a:r>
                    </a:p>
                    <a:p>
                      <a:pPr marL="0" algn="just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es-A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Aleatorio1</a:t>
                      </a:r>
                      <a:endParaRPr lang="es-A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1876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 Aleatorio</a:t>
                      </a:r>
                      <a:r>
                        <a:rPr lang="en-US" sz="18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(u)</a:t>
                      </a:r>
                    </a:p>
                    <a:p>
                      <a:pPr marL="0" algn="just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1+rand(</a:t>
                      </a:r>
                      <a:r>
                        <a:rPr lang="en-US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u,u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)*9</a:t>
                      </a:r>
                    </a:p>
                    <a:p>
                      <a:pPr marL="0" algn="just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es-A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Aleatorio2(u)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02084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[x]=Aleatorio3 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x = 1+rand(3,4)*9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[x]=Aleatorio3</a:t>
                      </a:r>
                    </a:p>
                    <a:p>
                      <a:pPr algn="ctr"/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02084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[x] = Aleatorio4 (u)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x= 1+rand(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u,u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)*9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[x]=Aleatorio4(u)</a:t>
                      </a:r>
                    </a:p>
                    <a:p>
                      <a:pPr algn="ctr"/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713959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</a:p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u</a:t>
                      </a:r>
                    </a:p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[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x,y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] = Aleatorio5 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u,v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x= 1+rand(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u,v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)*9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A=x+1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y = 2*A;</a:t>
                      </a:r>
                    </a:p>
                    <a:p>
                      <a:pPr algn="just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[</a:t>
                      </a:r>
                      <a:r>
                        <a:rPr lang="en-US" dirty="0" err="1" smtClean="0"/>
                        <a:t>x,y</a:t>
                      </a:r>
                      <a:r>
                        <a:rPr lang="en-US" dirty="0" smtClean="0"/>
                        <a:t>]=Aleatorio5(</a:t>
                      </a:r>
                      <a:r>
                        <a:rPr lang="en-US" dirty="0" err="1" smtClean="0"/>
                        <a:t>u,v</a:t>
                      </a:r>
                      <a:r>
                        <a:rPr lang="en-US" dirty="0" smtClean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4" name="23 Rectángulo"/>
          <p:cNvSpPr/>
          <p:nvPr/>
        </p:nvSpPr>
        <p:spPr>
          <a:xfrm>
            <a:off x="4644008" y="1556792"/>
            <a:ext cx="108012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4644008" y="2452246"/>
            <a:ext cx="1440160" cy="32868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ectángulo"/>
          <p:cNvSpPr/>
          <p:nvPr/>
        </p:nvSpPr>
        <p:spPr>
          <a:xfrm>
            <a:off x="4644008" y="3388350"/>
            <a:ext cx="1512168" cy="328682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Rectángulo"/>
          <p:cNvSpPr/>
          <p:nvPr/>
        </p:nvSpPr>
        <p:spPr>
          <a:xfrm>
            <a:off x="4644008" y="4293096"/>
            <a:ext cx="1944216" cy="3600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Rectángulo"/>
          <p:cNvSpPr/>
          <p:nvPr/>
        </p:nvSpPr>
        <p:spPr>
          <a:xfrm>
            <a:off x="4716016" y="5229200"/>
            <a:ext cx="194421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Rectángulo"/>
          <p:cNvSpPr/>
          <p:nvPr/>
        </p:nvSpPr>
        <p:spPr>
          <a:xfrm>
            <a:off x="7380312" y="1844824"/>
            <a:ext cx="108012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Rectángulo"/>
          <p:cNvSpPr/>
          <p:nvPr/>
        </p:nvSpPr>
        <p:spPr>
          <a:xfrm>
            <a:off x="7164288" y="2740278"/>
            <a:ext cx="1440160" cy="32868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30 Rectángulo"/>
          <p:cNvSpPr/>
          <p:nvPr/>
        </p:nvSpPr>
        <p:spPr>
          <a:xfrm>
            <a:off x="7164288" y="3537012"/>
            <a:ext cx="1512168" cy="30197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31 Rectángulo"/>
          <p:cNvSpPr/>
          <p:nvPr/>
        </p:nvSpPr>
        <p:spPr>
          <a:xfrm>
            <a:off x="7092280" y="4473116"/>
            <a:ext cx="1728192" cy="25202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Rectángulo"/>
          <p:cNvSpPr/>
          <p:nvPr/>
        </p:nvSpPr>
        <p:spPr>
          <a:xfrm>
            <a:off x="6804248" y="5936031"/>
            <a:ext cx="216024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1 CuadroTexto"/>
          <p:cNvSpPr txBox="1"/>
          <p:nvPr/>
        </p:nvSpPr>
        <p:spPr>
          <a:xfrm>
            <a:off x="3779912" y="104344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Definición de la función</a:t>
            </a:r>
            <a:endParaRPr lang="es-AR" dirty="0"/>
          </a:p>
        </p:txBody>
      </p:sp>
      <p:sp>
        <p:nvSpPr>
          <p:cNvPr id="34" name="33 CuadroTexto"/>
          <p:cNvSpPr txBox="1"/>
          <p:nvPr/>
        </p:nvSpPr>
        <p:spPr>
          <a:xfrm>
            <a:off x="6660232" y="1043444"/>
            <a:ext cx="248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Llamado</a:t>
            </a:r>
            <a:endParaRPr lang="es-AR" dirty="0"/>
          </a:p>
        </p:txBody>
      </p:sp>
      <p:sp>
        <p:nvSpPr>
          <p:cNvPr id="3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Funciones creadas por el usuario</a:t>
            </a:r>
            <a:endParaRPr lang="es-AR" dirty="0"/>
          </a:p>
        </p:txBody>
      </p:sp>
      <p:sp>
        <p:nvSpPr>
          <p:cNvPr id="36" name="35 CuadroTexto"/>
          <p:cNvSpPr txBox="1"/>
          <p:nvPr/>
        </p:nvSpPr>
        <p:spPr>
          <a:xfrm>
            <a:off x="107504" y="908720"/>
            <a:ext cx="1742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Variables globales</a:t>
            </a:r>
            <a:endParaRPr lang="es-AR" dirty="0"/>
          </a:p>
        </p:txBody>
      </p:sp>
      <p:sp>
        <p:nvSpPr>
          <p:cNvPr id="37" name="36 CuadroTexto"/>
          <p:cNvSpPr txBox="1"/>
          <p:nvPr/>
        </p:nvSpPr>
        <p:spPr>
          <a:xfrm>
            <a:off x="1849643" y="908720"/>
            <a:ext cx="1872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Variables locales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9007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Variables globales dentro de la función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2841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635607"/>
              </p:ext>
            </p:extLst>
          </p:nvPr>
        </p:nvGraphicFramePr>
        <p:xfrm>
          <a:off x="3203848" y="1340768"/>
          <a:ext cx="3168352" cy="506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 Aleatorio6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global A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 exist ('A')==0 || </a:t>
                      </a:r>
                      <a:r>
                        <a:rPr lang="en-US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(A)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1+rand*9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A=A+1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313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s-A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A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313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A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313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Aleatorio6bis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global A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2+A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es-A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cxnSp>
        <p:nvCxnSpPr>
          <p:cNvPr id="6" name="5 Conector recto de flecha"/>
          <p:cNvCxnSpPr/>
          <p:nvPr/>
        </p:nvCxnSpPr>
        <p:spPr>
          <a:xfrm>
            <a:off x="5508104" y="3356992"/>
            <a:ext cx="0" cy="1872208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Variables globales dentro de la función</a:t>
            </a:r>
            <a:endParaRPr lang="es-AR" dirty="0"/>
          </a:p>
        </p:txBody>
      </p:sp>
      <p:cxnSp>
        <p:nvCxnSpPr>
          <p:cNvPr id="7" name="6 Conector recto de flecha"/>
          <p:cNvCxnSpPr/>
          <p:nvPr/>
        </p:nvCxnSpPr>
        <p:spPr>
          <a:xfrm flipV="1">
            <a:off x="4067944" y="3356992"/>
            <a:ext cx="0" cy="1872208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9 Grupo"/>
          <p:cNvGrpSpPr/>
          <p:nvPr/>
        </p:nvGrpSpPr>
        <p:grpSpPr>
          <a:xfrm>
            <a:off x="3203848" y="1340768"/>
            <a:ext cx="3168352" cy="5112568"/>
            <a:chOff x="251520" y="1340768"/>
            <a:chExt cx="3168352" cy="5112568"/>
          </a:xfrm>
        </p:grpSpPr>
        <p:sp>
          <p:nvSpPr>
            <p:cNvPr id="2" name="1 Rectángulo"/>
            <p:cNvSpPr/>
            <p:nvPr/>
          </p:nvSpPr>
          <p:spPr>
            <a:xfrm>
              <a:off x="251520" y="1340768"/>
              <a:ext cx="3168352" cy="201622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Rectángulo"/>
            <p:cNvSpPr/>
            <p:nvPr/>
          </p:nvSpPr>
          <p:spPr>
            <a:xfrm>
              <a:off x="251520" y="5229200"/>
              <a:ext cx="3168352" cy="122413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3" name="2 Rectángulo"/>
          <p:cNvSpPr/>
          <p:nvPr/>
        </p:nvSpPr>
        <p:spPr>
          <a:xfrm>
            <a:off x="3203848" y="1325667"/>
            <a:ext cx="3168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function Aleatorio6</a:t>
            </a:r>
          </a:p>
          <a:p>
            <a:r>
              <a:rPr lang="en-US" dirty="0"/>
              <a:t>global A</a:t>
            </a: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= </a:t>
            </a:r>
            <a:r>
              <a:rPr lang="en-US" dirty="0" smtClean="0"/>
              <a:t>1+rand*9 %Si A </a:t>
            </a:r>
            <a:r>
              <a:rPr lang="en-US" u="sng" dirty="0" smtClean="0"/>
              <a:t>no </a:t>
            </a:r>
            <a:r>
              <a:rPr lang="en-US" u="sng" dirty="0" err="1" smtClean="0"/>
              <a:t>existe</a:t>
            </a:r>
            <a:endParaRPr lang="en-US" u="sng" dirty="0"/>
          </a:p>
          <a:p>
            <a:endParaRPr lang="en-US" dirty="0"/>
          </a:p>
          <a:p>
            <a:r>
              <a:rPr lang="en-US" dirty="0" smtClean="0"/>
              <a:t>A=A+1 %Si A </a:t>
            </a:r>
            <a:r>
              <a:rPr lang="en-US" u="sng" dirty="0" err="1" smtClean="0"/>
              <a:t>existe</a:t>
            </a:r>
            <a:endParaRPr lang="en-US" u="sng" dirty="0"/>
          </a:p>
          <a:p>
            <a:r>
              <a:rPr lang="en-US" dirty="0"/>
              <a:t>end</a:t>
            </a:r>
          </a:p>
        </p:txBody>
      </p:sp>
      <p:sp>
        <p:nvSpPr>
          <p:cNvPr id="9" name="8 Rectángulo"/>
          <p:cNvSpPr/>
          <p:nvPr/>
        </p:nvSpPr>
        <p:spPr>
          <a:xfrm>
            <a:off x="3203848" y="5225936"/>
            <a:ext cx="302433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/>
              <a:t>function</a:t>
            </a:r>
            <a:r>
              <a:rPr lang="es-AR" dirty="0"/>
              <a:t> Aleatorio6bis</a:t>
            </a:r>
          </a:p>
          <a:p>
            <a:r>
              <a:rPr lang="es-AR" dirty="0"/>
              <a:t>global A</a:t>
            </a:r>
          </a:p>
          <a:p>
            <a:r>
              <a:rPr lang="es-AR" dirty="0"/>
              <a:t>A = 2+A</a:t>
            </a:r>
          </a:p>
          <a:p>
            <a:r>
              <a:rPr lang="es-AR" dirty="0" err="1"/>
              <a:t>end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62050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221808"/>
              </p:ext>
            </p:extLst>
          </p:nvPr>
        </p:nvGraphicFramePr>
        <p:xfrm>
          <a:off x="3203848" y="1340768"/>
          <a:ext cx="3168352" cy="5063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 Aleatorio6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global A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if exist ('A')==0 || </a:t>
                      </a:r>
                      <a:r>
                        <a:rPr lang="en-US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isempty</a:t>
                      </a:r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(A)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1+rand*9 %Si A </a:t>
                      </a:r>
                      <a:r>
                        <a:rPr lang="en-US" sz="1800" b="0" u="sng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</a:t>
                      </a:r>
                      <a:r>
                        <a:rPr lang="en-US" sz="1800" b="0" u="sng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existe</a:t>
                      </a:r>
                      <a:endParaRPr lang="en-US" sz="1800" b="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else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A=A+1 %Si A </a:t>
                      </a:r>
                      <a:r>
                        <a:rPr lang="en-US" sz="1800" b="0" u="sng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existe</a:t>
                      </a:r>
                      <a:endParaRPr lang="en-US" sz="1800" b="0" u="sng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313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s-A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A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313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                        A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3131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</a:t>
                      </a:r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Aleatorio6bis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global A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= 2+A</a:t>
                      </a:r>
                    </a:p>
                    <a:p>
                      <a:pPr marL="0" algn="l" defTabSz="914400" rtl="0" eaLnBrk="1" latinLnBrk="0" hangingPunct="1"/>
                      <a:r>
                        <a:rPr lang="es-AR" sz="18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es-A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Variables globales dentro de la función</a:t>
            </a:r>
            <a:endParaRPr lang="es-AR" dirty="0"/>
          </a:p>
        </p:txBody>
      </p:sp>
      <p:cxnSp>
        <p:nvCxnSpPr>
          <p:cNvPr id="8" name="5 Conector recto de flecha"/>
          <p:cNvCxnSpPr/>
          <p:nvPr/>
        </p:nvCxnSpPr>
        <p:spPr>
          <a:xfrm>
            <a:off x="5508104" y="3356992"/>
            <a:ext cx="0" cy="1872208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6 Conector recto de flecha"/>
          <p:cNvCxnSpPr/>
          <p:nvPr/>
        </p:nvCxnSpPr>
        <p:spPr>
          <a:xfrm flipV="1">
            <a:off x="4067944" y="3356992"/>
            <a:ext cx="0" cy="1872208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680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Variables Persistentes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1416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168152"/>
            <a:ext cx="8229600" cy="11087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2000" b="0" dirty="0"/>
              <a:t>Las variables persistentes son aquellas que se definen dentro de una función y mantienen su valor luego de cada </a:t>
            </a:r>
            <a:r>
              <a:rPr lang="es-AR" sz="2000" b="0" dirty="0" smtClean="0"/>
              <a:t>llamado.</a:t>
            </a:r>
            <a:endParaRPr lang="es-AR" sz="2000" b="0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715623"/>
              </p:ext>
            </p:extLst>
          </p:nvPr>
        </p:nvGraphicFramePr>
        <p:xfrm>
          <a:off x="2075268" y="2420888"/>
          <a:ext cx="5449060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74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A=2</a:t>
                      </a:r>
                      <a:endParaRPr lang="es-AR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A=3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A=4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Variables persistentes</a:t>
            </a:r>
            <a:endParaRPr lang="es-AR" dirty="0"/>
          </a:p>
        </p:txBody>
      </p:sp>
      <p:sp>
        <p:nvSpPr>
          <p:cNvPr id="5" name="4 Rectángulo"/>
          <p:cNvSpPr/>
          <p:nvPr/>
        </p:nvSpPr>
        <p:spPr>
          <a:xfrm>
            <a:off x="2051720" y="2420888"/>
            <a:ext cx="2664296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Rectángulo"/>
          <p:cNvSpPr/>
          <p:nvPr/>
        </p:nvSpPr>
        <p:spPr>
          <a:xfrm>
            <a:off x="2036038" y="2420888"/>
            <a:ext cx="26799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function </a:t>
            </a:r>
            <a:r>
              <a:rPr lang="en-US" dirty="0" smtClean="0"/>
              <a:t>Aleatorio7Per</a:t>
            </a:r>
            <a:endParaRPr lang="en-US" dirty="0"/>
          </a:p>
          <a:p>
            <a:r>
              <a:rPr lang="en-US" dirty="0"/>
              <a:t>persistent A</a:t>
            </a:r>
          </a:p>
          <a:p>
            <a:r>
              <a:rPr lang="en-US" dirty="0"/>
              <a:t>a=a+1</a:t>
            </a:r>
          </a:p>
          <a:p>
            <a:r>
              <a:rPr lang="en-US" dirty="0"/>
              <a:t>end</a:t>
            </a:r>
            <a:endParaRPr lang="es-AR" dirty="0"/>
          </a:p>
        </p:txBody>
      </p:sp>
      <p:sp>
        <p:nvSpPr>
          <p:cNvPr id="9" name="8 Rectángulo"/>
          <p:cNvSpPr/>
          <p:nvPr/>
        </p:nvSpPr>
        <p:spPr>
          <a:xfrm>
            <a:off x="4716016" y="2420888"/>
            <a:ext cx="2808312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4700334" y="2420888"/>
            <a:ext cx="27192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function Aleatorio7NoPer</a:t>
            </a:r>
          </a:p>
          <a:p>
            <a:endParaRPr lang="en-US" dirty="0"/>
          </a:p>
          <a:p>
            <a:r>
              <a:rPr lang="en-US" dirty="0"/>
              <a:t>a=a+1</a:t>
            </a:r>
          </a:p>
          <a:p>
            <a:r>
              <a:rPr lang="en-US" dirty="0"/>
              <a:t>end</a:t>
            </a:r>
            <a:endParaRPr lang="es-AR" dirty="0"/>
          </a:p>
        </p:txBody>
      </p:sp>
      <p:sp>
        <p:nvSpPr>
          <p:cNvPr id="6" name="5 Rectángulo"/>
          <p:cNvSpPr/>
          <p:nvPr/>
        </p:nvSpPr>
        <p:spPr>
          <a:xfrm>
            <a:off x="4734904" y="2775536"/>
            <a:ext cx="1296144" cy="25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2086290" y="2766672"/>
            <a:ext cx="1296144" cy="25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703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168152"/>
            <a:ext cx="8229600" cy="11087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sz="2000" b="0" dirty="0"/>
              <a:t>Las variables persistentes son aquellas que se definen dentro de una función y mantienen su valor luego de cada </a:t>
            </a:r>
            <a:r>
              <a:rPr lang="es-AR" sz="2000" b="0" dirty="0" smtClean="0"/>
              <a:t>llamado.</a:t>
            </a:r>
            <a:endParaRPr lang="es-AR" sz="2000" b="0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522095"/>
              </p:ext>
            </p:extLst>
          </p:nvPr>
        </p:nvGraphicFramePr>
        <p:xfrm>
          <a:off x="683568" y="1850216"/>
          <a:ext cx="8039406" cy="496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4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679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Aleatorio7Per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persistent A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if exist('a')==0 %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Crea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a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</a:rPr>
                        <a:t>si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no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</a:rPr>
                        <a:t>existe</a:t>
                      </a: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a=0;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end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if 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isempty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(a)==1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a=0;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else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   a=a+1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end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function Aleatorio7NoPer</a:t>
                      </a:r>
                    </a:p>
                    <a:p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if exist('a')==0 %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Crea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a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</a:rPr>
                        <a:t>si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no </a:t>
                      </a:r>
                      <a:r>
                        <a:rPr lang="en-US" b="0" baseline="0" dirty="0" err="1" smtClean="0">
                          <a:solidFill>
                            <a:schemeClr val="tx1"/>
                          </a:solidFill>
                        </a:rPr>
                        <a:t>existe</a:t>
                      </a:r>
                      <a:endParaRPr lang="en-US" b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a=0;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end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if 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isempty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(a)==1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</a:rPr>
                        <a:t>  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a=0;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else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   a=a+1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   end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end</a:t>
                      </a:r>
                      <a:endParaRPr lang="es-AR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A=2</a:t>
                      </a:r>
                      <a:endParaRPr lang="es-AR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A=3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A=4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A=5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A=1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Variables persistentes</a:t>
            </a:r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694590" y="2196000"/>
            <a:ext cx="1296144" cy="25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1 Rectángulo"/>
          <p:cNvSpPr/>
          <p:nvPr/>
        </p:nvSpPr>
        <p:spPr>
          <a:xfrm>
            <a:off x="4716016" y="2204864"/>
            <a:ext cx="1296144" cy="25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029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Estadística y números complejos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7715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29191"/>
              </p:ext>
            </p:extLst>
          </p:nvPr>
        </p:nvGraphicFramePr>
        <p:xfrm>
          <a:off x="307026" y="458526"/>
          <a:ext cx="8513446" cy="5596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5165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4650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973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1794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53115">
                <a:tc rowSpan="2"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Operación</a:t>
                      </a:r>
                      <a:endParaRPr lang="es-AR" sz="16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Ejemplo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1587">
                <a:tc v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Matlab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Scilab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Octave</a:t>
                      </a:r>
                      <a:endParaRPr lang="es-A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966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Muestras de</a:t>
                      </a:r>
                      <a:r>
                        <a:rPr lang="es-AR" sz="1600" baseline="0" dirty="0" smtClean="0"/>
                        <a:t> d</a:t>
                      </a:r>
                      <a:r>
                        <a:rPr lang="es-AR" sz="1600" dirty="0" smtClean="0"/>
                        <a:t>istribución</a:t>
                      </a:r>
                      <a:r>
                        <a:rPr lang="es-AR" sz="1600" baseline="0" dirty="0" smtClean="0"/>
                        <a:t> uniforme entre 0 y 1</a:t>
                      </a:r>
                      <a:endParaRPr lang="es-AR" sz="16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rand()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5086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Muestras de</a:t>
                      </a:r>
                      <a:r>
                        <a:rPr lang="es-AR" sz="1600" baseline="0" dirty="0" smtClean="0"/>
                        <a:t> d</a:t>
                      </a:r>
                      <a:r>
                        <a:rPr lang="es-AR" sz="1600" dirty="0" smtClean="0"/>
                        <a:t>istribución uniforme de</a:t>
                      </a:r>
                      <a:r>
                        <a:rPr lang="es-AR" sz="1600" baseline="0" dirty="0" smtClean="0"/>
                        <a:t> </a:t>
                      </a:r>
                      <a:r>
                        <a:rPr lang="es-AR" sz="1600" baseline="0" dirty="0" err="1" smtClean="0"/>
                        <a:t>integers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randi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grand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randi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3115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Muestras de</a:t>
                      </a:r>
                      <a:r>
                        <a:rPr lang="es-AR" sz="1600" baseline="0" dirty="0" smtClean="0"/>
                        <a:t> d</a:t>
                      </a:r>
                      <a:r>
                        <a:rPr lang="es-AR" sz="1600" dirty="0" smtClean="0"/>
                        <a:t>istribución</a:t>
                      </a:r>
                      <a:r>
                        <a:rPr lang="es-AR" sz="1600" baseline="0" dirty="0" smtClean="0"/>
                        <a:t> normal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randn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rand(,”normal”)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randn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31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Media</a:t>
                      </a:r>
                      <a:r>
                        <a:rPr lang="es-AR" sz="1600" baseline="0" dirty="0" smtClean="0"/>
                        <a:t> aritmética de un vector</a:t>
                      </a:r>
                      <a:endParaRPr lang="es-AR" sz="1600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mean()</a:t>
                      </a:r>
                      <a:endParaRPr lang="es-AR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6067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Mediana</a:t>
                      </a:r>
                      <a:r>
                        <a:rPr lang="es-AR" sz="1600" baseline="0" dirty="0" smtClean="0"/>
                        <a:t> de un vector</a:t>
                      </a:r>
                      <a:endParaRPr lang="es-AR" sz="16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median()</a:t>
                      </a:r>
                      <a:endParaRPr lang="es-AR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17112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Media geométrica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mean(,”g”)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geomean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mean(,”g”)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7112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Media armónica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mean(,”h”)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harmean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smtClean="0"/>
                        <a:t>mean(,”h”)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17112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Desviación </a:t>
                      </a:r>
                      <a:r>
                        <a:rPr lang="es-AR" sz="1600" dirty="0" err="1" smtClean="0"/>
                        <a:t>estandar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std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stdev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std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17112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Permutación de un conjunto de muestras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randperm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grand</a:t>
                      </a:r>
                      <a:r>
                        <a:rPr lang="es-AR" sz="1600" dirty="0" smtClean="0"/>
                        <a:t>(,"</a:t>
                      </a:r>
                      <a:r>
                        <a:rPr lang="es-AR" sz="1600" dirty="0" err="1" smtClean="0"/>
                        <a:t>prm</a:t>
                      </a:r>
                      <a:r>
                        <a:rPr lang="es-AR" sz="1600" dirty="0" smtClean="0"/>
                        <a:t>",)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randperm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417112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Rango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range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strange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range</a:t>
                      </a:r>
                      <a:r>
                        <a:rPr lang="es-AR" sz="1600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417112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Covarianza</a:t>
                      </a:r>
                      <a:endParaRPr lang="es-AR" sz="16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cov</a:t>
                      </a:r>
                      <a:r>
                        <a:rPr lang="es-AR" sz="1600" dirty="0" smtClean="0"/>
                        <a:t>()</a:t>
                      </a:r>
                      <a:endParaRPr lang="es-AR" sz="16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17112"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smtClean="0"/>
                        <a:t>Desviación</a:t>
                      </a:r>
                      <a:r>
                        <a:rPr lang="es-AR" sz="1600" baseline="0" dirty="0" smtClean="0"/>
                        <a:t> </a:t>
                      </a:r>
                      <a:r>
                        <a:rPr lang="es-AR" sz="1600" baseline="0" smtClean="0"/>
                        <a:t>absoluta promedio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600" dirty="0" err="1" smtClean="0"/>
                        <a:t>mad</a:t>
                      </a:r>
                      <a:r>
                        <a:rPr lang="es-AR" sz="1600" dirty="0" smtClean="0"/>
                        <a:t>() </a:t>
                      </a:r>
                      <a:r>
                        <a:rPr lang="es-AR" sz="1600" baseline="30000" dirty="0" smtClean="0"/>
                        <a:t>2</a:t>
                      </a:r>
                      <a:endParaRPr lang="es-AR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mad</a:t>
                      </a:r>
                      <a:r>
                        <a:rPr lang="es-AR" sz="1600" dirty="0" smtClean="0"/>
                        <a:t>()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 err="1" smtClean="0"/>
                        <a:t>mad</a:t>
                      </a:r>
                      <a:r>
                        <a:rPr lang="es-AR" sz="1600" dirty="0" smtClean="0"/>
                        <a:t>() </a:t>
                      </a:r>
                      <a:r>
                        <a:rPr lang="es-AR" sz="1600" baseline="30000" dirty="0" smtClean="0"/>
                        <a:t>2</a:t>
                      </a:r>
                      <a:endParaRPr lang="es-AR" sz="16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CuadroTexto"/>
              <p:cNvSpPr txBox="1"/>
              <p:nvPr/>
            </p:nvSpPr>
            <p:spPr>
              <a:xfrm>
                <a:off x="179512" y="6239053"/>
                <a:ext cx="896448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sz="1600" baseline="30000" dirty="0" smtClean="0"/>
                  <a:t>1 </a:t>
                </a:r>
                <a:r>
                  <a:rPr lang="es-AR" sz="1600" dirty="0" smtClean="0"/>
                  <a:t>Función normal </a:t>
                </a:r>
                <a:r>
                  <a:rPr lang="es-AR" sz="1600" dirty="0" err="1" smtClean="0"/>
                  <a:t>estandar</a:t>
                </a:r>
                <a:r>
                  <a:rPr lang="es-AR" sz="1600" dirty="0" smtClean="0"/>
                  <a:t> (</a:t>
                </a:r>
                <a14:m>
                  <m:oMath xmlns:m="http://schemas.openxmlformats.org/officeDocument/2006/math">
                    <m:r>
                      <a:rPr lang="es-AR" sz="1600" i="1" smtClean="0">
                        <a:latin typeface="Cambria Math"/>
                        <a:ea typeface="Cambria Math"/>
                      </a:rPr>
                      <m:t>𝜇</m:t>
                    </m:r>
                    <m:r>
                      <a:rPr lang="es-AR" sz="1600" b="0" i="1" smtClean="0">
                        <a:latin typeface="Cambria Math"/>
                        <a:ea typeface="Cambria Math"/>
                      </a:rPr>
                      <m:t>=0</m:t>
                    </m:r>
                  </m:oMath>
                </a14:m>
                <a:r>
                  <a:rPr lang="es-AR" sz="1600" dirty="0" smtClean="0"/>
                  <a:t> 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  <a:ea typeface="Cambria Math"/>
                      </a:rPr>
                      <m:t>σ</m:t>
                    </m:r>
                    <m:r>
                      <a:rPr lang="es-AR" sz="1600" i="1">
                        <a:latin typeface="Cambria Math"/>
                        <a:ea typeface="Cambria Math"/>
                      </a:rPr>
                      <m:t>=</m:t>
                    </m:r>
                    <m:r>
                      <a:rPr lang="es-AR" sz="1600" b="0" i="1" smtClean="0">
                        <a:latin typeface="Cambria Math"/>
                        <a:ea typeface="Cambria Math"/>
                      </a:rPr>
                      <m:t>1</m:t>
                    </m:r>
                  </m:oMath>
                </a14:m>
                <a:r>
                  <a:rPr lang="es-AR" sz="1600" dirty="0" smtClean="0"/>
                  <a:t>)</a:t>
                </a:r>
              </a:p>
              <a:p>
                <a:r>
                  <a:rPr lang="es-AR" sz="1600" baseline="30000" dirty="0" smtClean="0"/>
                  <a:t>2</a:t>
                </a:r>
                <a:r>
                  <a:rPr lang="es-AR" sz="1600" dirty="0" smtClean="0"/>
                  <a:t> Permite calcular la desviación absoluta promedio o la desviación absoluta mediana</a:t>
                </a:r>
                <a:endParaRPr lang="es-AR" sz="1600" baseline="30000" dirty="0"/>
              </a:p>
            </p:txBody>
          </p:sp>
        </mc:Choice>
        <mc:Fallback xmlns=""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6239053"/>
                <a:ext cx="8964488" cy="584775"/>
              </a:xfrm>
              <a:prstGeom prst="rect">
                <a:avLst/>
              </a:prstGeom>
              <a:blipFill>
                <a:blip r:embed="rId2"/>
                <a:stretch>
                  <a:fillRect t="-3125" b="-1250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275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84214"/>
              </p:ext>
            </p:extLst>
          </p:nvPr>
        </p:nvGraphicFramePr>
        <p:xfrm>
          <a:off x="1882177" y="2040281"/>
          <a:ext cx="5786167" cy="32609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27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0780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2504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92504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0037">
                <a:tc rowSpan="2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Operación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Ejemplo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6325">
                <a:tc v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Matlab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Scilab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Octave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2333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Definir número complejo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1+i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1+%i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1+i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42333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Norma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abs</a:t>
                      </a:r>
                      <a:r>
                        <a:rPr lang="es-AR" sz="1800" dirty="0" smtClean="0"/>
                        <a:t>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Ángulo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angle</a:t>
                      </a:r>
                      <a:r>
                        <a:rPr lang="es-AR" sz="1800" dirty="0" smtClean="0"/>
                        <a:t>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Conjugado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conj</a:t>
                      </a:r>
                      <a:r>
                        <a:rPr lang="es-AR" sz="1800" dirty="0" smtClean="0"/>
                        <a:t>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2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Parte</a:t>
                      </a:r>
                      <a:r>
                        <a:rPr lang="es-AR" sz="1800" baseline="0" dirty="0" smtClean="0"/>
                        <a:t> imaginaria</a:t>
                      </a:r>
                      <a:endParaRPr lang="es-AR" sz="1800" dirty="0" smtClean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imag</a:t>
                      </a:r>
                      <a:r>
                        <a:rPr lang="es-AR" sz="1800" dirty="0" smtClean="0"/>
                        <a:t>()</a:t>
                      </a:r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060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Parte real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real()</a:t>
                      </a:r>
                      <a:endParaRPr lang="es-AR" sz="1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Números complejos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8269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Condicionales y </a:t>
            </a:r>
            <a:r>
              <a:rPr lang="es-AR" dirty="0" err="1" smtClean="0"/>
              <a:t>Loops</a:t>
            </a:r>
            <a:r>
              <a:rPr lang="es-AR" dirty="0" smtClean="0"/>
              <a:t>: </a:t>
            </a:r>
            <a:r>
              <a:rPr lang="es-AR" dirty="0" err="1" smtClean="0"/>
              <a:t>if</a:t>
            </a:r>
            <a:r>
              <a:rPr lang="es-AR" dirty="0" smtClean="0"/>
              <a:t>, </a:t>
            </a:r>
            <a:r>
              <a:rPr lang="es-AR" dirty="0" err="1" smtClean="0"/>
              <a:t>while</a:t>
            </a:r>
            <a:r>
              <a:rPr lang="es-AR" dirty="0" smtClean="0"/>
              <a:t> y </a:t>
            </a:r>
            <a:r>
              <a:rPr lang="es-AR" dirty="0" err="1" smtClean="0"/>
              <a:t>for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17452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1544929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536817" y="250218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1544929" y="3726324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683568" y="4266384"/>
            <a:ext cx="172819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824849" y="29249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824849" y="464442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V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2555776" y="274027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2553041" y="3114256"/>
            <a:ext cx="1080120" cy="115212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1619672" y="3801809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993854" y="1412776"/>
            <a:ext cx="110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condicional: </a:t>
            </a:r>
            <a:r>
              <a:rPr lang="es-AR" dirty="0" err="1" smtClean="0"/>
              <a:t>if</a:t>
            </a:r>
            <a:endParaRPr lang="es-AR" dirty="0"/>
          </a:p>
        </p:txBody>
      </p:sp>
      <p:sp>
        <p:nvSpPr>
          <p:cNvPr id="32" name="31 Rectángulo"/>
          <p:cNvSpPr/>
          <p:nvPr/>
        </p:nvSpPr>
        <p:spPr>
          <a:xfrm>
            <a:off x="2771800" y="4266384"/>
            <a:ext cx="165618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CuadroTexto"/>
          <p:cNvSpPr txBox="1"/>
          <p:nvPr/>
        </p:nvSpPr>
        <p:spPr>
          <a:xfrm>
            <a:off x="2913081" y="464442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-</a:t>
            </a:r>
          </a:p>
        </p:txBody>
      </p:sp>
      <p:cxnSp>
        <p:nvCxnSpPr>
          <p:cNvPr id="47" name="46 Conector recto de flecha"/>
          <p:cNvCxnSpPr>
            <a:endCxn id="48" idx="0"/>
          </p:cNvCxnSpPr>
          <p:nvPr/>
        </p:nvCxnSpPr>
        <p:spPr>
          <a:xfrm flipH="1">
            <a:off x="5865409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Rectángulo"/>
          <p:cNvSpPr/>
          <p:nvPr/>
        </p:nvSpPr>
        <p:spPr>
          <a:xfrm>
            <a:off x="4857297" y="250218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9" name="48 Conector recto de flecha"/>
          <p:cNvCxnSpPr>
            <a:stCxn id="48" idx="2"/>
            <a:endCxn id="50" idx="0"/>
          </p:cNvCxnSpPr>
          <p:nvPr/>
        </p:nvCxnSpPr>
        <p:spPr>
          <a:xfrm>
            <a:off x="5865409" y="3726324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49 Rectángulo"/>
          <p:cNvSpPr/>
          <p:nvPr/>
        </p:nvSpPr>
        <p:spPr>
          <a:xfrm>
            <a:off x="5004048" y="4266384"/>
            <a:ext cx="172819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1" name="50 CuadroTexto"/>
          <p:cNvSpPr txBox="1"/>
          <p:nvPr/>
        </p:nvSpPr>
        <p:spPr>
          <a:xfrm>
            <a:off x="5145329" y="29249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Altura &gt; 1.8</a:t>
            </a:r>
            <a:endParaRPr lang="es-AR" dirty="0"/>
          </a:p>
        </p:txBody>
      </p:sp>
      <p:sp>
        <p:nvSpPr>
          <p:cNvPr id="52" name="51 CuadroTexto"/>
          <p:cNvSpPr txBox="1"/>
          <p:nvPr/>
        </p:nvSpPr>
        <p:spPr>
          <a:xfrm>
            <a:off x="5145329" y="464442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Usted es alto</a:t>
            </a:r>
            <a:endParaRPr lang="es-AR" dirty="0"/>
          </a:p>
        </p:txBody>
      </p:sp>
      <p:sp>
        <p:nvSpPr>
          <p:cNvPr id="53" name="52 CuadroTexto"/>
          <p:cNvSpPr txBox="1"/>
          <p:nvPr/>
        </p:nvSpPr>
        <p:spPr>
          <a:xfrm>
            <a:off x="6876256" y="274027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54" name="53 Conector angular"/>
          <p:cNvCxnSpPr>
            <a:stCxn id="48" idx="3"/>
          </p:cNvCxnSpPr>
          <p:nvPr/>
        </p:nvCxnSpPr>
        <p:spPr>
          <a:xfrm>
            <a:off x="6873521" y="3114256"/>
            <a:ext cx="1080120" cy="115212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54 CuadroTexto"/>
          <p:cNvSpPr txBox="1"/>
          <p:nvPr/>
        </p:nvSpPr>
        <p:spPr>
          <a:xfrm>
            <a:off x="5940152" y="3801809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56" name="55 CuadroTexto"/>
          <p:cNvSpPr txBox="1"/>
          <p:nvPr/>
        </p:nvSpPr>
        <p:spPr>
          <a:xfrm>
            <a:off x="5123300" y="1412776"/>
            <a:ext cx="1536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Altura = 1.88</a:t>
            </a:r>
            <a:endParaRPr lang="es-AR" dirty="0"/>
          </a:p>
        </p:txBody>
      </p:sp>
      <p:sp>
        <p:nvSpPr>
          <p:cNvPr id="57" name="56 Rectángulo"/>
          <p:cNvSpPr/>
          <p:nvPr/>
        </p:nvSpPr>
        <p:spPr>
          <a:xfrm>
            <a:off x="7092280" y="4266384"/>
            <a:ext cx="1872208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57 CuadroTexto"/>
          <p:cNvSpPr txBox="1"/>
          <p:nvPr/>
        </p:nvSpPr>
        <p:spPr>
          <a:xfrm>
            <a:off x="7092280" y="4644427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66728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1544929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1544929" y="3278305"/>
            <a:ext cx="2735" cy="62803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683568" y="3906344"/>
            <a:ext cx="1728192" cy="305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79" name="78 Grupo"/>
          <p:cNvGrpSpPr/>
          <p:nvPr/>
        </p:nvGrpSpPr>
        <p:grpSpPr>
          <a:xfrm>
            <a:off x="536817" y="2502188"/>
            <a:ext cx="2016224" cy="776117"/>
            <a:chOff x="536817" y="2502188"/>
            <a:chExt cx="2016224" cy="936104"/>
          </a:xfrm>
        </p:grpSpPr>
        <p:sp>
          <p:nvSpPr>
            <p:cNvPr id="6" name="5 Rectángulo"/>
            <p:cNvSpPr/>
            <p:nvPr/>
          </p:nvSpPr>
          <p:spPr>
            <a:xfrm>
              <a:off x="536817" y="2502188"/>
              <a:ext cx="2016224" cy="9361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24 CuadroTexto"/>
            <p:cNvSpPr txBox="1"/>
            <p:nvPr/>
          </p:nvSpPr>
          <p:spPr>
            <a:xfrm>
              <a:off x="827584" y="2729610"/>
              <a:ext cx="1368152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 smtClean="0"/>
                <a:t>Condición</a:t>
              </a:r>
              <a:endParaRPr lang="es-AR" dirty="0"/>
            </a:p>
          </p:txBody>
        </p:sp>
      </p:grpSp>
      <p:sp>
        <p:nvSpPr>
          <p:cNvPr id="26" name="25 CuadroTexto"/>
          <p:cNvSpPr txBox="1"/>
          <p:nvPr/>
        </p:nvSpPr>
        <p:spPr>
          <a:xfrm>
            <a:off x="824848" y="3861048"/>
            <a:ext cx="158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1</a:t>
            </a:r>
            <a:endParaRPr lang="es-AR" dirty="0"/>
          </a:p>
        </p:txBody>
      </p:sp>
      <p:sp>
        <p:nvSpPr>
          <p:cNvPr id="31" name="30 CuadroTexto"/>
          <p:cNvSpPr txBox="1"/>
          <p:nvPr/>
        </p:nvSpPr>
        <p:spPr>
          <a:xfrm>
            <a:off x="1547664" y="327569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014741" y="1410516"/>
            <a:ext cx="110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condicional: </a:t>
            </a:r>
            <a:r>
              <a:rPr lang="es-AR" dirty="0" err="1" smtClean="0"/>
              <a:t>if</a:t>
            </a:r>
            <a:r>
              <a:rPr lang="es-AR" dirty="0" smtClean="0"/>
              <a:t> concatenados</a:t>
            </a:r>
            <a:endParaRPr lang="es-AR" dirty="0"/>
          </a:p>
        </p:txBody>
      </p:sp>
      <p:grpSp>
        <p:nvGrpSpPr>
          <p:cNvPr id="83" name="82 Grupo"/>
          <p:cNvGrpSpPr/>
          <p:nvPr/>
        </p:nvGrpSpPr>
        <p:grpSpPr>
          <a:xfrm>
            <a:off x="2411760" y="4802021"/>
            <a:ext cx="2098239" cy="450050"/>
            <a:chOff x="2401753" y="4545124"/>
            <a:chExt cx="2098239" cy="450050"/>
          </a:xfrm>
        </p:grpSpPr>
        <p:sp>
          <p:nvSpPr>
            <p:cNvPr id="37" name="36 Rectángulo"/>
            <p:cNvSpPr/>
            <p:nvPr/>
          </p:nvSpPr>
          <p:spPr>
            <a:xfrm>
              <a:off x="3196576" y="4545124"/>
              <a:ext cx="1231408" cy="450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3059832" y="4571836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/>
                <a:t>-</a:t>
              </a:r>
            </a:p>
          </p:txBody>
        </p:sp>
        <p:cxnSp>
          <p:nvCxnSpPr>
            <p:cNvPr id="39" name="38 Conector recto de flecha"/>
            <p:cNvCxnSpPr/>
            <p:nvPr/>
          </p:nvCxnSpPr>
          <p:spPr>
            <a:xfrm flipV="1">
              <a:off x="2401753" y="4761148"/>
              <a:ext cx="794823" cy="464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41 Conector recto de flecha"/>
          <p:cNvCxnSpPr>
            <a:stCxn id="16" idx="2"/>
          </p:cNvCxnSpPr>
          <p:nvPr/>
        </p:nvCxnSpPr>
        <p:spPr>
          <a:xfrm>
            <a:off x="1547664" y="4211796"/>
            <a:ext cx="1" cy="39895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23 Grupo"/>
          <p:cNvGrpSpPr/>
          <p:nvPr/>
        </p:nvGrpSpPr>
        <p:grpSpPr>
          <a:xfrm>
            <a:off x="705822" y="4588028"/>
            <a:ext cx="1728192" cy="857195"/>
            <a:chOff x="683568" y="5121188"/>
            <a:chExt cx="1728192" cy="900100"/>
          </a:xfrm>
        </p:grpSpPr>
        <p:sp>
          <p:nvSpPr>
            <p:cNvPr id="43" name="42 Rectángulo"/>
            <p:cNvSpPr/>
            <p:nvPr/>
          </p:nvSpPr>
          <p:spPr>
            <a:xfrm>
              <a:off x="683568" y="5121188"/>
              <a:ext cx="1728192" cy="900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824849" y="5349508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 smtClean="0"/>
                <a:t>Condición</a:t>
              </a:r>
              <a:endParaRPr lang="es-AR" dirty="0"/>
            </a:p>
          </p:txBody>
        </p:sp>
      </p:grpSp>
      <p:sp>
        <p:nvSpPr>
          <p:cNvPr id="94" name="93 CuadroTexto"/>
          <p:cNvSpPr txBox="1"/>
          <p:nvPr/>
        </p:nvSpPr>
        <p:spPr>
          <a:xfrm>
            <a:off x="2483768" y="465313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99" name="98 Conector recto de flecha"/>
          <p:cNvCxnSpPr>
            <a:endCxn id="100" idx="0"/>
          </p:cNvCxnSpPr>
          <p:nvPr/>
        </p:nvCxnSpPr>
        <p:spPr>
          <a:xfrm>
            <a:off x="1544929" y="5449287"/>
            <a:ext cx="2735" cy="53599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99 Rectángulo"/>
          <p:cNvSpPr/>
          <p:nvPr/>
        </p:nvSpPr>
        <p:spPr>
          <a:xfrm>
            <a:off x="683568" y="5985284"/>
            <a:ext cx="1728192" cy="4053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1" name="100 CuadroTexto"/>
          <p:cNvSpPr txBox="1"/>
          <p:nvPr/>
        </p:nvSpPr>
        <p:spPr>
          <a:xfrm>
            <a:off x="683568" y="6021288"/>
            <a:ext cx="1728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2</a:t>
            </a:r>
            <a:endParaRPr lang="es-AR" dirty="0"/>
          </a:p>
        </p:txBody>
      </p:sp>
      <p:sp>
        <p:nvSpPr>
          <p:cNvPr id="102" name="101 CuadroTexto"/>
          <p:cNvSpPr txBox="1"/>
          <p:nvPr/>
        </p:nvSpPr>
        <p:spPr>
          <a:xfrm>
            <a:off x="1547664" y="54359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grpSp>
        <p:nvGrpSpPr>
          <p:cNvPr id="107" name="106 Grupo"/>
          <p:cNvGrpSpPr/>
          <p:nvPr/>
        </p:nvGrpSpPr>
        <p:grpSpPr>
          <a:xfrm>
            <a:off x="2545769" y="2641781"/>
            <a:ext cx="2098239" cy="450050"/>
            <a:chOff x="2401753" y="4545124"/>
            <a:chExt cx="2098239" cy="450050"/>
          </a:xfrm>
        </p:grpSpPr>
        <p:sp>
          <p:nvSpPr>
            <p:cNvPr id="108" name="107 Rectángulo"/>
            <p:cNvSpPr/>
            <p:nvPr/>
          </p:nvSpPr>
          <p:spPr>
            <a:xfrm>
              <a:off x="3196576" y="4545124"/>
              <a:ext cx="1231408" cy="450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09" name="108 CuadroTexto"/>
            <p:cNvSpPr txBox="1"/>
            <p:nvPr/>
          </p:nvSpPr>
          <p:spPr>
            <a:xfrm>
              <a:off x="3059832" y="4571836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/>
                <a:t>-</a:t>
              </a:r>
            </a:p>
          </p:txBody>
        </p:sp>
        <p:cxnSp>
          <p:nvCxnSpPr>
            <p:cNvPr id="110" name="109 Conector recto de flecha"/>
            <p:cNvCxnSpPr/>
            <p:nvPr/>
          </p:nvCxnSpPr>
          <p:spPr>
            <a:xfrm flipV="1">
              <a:off x="2401753" y="4761148"/>
              <a:ext cx="794823" cy="464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110 CuadroTexto"/>
          <p:cNvSpPr txBox="1"/>
          <p:nvPr/>
        </p:nvSpPr>
        <p:spPr>
          <a:xfrm>
            <a:off x="2555776" y="249289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112" name="111 Conector recto de flecha"/>
          <p:cNvCxnSpPr>
            <a:endCxn id="116" idx="0"/>
          </p:cNvCxnSpPr>
          <p:nvPr/>
        </p:nvCxnSpPr>
        <p:spPr>
          <a:xfrm flipH="1">
            <a:off x="5940152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112 Conector recto de flecha"/>
          <p:cNvCxnSpPr>
            <a:stCxn id="116" idx="2"/>
            <a:endCxn id="114" idx="0"/>
          </p:cNvCxnSpPr>
          <p:nvPr/>
        </p:nvCxnSpPr>
        <p:spPr>
          <a:xfrm>
            <a:off x="5940152" y="3278305"/>
            <a:ext cx="2735" cy="628039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113 Rectángulo"/>
          <p:cNvSpPr/>
          <p:nvPr/>
        </p:nvSpPr>
        <p:spPr>
          <a:xfrm>
            <a:off x="5078791" y="3906344"/>
            <a:ext cx="1728192" cy="3054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115" name="114 Grupo"/>
          <p:cNvGrpSpPr/>
          <p:nvPr/>
        </p:nvGrpSpPr>
        <p:grpSpPr>
          <a:xfrm>
            <a:off x="4932040" y="2502188"/>
            <a:ext cx="2016224" cy="776117"/>
            <a:chOff x="536817" y="2502188"/>
            <a:chExt cx="2016224" cy="936104"/>
          </a:xfrm>
        </p:grpSpPr>
        <p:sp>
          <p:nvSpPr>
            <p:cNvPr id="116" name="115 Rectángulo"/>
            <p:cNvSpPr/>
            <p:nvPr/>
          </p:nvSpPr>
          <p:spPr>
            <a:xfrm>
              <a:off x="536817" y="2502188"/>
              <a:ext cx="2016224" cy="93610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7" name="116 CuadroTexto"/>
            <p:cNvSpPr txBox="1"/>
            <p:nvPr/>
          </p:nvSpPr>
          <p:spPr>
            <a:xfrm>
              <a:off x="827584" y="2729610"/>
              <a:ext cx="1368152" cy="4454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 smtClean="0"/>
                <a:t>Altura </a:t>
              </a:r>
              <a:r>
                <a:rPr lang="es-AR" dirty="0"/>
                <a:t>&gt; </a:t>
              </a:r>
              <a:r>
                <a:rPr lang="es-AR" dirty="0" smtClean="0"/>
                <a:t>1.8</a:t>
              </a:r>
              <a:endParaRPr lang="es-AR" dirty="0"/>
            </a:p>
          </p:txBody>
        </p:sp>
      </p:grpSp>
      <p:sp>
        <p:nvSpPr>
          <p:cNvPr id="118" name="117 CuadroTexto"/>
          <p:cNvSpPr txBox="1"/>
          <p:nvPr/>
        </p:nvSpPr>
        <p:spPr>
          <a:xfrm>
            <a:off x="5148064" y="3861048"/>
            <a:ext cx="1586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Usted es alto</a:t>
            </a:r>
            <a:endParaRPr lang="es-AR" dirty="0"/>
          </a:p>
        </p:txBody>
      </p:sp>
      <p:sp>
        <p:nvSpPr>
          <p:cNvPr id="119" name="118 CuadroTexto"/>
          <p:cNvSpPr txBox="1"/>
          <p:nvPr/>
        </p:nvSpPr>
        <p:spPr>
          <a:xfrm>
            <a:off x="5942887" y="327569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120" name="119 CuadroTexto"/>
          <p:cNvSpPr txBox="1"/>
          <p:nvPr/>
        </p:nvSpPr>
        <p:spPr>
          <a:xfrm>
            <a:off x="5220072" y="1196752"/>
            <a:ext cx="1526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Altura=1,88</a:t>
            </a:r>
          </a:p>
          <a:p>
            <a:pPr algn="ctr"/>
            <a:r>
              <a:rPr lang="es-AR" dirty="0" smtClean="0"/>
              <a:t>IQ=120</a:t>
            </a:r>
            <a:endParaRPr lang="es-AR" dirty="0"/>
          </a:p>
        </p:txBody>
      </p:sp>
      <p:grpSp>
        <p:nvGrpSpPr>
          <p:cNvPr id="121" name="120 Grupo"/>
          <p:cNvGrpSpPr/>
          <p:nvPr/>
        </p:nvGrpSpPr>
        <p:grpSpPr>
          <a:xfrm>
            <a:off x="6806983" y="4802021"/>
            <a:ext cx="2098239" cy="450050"/>
            <a:chOff x="2401753" y="4545124"/>
            <a:chExt cx="2098239" cy="450050"/>
          </a:xfrm>
        </p:grpSpPr>
        <p:sp>
          <p:nvSpPr>
            <p:cNvPr id="122" name="121 Rectángulo"/>
            <p:cNvSpPr/>
            <p:nvPr/>
          </p:nvSpPr>
          <p:spPr>
            <a:xfrm>
              <a:off x="3196576" y="4545124"/>
              <a:ext cx="1231408" cy="450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23" name="122 CuadroTexto"/>
            <p:cNvSpPr txBox="1"/>
            <p:nvPr/>
          </p:nvSpPr>
          <p:spPr>
            <a:xfrm>
              <a:off x="3059832" y="4571836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/>
                <a:t>-</a:t>
              </a:r>
            </a:p>
          </p:txBody>
        </p:sp>
        <p:cxnSp>
          <p:nvCxnSpPr>
            <p:cNvPr id="124" name="123 Conector recto de flecha"/>
            <p:cNvCxnSpPr/>
            <p:nvPr/>
          </p:nvCxnSpPr>
          <p:spPr>
            <a:xfrm flipV="1">
              <a:off x="2401753" y="4761148"/>
              <a:ext cx="794823" cy="464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5" name="124 Conector recto de flecha"/>
          <p:cNvCxnSpPr>
            <a:stCxn id="114" idx="2"/>
          </p:cNvCxnSpPr>
          <p:nvPr/>
        </p:nvCxnSpPr>
        <p:spPr>
          <a:xfrm>
            <a:off x="5942887" y="4211796"/>
            <a:ext cx="1" cy="39895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125 Grupo"/>
          <p:cNvGrpSpPr/>
          <p:nvPr/>
        </p:nvGrpSpPr>
        <p:grpSpPr>
          <a:xfrm>
            <a:off x="5101045" y="4588028"/>
            <a:ext cx="1728192" cy="857195"/>
            <a:chOff x="683568" y="5121188"/>
            <a:chExt cx="1728192" cy="900100"/>
          </a:xfrm>
        </p:grpSpPr>
        <p:sp>
          <p:nvSpPr>
            <p:cNvPr id="127" name="126 Rectángulo"/>
            <p:cNvSpPr/>
            <p:nvPr/>
          </p:nvSpPr>
          <p:spPr>
            <a:xfrm>
              <a:off x="683568" y="5121188"/>
              <a:ext cx="1728192" cy="9001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28" name="127 CuadroTexto"/>
            <p:cNvSpPr txBox="1"/>
            <p:nvPr/>
          </p:nvSpPr>
          <p:spPr>
            <a:xfrm>
              <a:off x="824849" y="5349508"/>
              <a:ext cx="1440160" cy="3878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 smtClean="0"/>
                <a:t>IQ&gt;110</a:t>
              </a:r>
              <a:endParaRPr lang="es-AR" dirty="0"/>
            </a:p>
          </p:txBody>
        </p:sp>
      </p:grpSp>
      <p:sp>
        <p:nvSpPr>
          <p:cNvPr id="129" name="128 CuadroTexto"/>
          <p:cNvSpPr txBox="1"/>
          <p:nvPr/>
        </p:nvSpPr>
        <p:spPr>
          <a:xfrm>
            <a:off x="6804248" y="465313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130" name="129 Conector recto de flecha"/>
          <p:cNvCxnSpPr>
            <a:endCxn id="131" idx="0"/>
          </p:cNvCxnSpPr>
          <p:nvPr/>
        </p:nvCxnSpPr>
        <p:spPr>
          <a:xfrm>
            <a:off x="5940152" y="5449287"/>
            <a:ext cx="32368" cy="53599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130 Rectángulo"/>
          <p:cNvSpPr/>
          <p:nvPr/>
        </p:nvSpPr>
        <p:spPr>
          <a:xfrm>
            <a:off x="4932040" y="5985284"/>
            <a:ext cx="2080960" cy="4053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2" name="131 CuadroTexto"/>
          <p:cNvSpPr txBox="1"/>
          <p:nvPr/>
        </p:nvSpPr>
        <p:spPr>
          <a:xfrm>
            <a:off x="4735830" y="6021288"/>
            <a:ext cx="2468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Usted es inteligente</a:t>
            </a:r>
            <a:endParaRPr lang="es-AR" dirty="0"/>
          </a:p>
        </p:txBody>
      </p:sp>
      <p:sp>
        <p:nvSpPr>
          <p:cNvPr id="133" name="132 CuadroTexto"/>
          <p:cNvSpPr txBox="1"/>
          <p:nvPr/>
        </p:nvSpPr>
        <p:spPr>
          <a:xfrm>
            <a:off x="5942887" y="54359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grpSp>
        <p:nvGrpSpPr>
          <p:cNvPr id="134" name="133 Grupo"/>
          <p:cNvGrpSpPr/>
          <p:nvPr/>
        </p:nvGrpSpPr>
        <p:grpSpPr>
          <a:xfrm>
            <a:off x="6940992" y="2641781"/>
            <a:ext cx="2098239" cy="450050"/>
            <a:chOff x="2401753" y="4545124"/>
            <a:chExt cx="2098239" cy="450050"/>
          </a:xfrm>
        </p:grpSpPr>
        <p:sp>
          <p:nvSpPr>
            <p:cNvPr id="135" name="134 Rectángulo"/>
            <p:cNvSpPr/>
            <p:nvPr/>
          </p:nvSpPr>
          <p:spPr>
            <a:xfrm>
              <a:off x="3196576" y="4545124"/>
              <a:ext cx="1231408" cy="45005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36" name="135 CuadroTexto"/>
            <p:cNvSpPr txBox="1"/>
            <p:nvPr/>
          </p:nvSpPr>
          <p:spPr>
            <a:xfrm>
              <a:off x="3059832" y="4571836"/>
              <a:ext cx="1440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dirty="0"/>
                <a:t>-</a:t>
              </a:r>
            </a:p>
          </p:txBody>
        </p:sp>
        <p:cxnSp>
          <p:nvCxnSpPr>
            <p:cNvPr id="137" name="136 Conector recto de flecha"/>
            <p:cNvCxnSpPr/>
            <p:nvPr/>
          </p:nvCxnSpPr>
          <p:spPr>
            <a:xfrm flipV="1">
              <a:off x="2401753" y="4761148"/>
              <a:ext cx="794823" cy="464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137 CuadroTexto"/>
          <p:cNvSpPr txBox="1"/>
          <p:nvPr/>
        </p:nvSpPr>
        <p:spPr>
          <a:xfrm>
            <a:off x="6876256" y="249289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3578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1544929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536817" y="250218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1544929" y="3726324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683568" y="4266384"/>
            <a:ext cx="172819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824849" y="29249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824849" y="464442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V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2555776" y="274027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2553041" y="3114256"/>
            <a:ext cx="1080120" cy="115212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1619672" y="3801809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993854" y="1412776"/>
            <a:ext cx="110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condicional: </a:t>
            </a:r>
            <a:r>
              <a:rPr lang="es-AR" dirty="0" err="1" smtClean="0"/>
              <a:t>if</a:t>
            </a:r>
            <a:r>
              <a:rPr lang="es-AR" dirty="0" smtClean="0"/>
              <a:t> - </a:t>
            </a:r>
            <a:r>
              <a:rPr lang="es-AR" dirty="0" err="1" smtClean="0"/>
              <a:t>else</a:t>
            </a:r>
            <a:endParaRPr lang="es-AR" dirty="0"/>
          </a:p>
        </p:txBody>
      </p:sp>
      <p:sp>
        <p:nvSpPr>
          <p:cNvPr id="32" name="31 Rectángulo"/>
          <p:cNvSpPr/>
          <p:nvPr/>
        </p:nvSpPr>
        <p:spPr>
          <a:xfrm>
            <a:off x="2771800" y="4266384"/>
            <a:ext cx="165618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CuadroTexto"/>
          <p:cNvSpPr txBox="1"/>
          <p:nvPr/>
        </p:nvSpPr>
        <p:spPr>
          <a:xfrm>
            <a:off x="2913081" y="464442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F</a:t>
            </a:r>
            <a:endParaRPr lang="es-AR" dirty="0"/>
          </a:p>
        </p:txBody>
      </p:sp>
      <p:cxnSp>
        <p:nvCxnSpPr>
          <p:cNvPr id="47" name="46 Conector recto de flecha"/>
          <p:cNvCxnSpPr>
            <a:endCxn id="48" idx="0"/>
          </p:cNvCxnSpPr>
          <p:nvPr/>
        </p:nvCxnSpPr>
        <p:spPr>
          <a:xfrm flipH="1">
            <a:off x="5865409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Rectángulo"/>
          <p:cNvSpPr/>
          <p:nvPr/>
        </p:nvSpPr>
        <p:spPr>
          <a:xfrm>
            <a:off x="4857297" y="250218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9" name="48 Conector recto de flecha"/>
          <p:cNvCxnSpPr>
            <a:stCxn id="48" idx="2"/>
            <a:endCxn id="50" idx="0"/>
          </p:cNvCxnSpPr>
          <p:nvPr/>
        </p:nvCxnSpPr>
        <p:spPr>
          <a:xfrm>
            <a:off x="5865409" y="3726324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49 Rectángulo"/>
          <p:cNvSpPr/>
          <p:nvPr/>
        </p:nvSpPr>
        <p:spPr>
          <a:xfrm>
            <a:off x="5004048" y="4266384"/>
            <a:ext cx="172819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1" name="50 CuadroTexto"/>
          <p:cNvSpPr txBox="1"/>
          <p:nvPr/>
        </p:nvSpPr>
        <p:spPr>
          <a:xfrm>
            <a:off x="5145329" y="29249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Altura &gt; 1.8</a:t>
            </a:r>
            <a:endParaRPr lang="es-AR" dirty="0"/>
          </a:p>
        </p:txBody>
      </p:sp>
      <p:sp>
        <p:nvSpPr>
          <p:cNvPr id="52" name="51 CuadroTexto"/>
          <p:cNvSpPr txBox="1"/>
          <p:nvPr/>
        </p:nvSpPr>
        <p:spPr>
          <a:xfrm>
            <a:off x="5145329" y="4644427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Usted es alto</a:t>
            </a:r>
            <a:endParaRPr lang="es-AR" dirty="0"/>
          </a:p>
        </p:txBody>
      </p:sp>
      <p:sp>
        <p:nvSpPr>
          <p:cNvPr id="53" name="52 CuadroTexto"/>
          <p:cNvSpPr txBox="1"/>
          <p:nvPr/>
        </p:nvSpPr>
        <p:spPr>
          <a:xfrm>
            <a:off x="6876256" y="274027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54" name="53 Conector angular"/>
          <p:cNvCxnSpPr>
            <a:stCxn id="48" idx="3"/>
          </p:cNvCxnSpPr>
          <p:nvPr/>
        </p:nvCxnSpPr>
        <p:spPr>
          <a:xfrm>
            <a:off x="6873521" y="3114256"/>
            <a:ext cx="1080120" cy="115212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54 CuadroTexto"/>
          <p:cNvSpPr txBox="1"/>
          <p:nvPr/>
        </p:nvSpPr>
        <p:spPr>
          <a:xfrm>
            <a:off x="5940152" y="3801809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56" name="55 CuadroTexto"/>
          <p:cNvSpPr txBox="1"/>
          <p:nvPr/>
        </p:nvSpPr>
        <p:spPr>
          <a:xfrm>
            <a:off x="5123300" y="1412776"/>
            <a:ext cx="1536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Altura = 1.88</a:t>
            </a:r>
            <a:endParaRPr lang="es-AR" dirty="0"/>
          </a:p>
        </p:txBody>
      </p:sp>
      <p:sp>
        <p:nvSpPr>
          <p:cNvPr id="57" name="56 Rectángulo"/>
          <p:cNvSpPr/>
          <p:nvPr/>
        </p:nvSpPr>
        <p:spPr>
          <a:xfrm>
            <a:off x="7092280" y="4266384"/>
            <a:ext cx="1872208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57 CuadroTexto"/>
          <p:cNvSpPr txBox="1"/>
          <p:nvPr/>
        </p:nvSpPr>
        <p:spPr>
          <a:xfrm>
            <a:off x="7092280" y="4644427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Usted no es alto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1823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35 CuadroTexto"/>
          <p:cNvSpPr txBox="1"/>
          <p:nvPr/>
        </p:nvSpPr>
        <p:spPr>
          <a:xfrm>
            <a:off x="2555776" y="609244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3</a:t>
            </a:r>
            <a:endParaRPr lang="es-AR" dirty="0"/>
          </a:p>
        </p:txBody>
      </p:sp>
      <p:cxnSp>
        <p:nvCxnSpPr>
          <p:cNvPr id="5" name="4 Conector recto de flecha"/>
          <p:cNvCxnSpPr>
            <a:stCxn id="33" idx="2"/>
            <a:endCxn id="6" idx="0"/>
          </p:cNvCxnSpPr>
          <p:nvPr/>
        </p:nvCxnSpPr>
        <p:spPr>
          <a:xfrm>
            <a:off x="709922" y="1595854"/>
            <a:ext cx="1" cy="5109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10239" y="2106816"/>
            <a:ext cx="1199367" cy="773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709923" y="2880320"/>
            <a:ext cx="14193" cy="572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65260" y="3452907"/>
            <a:ext cx="1317712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35496" y="230425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-36513" y="3689828"/>
            <a:ext cx="1557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1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1259632" y="216024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  <a:endCxn id="32" idx="0"/>
          </p:cNvCxnSpPr>
          <p:nvPr/>
        </p:nvCxnSpPr>
        <p:spPr>
          <a:xfrm>
            <a:off x="1309606" y="2493568"/>
            <a:ext cx="812755" cy="96281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683568" y="294303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71229" y="1226522"/>
            <a:ext cx="107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Entrada</a:t>
            </a:r>
            <a:endParaRPr lang="es-AR" dirty="0"/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condicional: </a:t>
            </a:r>
            <a:r>
              <a:rPr lang="es-AR" dirty="0" err="1" smtClean="0"/>
              <a:t>if</a:t>
            </a:r>
            <a:r>
              <a:rPr lang="es-AR" dirty="0" smtClean="0"/>
              <a:t> - </a:t>
            </a:r>
            <a:r>
              <a:rPr lang="es-AR" dirty="0" err="1" smtClean="0"/>
              <a:t>elseIF</a:t>
            </a:r>
            <a:endParaRPr lang="es-AR" dirty="0"/>
          </a:p>
        </p:txBody>
      </p:sp>
      <p:sp>
        <p:nvSpPr>
          <p:cNvPr id="32" name="31 Rectángulo"/>
          <p:cNvSpPr/>
          <p:nvPr/>
        </p:nvSpPr>
        <p:spPr>
          <a:xfrm>
            <a:off x="1547664" y="3456384"/>
            <a:ext cx="1149393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CuadroTexto"/>
          <p:cNvSpPr txBox="1"/>
          <p:nvPr/>
        </p:nvSpPr>
        <p:spPr>
          <a:xfrm>
            <a:off x="1403648" y="36898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cxnSp>
        <p:nvCxnSpPr>
          <p:cNvPr id="30" name="29 Conector recto de flecha"/>
          <p:cNvCxnSpPr/>
          <p:nvPr/>
        </p:nvCxnSpPr>
        <p:spPr>
          <a:xfrm>
            <a:off x="2123728" y="4314665"/>
            <a:ext cx="0" cy="4645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Rectángulo"/>
          <p:cNvSpPr/>
          <p:nvPr/>
        </p:nvSpPr>
        <p:spPr>
          <a:xfrm>
            <a:off x="1403648" y="4779240"/>
            <a:ext cx="1368151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34 CuadroTexto"/>
          <p:cNvSpPr txBox="1"/>
          <p:nvPr/>
        </p:nvSpPr>
        <p:spPr>
          <a:xfrm>
            <a:off x="2123728" y="431118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6" name="35 CuadroTexto"/>
          <p:cNvSpPr txBox="1"/>
          <p:nvPr/>
        </p:nvSpPr>
        <p:spPr>
          <a:xfrm>
            <a:off x="1339379" y="4985972"/>
            <a:ext cx="1504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2</a:t>
            </a:r>
            <a:endParaRPr lang="es-AR" dirty="0"/>
          </a:p>
        </p:txBody>
      </p:sp>
      <p:sp>
        <p:nvSpPr>
          <p:cNvPr id="80" name="79 CuadroTexto"/>
          <p:cNvSpPr txBox="1"/>
          <p:nvPr/>
        </p:nvSpPr>
        <p:spPr>
          <a:xfrm>
            <a:off x="2699792" y="360040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81" name="80 Conector angular"/>
          <p:cNvCxnSpPr>
            <a:endCxn id="85" idx="0"/>
          </p:cNvCxnSpPr>
          <p:nvPr/>
        </p:nvCxnSpPr>
        <p:spPr>
          <a:xfrm rot="16200000" flipH="1">
            <a:off x="2654317" y="3979202"/>
            <a:ext cx="837384" cy="746436"/>
          </a:xfrm>
          <a:prstGeom prst="bentConnector3">
            <a:avLst>
              <a:gd name="adj1" fmla="val -265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84 Rectángulo"/>
          <p:cNvSpPr/>
          <p:nvPr/>
        </p:nvSpPr>
        <p:spPr>
          <a:xfrm>
            <a:off x="2846543" y="4771112"/>
            <a:ext cx="1199367" cy="800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6" name="85 CuadroTexto"/>
          <p:cNvSpPr txBox="1"/>
          <p:nvPr/>
        </p:nvSpPr>
        <p:spPr>
          <a:xfrm>
            <a:off x="2843806" y="4968552"/>
            <a:ext cx="120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cxnSp>
        <p:nvCxnSpPr>
          <p:cNvPr id="91" name="90 Conector recto de flecha"/>
          <p:cNvCxnSpPr>
            <a:stCxn id="100" idx="2"/>
            <a:endCxn id="92" idx="0"/>
          </p:cNvCxnSpPr>
          <p:nvPr/>
        </p:nvCxnSpPr>
        <p:spPr>
          <a:xfrm>
            <a:off x="4677962" y="1584176"/>
            <a:ext cx="0" cy="52264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91 Rectángulo"/>
          <p:cNvSpPr/>
          <p:nvPr/>
        </p:nvSpPr>
        <p:spPr>
          <a:xfrm>
            <a:off x="4040907" y="2106816"/>
            <a:ext cx="1274110" cy="773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93" name="92 Conector recto de flecha"/>
          <p:cNvCxnSpPr>
            <a:stCxn id="92" idx="2"/>
            <a:endCxn id="94" idx="0"/>
          </p:cNvCxnSpPr>
          <p:nvPr/>
        </p:nvCxnSpPr>
        <p:spPr>
          <a:xfrm>
            <a:off x="4677962" y="2880320"/>
            <a:ext cx="9649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93 Rectángulo"/>
          <p:cNvSpPr/>
          <p:nvPr/>
        </p:nvSpPr>
        <p:spPr>
          <a:xfrm>
            <a:off x="4040905" y="3456384"/>
            <a:ext cx="1293411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5" name="94 CuadroTexto"/>
          <p:cNvSpPr txBox="1"/>
          <p:nvPr/>
        </p:nvSpPr>
        <p:spPr>
          <a:xfrm>
            <a:off x="3923928" y="2304256"/>
            <a:ext cx="148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Altura &gt; 1.8</a:t>
            </a:r>
            <a:endParaRPr lang="es-AR" dirty="0"/>
          </a:p>
        </p:txBody>
      </p:sp>
      <p:sp>
        <p:nvSpPr>
          <p:cNvPr id="96" name="95 CuadroTexto"/>
          <p:cNvSpPr txBox="1"/>
          <p:nvPr/>
        </p:nvSpPr>
        <p:spPr>
          <a:xfrm>
            <a:off x="4040906" y="3672408"/>
            <a:ext cx="129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Alto</a:t>
            </a:r>
            <a:endParaRPr lang="es-AR" dirty="0"/>
          </a:p>
        </p:txBody>
      </p:sp>
      <p:sp>
        <p:nvSpPr>
          <p:cNvPr id="97" name="96 CuadroTexto"/>
          <p:cNvSpPr txBox="1"/>
          <p:nvPr/>
        </p:nvSpPr>
        <p:spPr>
          <a:xfrm>
            <a:off x="5265042" y="216024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98" name="97 Conector angular"/>
          <p:cNvCxnSpPr>
            <a:stCxn id="92" idx="3"/>
            <a:endCxn id="101" idx="0"/>
          </p:cNvCxnSpPr>
          <p:nvPr/>
        </p:nvCxnSpPr>
        <p:spPr>
          <a:xfrm>
            <a:off x="5315017" y="2493568"/>
            <a:ext cx="886129" cy="96281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98 CuadroTexto"/>
          <p:cNvSpPr txBox="1"/>
          <p:nvPr/>
        </p:nvSpPr>
        <p:spPr>
          <a:xfrm>
            <a:off x="4688978" y="294303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100" name="99 CuadroTexto"/>
          <p:cNvSpPr txBox="1"/>
          <p:nvPr/>
        </p:nvSpPr>
        <p:spPr>
          <a:xfrm>
            <a:off x="3742542" y="1214844"/>
            <a:ext cx="187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A</a:t>
            </a:r>
            <a:r>
              <a:rPr lang="es-AR" dirty="0" smtClean="0"/>
              <a:t>ltura = 1.77</a:t>
            </a:r>
            <a:endParaRPr lang="es-AR" dirty="0"/>
          </a:p>
        </p:txBody>
      </p:sp>
      <p:sp>
        <p:nvSpPr>
          <p:cNvPr id="101" name="100 Rectángulo"/>
          <p:cNvSpPr/>
          <p:nvPr/>
        </p:nvSpPr>
        <p:spPr>
          <a:xfrm>
            <a:off x="5553074" y="3456384"/>
            <a:ext cx="1296144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2" name="101 CuadroTexto"/>
          <p:cNvSpPr txBox="1"/>
          <p:nvPr/>
        </p:nvSpPr>
        <p:spPr>
          <a:xfrm>
            <a:off x="5481066" y="3689828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 Altura&lt; 1.6</a:t>
            </a:r>
            <a:endParaRPr lang="es-AR" dirty="0"/>
          </a:p>
        </p:txBody>
      </p:sp>
      <p:cxnSp>
        <p:nvCxnSpPr>
          <p:cNvPr id="103" name="102 Conector recto de flecha"/>
          <p:cNvCxnSpPr/>
          <p:nvPr/>
        </p:nvCxnSpPr>
        <p:spPr>
          <a:xfrm>
            <a:off x="6129138" y="4314665"/>
            <a:ext cx="0" cy="4645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103 Rectángulo"/>
          <p:cNvSpPr/>
          <p:nvPr/>
        </p:nvSpPr>
        <p:spPr>
          <a:xfrm>
            <a:off x="5553074" y="4779240"/>
            <a:ext cx="1149393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5" name="104 CuadroTexto"/>
          <p:cNvSpPr txBox="1"/>
          <p:nvPr/>
        </p:nvSpPr>
        <p:spPr>
          <a:xfrm>
            <a:off x="6129138" y="431118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106" name="105 CuadroTexto"/>
          <p:cNvSpPr txBox="1"/>
          <p:nvPr/>
        </p:nvSpPr>
        <p:spPr>
          <a:xfrm>
            <a:off x="5409058" y="498597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Petiso</a:t>
            </a:r>
            <a:endParaRPr lang="es-AR" dirty="0"/>
          </a:p>
        </p:txBody>
      </p:sp>
      <p:sp>
        <p:nvSpPr>
          <p:cNvPr id="107" name="106 CuadroTexto"/>
          <p:cNvSpPr txBox="1"/>
          <p:nvPr/>
        </p:nvSpPr>
        <p:spPr>
          <a:xfrm>
            <a:off x="6909681" y="360040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108" name="107 Conector angular"/>
          <p:cNvCxnSpPr/>
          <p:nvPr/>
        </p:nvCxnSpPr>
        <p:spPr>
          <a:xfrm rot="16200000" flipH="1">
            <a:off x="6777387" y="3979202"/>
            <a:ext cx="837384" cy="746436"/>
          </a:xfrm>
          <a:prstGeom prst="bentConnector3">
            <a:avLst>
              <a:gd name="adj1" fmla="val -265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108 Rectángulo"/>
          <p:cNvSpPr/>
          <p:nvPr/>
        </p:nvSpPr>
        <p:spPr>
          <a:xfrm>
            <a:off x="6945995" y="4771112"/>
            <a:ext cx="1553269" cy="800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0" name="109 CuadroTexto"/>
          <p:cNvSpPr txBox="1"/>
          <p:nvPr/>
        </p:nvSpPr>
        <p:spPr>
          <a:xfrm>
            <a:off x="7067976" y="2699628"/>
            <a:ext cx="207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1.6 &lt; </a:t>
            </a:r>
            <a:r>
              <a:rPr lang="es-AR" dirty="0" smtClean="0"/>
              <a:t>Altura </a:t>
            </a:r>
            <a:r>
              <a:rPr lang="es-AR" dirty="0"/>
              <a:t>&lt; 1.8</a:t>
            </a:r>
          </a:p>
        </p:txBody>
      </p:sp>
      <p:cxnSp>
        <p:nvCxnSpPr>
          <p:cNvPr id="43" name="42 Conector recto de flecha"/>
          <p:cNvCxnSpPr/>
          <p:nvPr/>
        </p:nvCxnSpPr>
        <p:spPr>
          <a:xfrm>
            <a:off x="3434875" y="5571328"/>
            <a:ext cx="4294" cy="39084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angular"/>
          <p:cNvCxnSpPr>
            <a:stCxn id="86" idx="3"/>
            <a:endCxn id="60" idx="0"/>
          </p:cNvCxnSpPr>
          <p:nvPr/>
        </p:nvCxnSpPr>
        <p:spPr>
          <a:xfrm>
            <a:off x="4048645" y="5153218"/>
            <a:ext cx="785033" cy="76457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CuadroTexto"/>
          <p:cNvSpPr txBox="1"/>
          <p:nvPr/>
        </p:nvSpPr>
        <p:spPr>
          <a:xfrm>
            <a:off x="3419872" y="551723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49" name="48 CuadroTexto"/>
          <p:cNvSpPr txBox="1"/>
          <p:nvPr/>
        </p:nvSpPr>
        <p:spPr>
          <a:xfrm>
            <a:off x="4211960" y="482453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sp>
        <p:nvSpPr>
          <p:cNvPr id="60" name="84 Rectángulo"/>
          <p:cNvSpPr/>
          <p:nvPr/>
        </p:nvSpPr>
        <p:spPr>
          <a:xfrm>
            <a:off x="4233994" y="5917796"/>
            <a:ext cx="1199367" cy="7515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85 CuadroTexto"/>
          <p:cNvSpPr txBox="1"/>
          <p:nvPr/>
        </p:nvSpPr>
        <p:spPr>
          <a:xfrm>
            <a:off x="4231257" y="6084004"/>
            <a:ext cx="1204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-</a:t>
            </a:r>
          </a:p>
        </p:txBody>
      </p:sp>
      <p:sp>
        <p:nvSpPr>
          <p:cNvPr id="66" name="33 Rectángulo"/>
          <p:cNvSpPr/>
          <p:nvPr/>
        </p:nvSpPr>
        <p:spPr>
          <a:xfrm>
            <a:off x="2627785" y="5935342"/>
            <a:ext cx="1368152" cy="7340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Flecha derecha 36"/>
          <p:cNvSpPr/>
          <p:nvPr/>
        </p:nvSpPr>
        <p:spPr>
          <a:xfrm rot="18860779">
            <a:off x="7462213" y="3311212"/>
            <a:ext cx="830920" cy="2369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1" name="105 CuadroTexto"/>
          <p:cNvSpPr txBox="1"/>
          <p:nvPr/>
        </p:nvSpPr>
        <p:spPr>
          <a:xfrm>
            <a:off x="7002549" y="4959405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-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9252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110" grpId="0"/>
      <p:bldP spid="48" grpId="0"/>
      <p:bldP spid="49" grpId="0"/>
      <p:bldP spid="60" grpId="0" animBg="1"/>
      <p:bldP spid="61" grpId="0"/>
      <p:bldP spid="66" grpId="0" animBg="1"/>
      <p:bldP spid="3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stCxn id="33" idx="2"/>
            <a:endCxn id="6" idx="0"/>
          </p:cNvCxnSpPr>
          <p:nvPr/>
        </p:nvCxnSpPr>
        <p:spPr>
          <a:xfrm flipH="1">
            <a:off x="1069963" y="1996135"/>
            <a:ext cx="9648" cy="51534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470279" y="2511480"/>
            <a:ext cx="1199367" cy="773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1069963" y="3284984"/>
            <a:ext cx="9649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417569" y="3861048"/>
            <a:ext cx="1324085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395536" y="27089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323528" y="409449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1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1619672" y="256490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  <a:endCxn id="32" idx="0"/>
          </p:cNvCxnSpPr>
          <p:nvPr/>
        </p:nvCxnSpPr>
        <p:spPr>
          <a:xfrm>
            <a:off x="1669646" y="2898232"/>
            <a:ext cx="812755" cy="96281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1043608" y="334770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575555" y="1626803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condicional: </a:t>
            </a:r>
            <a:r>
              <a:rPr lang="es-AR" dirty="0" err="1" smtClean="0"/>
              <a:t>if</a:t>
            </a:r>
            <a:r>
              <a:rPr lang="es-AR" dirty="0" smtClean="0"/>
              <a:t> – </a:t>
            </a:r>
            <a:r>
              <a:rPr lang="es-AR" dirty="0" err="1" smtClean="0"/>
              <a:t>elseIF</a:t>
            </a:r>
            <a:r>
              <a:rPr lang="es-AR" dirty="0" smtClean="0"/>
              <a:t> - </a:t>
            </a:r>
            <a:r>
              <a:rPr lang="es-AR" dirty="0" err="1" smtClean="0"/>
              <a:t>else</a:t>
            </a:r>
            <a:endParaRPr lang="es-AR" dirty="0"/>
          </a:p>
        </p:txBody>
      </p:sp>
      <p:sp>
        <p:nvSpPr>
          <p:cNvPr id="32" name="31 Rectángulo"/>
          <p:cNvSpPr/>
          <p:nvPr/>
        </p:nvSpPr>
        <p:spPr>
          <a:xfrm>
            <a:off x="1907704" y="3861048"/>
            <a:ext cx="1149393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CuadroTexto"/>
          <p:cNvSpPr txBox="1"/>
          <p:nvPr/>
        </p:nvSpPr>
        <p:spPr>
          <a:xfrm>
            <a:off x="1763688" y="40944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cxnSp>
        <p:nvCxnSpPr>
          <p:cNvPr id="30" name="29 Conector recto de flecha"/>
          <p:cNvCxnSpPr/>
          <p:nvPr/>
        </p:nvCxnSpPr>
        <p:spPr>
          <a:xfrm>
            <a:off x="2483768" y="4719329"/>
            <a:ext cx="0" cy="4645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CuadroTexto"/>
          <p:cNvSpPr txBox="1"/>
          <p:nvPr/>
        </p:nvSpPr>
        <p:spPr>
          <a:xfrm>
            <a:off x="2483768" y="471585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80" name="79 CuadroTexto"/>
          <p:cNvSpPr txBox="1"/>
          <p:nvPr/>
        </p:nvSpPr>
        <p:spPr>
          <a:xfrm>
            <a:off x="3059832" y="40050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81" name="80 Conector angular"/>
          <p:cNvCxnSpPr/>
          <p:nvPr/>
        </p:nvCxnSpPr>
        <p:spPr>
          <a:xfrm rot="16200000" flipH="1">
            <a:off x="3035816" y="4359672"/>
            <a:ext cx="837384" cy="794823"/>
          </a:xfrm>
          <a:prstGeom prst="bentConnector3">
            <a:avLst>
              <a:gd name="adj1" fmla="val -1999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90 Conector recto de flecha"/>
          <p:cNvCxnSpPr>
            <a:stCxn id="100" idx="2"/>
            <a:endCxn id="92" idx="0"/>
          </p:cNvCxnSpPr>
          <p:nvPr/>
        </p:nvCxnSpPr>
        <p:spPr>
          <a:xfrm>
            <a:off x="5390442" y="1986818"/>
            <a:ext cx="1" cy="5246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91 Rectángulo"/>
          <p:cNvSpPr/>
          <p:nvPr/>
        </p:nvSpPr>
        <p:spPr>
          <a:xfrm>
            <a:off x="4790759" y="2511480"/>
            <a:ext cx="1199367" cy="7735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93" name="92 Conector recto de flecha"/>
          <p:cNvCxnSpPr>
            <a:stCxn id="92" idx="2"/>
            <a:endCxn id="94" idx="0"/>
          </p:cNvCxnSpPr>
          <p:nvPr/>
        </p:nvCxnSpPr>
        <p:spPr>
          <a:xfrm>
            <a:off x="5390443" y="3284984"/>
            <a:ext cx="0" cy="576064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93 Rectángulo"/>
          <p:cNvSpPr/>
          <p:nvPr/>
        </p:nvSpPr>
        <p:spPr>
          <a:xfrm>
            <a:off x="4790759" y="3861048"/>
            <a:ext cx="1199367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5" name="94 CuadroTexto"/>
          <p:cNvSpPr txBox="1"/>
          <p:nvPr/>
        </p:nvSpPr>
        <p:spPr>
          <a:xfrm>
            <a:off x="4716016" y="27089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 smtClean="0"/>
              <a:t>Alt</a:t>
            </a:r>
            <a:r>
              <a:rPr lang="es-AR" dirty="0" smtClean="0"/>
              <a:t> &gt; 1.8</a:t>
            </a:r>
            <a:endParaRPr lang="es-AR" dirty="0"/>
          </a:p>
        </p:txBody>
      </p:sp>
      <p:sp>
        <p:nvSpPr>
          <p:cNvPr id="96" name="95 CuadroTexto"/>
          <p:cNvSpPr txBox="1"/>
          <p:nvPr/>
        </p:nvSpPr>
        <p:spPr>
          <a:xfrm>
            <a:off x="4716016" y="4094492"/>
            <a:ext cx="129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Alto</a:t>
            </a:r>
            <a:endParaRPr lang="es-AR" dirty="0"/>
          </a:p>
        </p:txBody>
      </p:sp>
      <p:sp>
        <p:nvSpPr>
          <p:cNvPr id="97" name="96 CuadroTexto"/>
          <p:cNvSpPr txBox="1"/>
          <p:nvPr/>
        </p:nvSpPr>
        <p:spPr>
          <a:xfrm>
            <a:off x="5940152" y="256490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98" name="97 Conector angular"/>
          <p:cNvCxnSpPr>
            <a:stCxn id="92" idx="3"/>
            <a:endCxn id="101" idx="0"/>
          </p:cNvCxnSpPr>
          <p:nvPr/>
        </p:nvCxnSpPr>
        <p:spPr>
          <a:xfrm>
            <a:off x="5990126" y="2898232"/>
            <a:ext cx="886130" cy="96281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98 CuadroTexto"/>
          <p:cNvSpPr txBox="1"/>
          <p:nvPr/>
        </p:nvSpPr>
        <p:spPr>
          <a:xfrm>
            <a:off x="5364088" y="3347700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100" name="99 CuadroTexto"/>
          <p:cNvSpPr txBox="1"/>
          <p:nvPr/>
        </p:nvSpPr>
        <p:spPr>
          <a:xfrm>
            <a:off x="4455022" y="1617486"/>
            <a:ext cx="187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Altura = 1.77</a:t>
            </a:r>
            <a:endParaRPr lang="es-AR" dirty="0"/>
          </a:p>
        </p:txBody>
      </p:sp>
      <p:sp>
        <p:nvSpPr>
          <p:cNvPr id="101" name="100 Rectángulo"/>
          <p:cNvSpPr/>
          <p:nvPr/>
        </p:nvSpPr>
        <p:spPr>
          <a:xfrm>
            <a:off x="6228184" y="3861048"/>
            <a:ext cx="1296144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2" name="101 CuadroTexto"/>
          <p:cNvSpPr txBox="1"/>
          <p:nvPr/>
        </p:nvSpPr>
        <p:spPr>
          <a:xfrm>
            <a:off x="6156176" y="409449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Altura &lt; 1.6</a:t>
            </a:r>
            <a:endParaRPr lang="es-AR" dirty="0"/>
          </a:p>
        </p:txBody>
      </p:sp>
      <p:cxnSp>
        <p:nvCxnSpPr>
          <p:cNvPr id="103" name="102 Conector recto de flecha"/>
          <p:cNvCxnSpPr/>
          <p:nvPr/>
        </p:nvCxnSpPr>
        <p:spPr>
          <a:xfrm>
            <a:off x="6804248" y="4719329"/>
            <a:ext cx="0" cy="4645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103 Rectángulo"/>
          <p:cNvSpPr/>
          <p:nvPr/>
        </p:nvSpPr>
        <p:spPr>
          <a:xfrm>
            <a:off x="6228184" y="5183904"/>
            <a:ext cx="1149393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5" name="104 CuadroTexto"/>
          <p:cNvSpPr txBox="1"/>
          <p:nvPr/>
        </p:nvSpPr>
        <p:spPr>
          <a:xfrm>
            <a:off x="6804248" y="471585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106" name="105 CuadroTexto"/>
          <p:cNvSpPr txBox="1"/>
          <p:nvPr/>
        </p:nvSpPr>
        <p:spPr>
          <a:xfrm>
            <a:off x="6084168" y="53906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Petiso</a:t>
            </a:r>
            <a:endParaRPr lang="es-AR" dirty="0"/>
          </a:p>
        </p:txBody>
      </p:sp>
      <p:sp>
        <p:nvSpPr>
          <p:cNvPr id="107" name="106 CuadroTexto"/>
          <p:cNvSpPr txBox="1"/>
          <p:nvPr/>
        </p:nvSpPr>
        <p:spPr>
          <a:xfrm>
            <a:off x="7452320" y="40050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108" name="107 Conector angular"/>
          <p:cNvCxnSpPr/>
          <p:nvPr/>
        </p:nvCxnSpPr>
        <p:spPr>
          <a:xfrm rot="16200000" flipH="1">
            <a:off x="7452497" y="4383866"/>
            <a:ext cx="837384" cy="746436"/>
          </a:xfrm>
          <a:prstGeom prst="bentConnector3">
            <a:avLst>
              <a:gd name="adj1" fmla="val -265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108 Rectángulo"/>
          <p:cNvSpPr/>
          <p:nvPr/>
        </p:nvSpPr>
        <p:spPr>
          <a:xfrm>
            <a:off x="7621105" y="5175776"/>
            <a:ext cx="1199367" cy="8002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0" name="109 CuadroTexto"/>
          <p:cNvSpPr txBox="1"/>
          <p:nvPr/>
        </p:nvSpPr>
        <p:spPr>
          <a:xfrm>
            <a:off x="7621104" y="5373216"/>
            <a:ext cx="1199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Normal</a:t>
            </a:r>
            <a:endParaRPr lang="es-AR" dirty="0"/>
          </a:p>
        </p:txBody>
      </p:sp>
      <p:sp>
        <p:nvSpPr>
          <p:cNvPr id="51" name="50 Rectángulo"/>
          <p:cNvSpPr/>
          <p:nvPr/>
        </p:nvSpPr>
        <p:spPr>
          <a:xfrm>
            <a:off x="1785721" y="5157192"/>
            <a:ext cx="1324085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2" name="51 CuadroTexto"/>
          <p:cNvSpPr txBox="1"/>
          <p:nvPr/>
        </p:nvSpPr>
        <p:spPr>
          <a:xfrm>
            <a:off x="1691680" y="539063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2</a:t>
            </a:r>
            <a:endParaRPr lang="es-AR" dirty="0"/>
          </a:p>
        </p:txBody>
      </p:sp>
      <p:sp>
        <p:nvSpPr>
          <p:cNvPr id="53" name="52 Rectángulo"/>
          <p:cNvSpPr/>
          <p:nvPr/>
        </p:nvSpPr>
        <p:spPr>
          <a:xfrm>
            <a:off x="3225881" y="5157192"/>
            <a:ext cx="1324085" cy="858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53 CuadroTexto"/>
          <p:cNvSpPr txBox="1"/>
          <p:nvPr/>
        </p:nvSpPr>
        <p:spPr>
          <a:xfrm>
            <a:off x="3131840" y="5390636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7936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2267744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259632" y="250218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2267744" y="3726324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1262367" y="4266384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angular"/>
          <p:cNvCxnSpPr>
            <a:stCxn id="16" idx="2"/>
          </p:cNvCxnSpPr>
          <p:nvPr/>
        </p:nvCxnSpPr>
        <p:spPr>
          <a:xfrm rot="5400000">
            <a:off x="1026974" y="4931091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angular"/>
          <p:cNvCxnSpPr>
            <a:endCxn id="6" idx="1"/>
          </p:cNvCxnSpPr>
          <p:nvPr/>
        </p:nvCxnSpPr>
        <p:spPr>
          <a:xfrm rot="5400000" flipH="1" flipV="1">
            <a:off x="-666582" y="4248383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1547664" y="29249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547664" y="4644427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3278591" y="274027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3275856" y="3114256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2342487" y="3801809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813667" y="1412776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cxnSp>
        <p:nvCxnSpPr>
          <p:cNvPr id="34" name="33 Conector recto de flecha"/>
          <p:cNvCxnSpPr>
            <a:endCxn id="35" idx="0"/>
          </p:cNvCxnSpPr>
          <p:nvPr/>
        </p:nvCxnSpPr>
        <p:spPr>
          <a:xfrm flipH="1">
            <a:off x="6372200" y="178210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5364088" y="250218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6" name="35 Conector recto de flecha"/>
          <p:cNvCxnSpPr>
            <a:stCxn id="35" idx="2"/>
            <a:endCxn id="37" idx="0"/>
          </p:cNvCxnSpPr>
          <p:nvPr/>
        </p:nvCxnSpPr>
        <p:spPr>
          <a:xfrm>
            <a:off x="6372200" y="3726324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"/>
          <p:cNvSpPr/>
          <p:nvPr/>
        </p:nvSpPr>
        <p:spPr>
          <a:xfrm>
            <a:off x="5366823" y="4266384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8" name="37 Conector angular"/>
          <p:cNvCxnSpPr>
            <a:stCxn id="37" idx="2"/>
          </p:cNvCxnSpPr>
          <p:nvPr/>
        </p:nvCxnSpPr>
        <p:spPr>
          <a:xfrm rot="5400000">
            <a:off x="5131430" y="4931091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angular"/>
          <p:cNvCxnSpPr>
            <a:endCxn id="35" idx="1"/>
          </p:cNvCxnSpPr>
          <p:nvPr/>
        </p:nvCxnSpPr>
        <p:spPr>
          <a:xfrm rot="5400000" flipH="1" flipV="1">
            <a:off x="3437874" y="4248383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CuadroTexto"/>
          <p:cNvSpPr txBox="1"/>
          <p:nvPr/>
        </p:nvSpPr>
        <p:spPr>
          <a:xfrm>
            <a:off x="5652120" y="29249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¿A&lt;10?</a:t>
            </a:r>
            <a:endParaRPr lang="es-AR" dirty="0"/>
          </a:p>
        </p:txBody>
      </p:sp>
      <p:sp>
        <p:nvSpPr>
          <p:cNvPr id="41" name="40 CuadroTexto"/>
          <p:cNvSpPr txBox="1"/>
          <p:nvPr/>
        </p:nvSpPr>
        <p:spPr>
          <a:xfrm>
            <a:off x="5652120" y="4644427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A=A+1</a:t>
            </a:r>
            <a:endParaRPr lang="es-AR" dirty="0"/>
          </a:p>
        </p:txBody>
      </p:sp>
      <p:sp>
        <p:nvSpPr>
          <p:cNvPr id="42" name="41 CuadroTexto"/>
          <p:cNvSpPr txBox="1"/>
          <p:nvPr/>
        </p:nvSpPr>
        <p:spPr>
          <a:xfrm>
            <a:off x="7372207" y="2740278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43" name="42 Conector angular"/>
          <p:cNvCxnSpPr>
            <a:stCxn id="35" idx="3"/>
          </p:cNvCxnSpPr>
          <p:nvPr/>
        </p:nvCxnSpPr>
        <p:spPr>
          <a:xfrm>
            <a:off x="7380312" y="3114256"/>
            <a:ext cx="86409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CuadroTexto"/>
          <p:cNvSpPr txBox="1"/>
          <p:nvPr/>
        </p:nvSpPr>
        <p:spPr>
          <a:xfrm>
            <a:off x="6516216" y="3801809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45" name="44 CuadroTexto"/>
          <p:cNvSpPr txBox="1"/>
          <p:nvPr/>
        </p:nvSpPr>
        <p:spPr>
          <a:xfrm>
            <a:off x="5918123" y="1412776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A=1</a:t>
            </a:r>
            <a:endParaRPr lang="es-AR" dirty="0"/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Loop</a:t>
            </a:r>
            <a:r>
              <a:rPr lang="es-AR" dirty="0" smtClean="0"/>
              <a:t>: </a:t>
            </a:r>
            <a:r>
              <a:rPr lang="es-AR" dirty="0" err="1" smtClean="0"/>
              <a:t>While</a:t>
            </a:r>
            <a:endParaRPr lang="es-AR" dirty="0"/>
          </a:p>
        </p:txBody>
      </p:sp>
      <p:sp>
        <p:nvSpPr>
          <p:cNvPr id="30" name="29 CuadroTexto"/>
          <p:cNvSpPr txBox="1"/>
          <p:nvPr/>
        </p:nvSpPr>
        <p:spPr>
          <a:xfrm>
            <a:off x="7779197" y="6340674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A=10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6730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2267744" y="1566086"/>
            <a:ext cx="2736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259632" y="2286166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29" idx="0"/>
          </p:cNvCxnSpPr>
          <p:nvPr/>
        </p:nvCxnSpPr>
        <p:spPr>
          <a:xfrm>
            <a:off x="2267744" y="3510302"/>
            <a:ext cx="0" cy="7827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1262367" y="5039891"/>
            <a:ext cx="2016224" cy="306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CuadroTexto"/>
          <p:cNvSpPr txBox="1"/>
          <p:nvPr/>
        </p:nvSpPr>
        <p:spPr>
          <a:xfrm>
            <a:off x="1547664" y="270892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547664" y="499459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 smtClean="0"/>
              <a:t>Continue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3317756" y="239047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3275856" y="2898234"/>
            <a:ext cx="504056" cy="32763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2274671" y="3707740"/>
            <a:ext cx="128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723596" y="1196752"/>
            <a:ext cx="110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sp>
        <p:nvSpPr>
          <p:cNvPr id="29" name="28 Rectángulo"/>
          <p:cNvSpPr/>
          <p:nvPr/>
        </p:nvSpPr>
        <p:spPr>
          <a:xfrm>
            <a:off x="1259632" y="4293098"/>
            <a:ext cx="201622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CuadroTexto"/>
          <p:cNvSpPr txBox="1"/>
          <p:nvPr/>
        </p:nvSpPr>
        <p:spPr>
          <a:xfrm>
            <a:off x="1262367" y="4293098"/>
            <a:ext cx="201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1</a:t>
            </a:r>
            <a:endParaRPr lang="es-AR" dirty="0"/>
          </a:p>
        </p:txBody>
      </p:sp>
      <p:cxnSp>
        <p:nvCxnSpPr>
          <p:cNvPr id="32" name="31 Conector recto de flecha"/>
          <p:cNvCxnSpPr>
            <a:stCxn id="29" idx="2"/>
            <a:endCxn id="16" idx="0"/>
          </p:cNvCxnSpPr>
          <p:nvPr/>
        </p:nvCxnSpPr>
        <p:spPr>
          <a:xfrm>
            <a:off x="2267744" y="4662430"/>
            <a:ext cx="2735" cy="3774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>
            <a:stCxn id="16" idx="1"/>
          </p:cNvCxnSpPr>
          <p:nvPr/>
        </p:nvCxnSpPr>
        <p:spPr>
          <a:xfrm flipH="1">
            <a:off x="467548" y="5192908"/>
            <a:ext cx="79481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Rectángulo"/>
          <p:cNvSpPr/>
          <p:nvPr/>
        </p:nvSpPr>
        <p:spPr>
          <a:xfrm>
            <a:off x="1259632" y="5859272"/>
            <a:ext cx="2016224" cy="306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46 CuadroTexto"/>
          <p:cNvSpPr txBox="1"/>
          <p:nvPr/>
        </p:nvSpPr>
        <p:spPr>
          <a:xfrm>
            <a:off x="1259632" y="580526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2</a:t>
            </a:r>
            <a:endParaRPr lang="es-AR" dirty="0"/>
          </a:p>
        </p:txBody>
      </p:sp>
      <p:cxnSp>
        <p:nvCxnSpPr>
          <p:cNvPr id="48" name="47 Conector recto de flecha"/>
          <p:cNvCxnSpPr>
            <a:endCxn id="49" idx="0"/>
          </p:cNvCxnSpPr>
          <p:nvPr/>
        </p:nvCxnSpPr>
        <p:spPr>
          <a:xfrm flipH="1">
            <a:off x="6746096" y="1566084"/>
            <a:ext cx="2736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48 Rectángulo"/>
          <p:cNvSpPr/>
          <p:nvPr/>
        </p:nvSpPr>
        <p:spPr>
          <a:xfrm>
            <a:off x="5737984" y="2286164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0" name="49 Conector recto de flecha"/>
          <p:cNvCxnSpPr>
            <a:stCxn id="49" idx="2"/>
            <a:endCxn id="60" idx="0"/>
          </p:cNvCxnSpPr>
          <p:nvPr/>
        </p:nvCxnSpPr>
        <p:spPr>
          <a:xfrm>
            <a:off x="6746096" y="3510300"/>
            <a:ext cx="0" cy="7827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Rectángulo"/>
          <p:cNvSpPr/>
          <p:nvPr/>
        </p:nvSpPr>
        <p:spPr>
          <a:xfrm>
            <a:off x="5740719" y="5039889"/>
            <a:ext cx="2016224" cy="306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53 CuadroTexto"/>
          <p:cNvSpPr txBox="1"/>
          <p:nvPr/>
        </p:nvSpPr>
        <p:spPr>
          <a:xfrm>
            <a:off x="6026016" y="27089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¿A&lt;10?</a:t>
            </a:r>
            <a:endParaRPr lang="es-AR" dirty="0"/>
          </a:p>
        </p:txBody>
      </p:sp>
      <p:sp>
        <p:nvSpPr>
          <p:cNvPr id="55" name="54 CuadroTexto"/>
          <p:cNvSpPr txBox="1"/>
          <p:nvPr/>
        </p:nvSpPr>
        <p:spPr>
          <a:xfrm>
            <a:off x="6026016" y="499459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 smtClean="0"/>
              <a:t>Continue</a:t>
            </a:r>
            <a:endParaRPr lang="es-AR" dirty="0"/>
          </a:p>
        </p:txBody>
      </p:sp>
      <p:cxnSp>
        <p:nvCxnSpPr>
          <p:cNvPr id="57" name="56 Conector angular"/>
          <p:cNvCxnSpPr>
            <a:stCxn id="49" idx="3"/>
          </p:cNvCxnSpPr>
          <p:nvPr/>
        </p:nvCxnSpPr>
        <p:spPr>
          <a:xfrm>
            <a:off x="7754208" y="2898232"/>
            <a:ext cx="504056" cy="32763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CuadroTexto"/>
          <p:cNvSpPr txBox="1"/>
          <p:nvPr/>
        </p:nvSpPr>
        <p:spPr>
          <a:xfrm>
            <a:off x="6292019" y="1196752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A=1</a:t>
            </a:r>
            <a:endParaRPr lang="es-AR" dirty="0"/>
          </a:p>
        </p:txBody>
      </p:sp>
      <p:sp>
        <p:nvSpPr>
          <p:cNvPr id="60" name="59 Rectángulo"/>
          <p:cNvSpPr/>
          <p:nvPr/>
        </p:nvSpPr>
        <p:spPr>
          <a:xfrm>
            <a:off x="5737984" y="4293096"/>
            <a:ext cx="201622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60 CuadroTexto"/>
          <p:cNvSpPr txBox="1"/>
          <p:nvPr/>
        </p:nvSpPr>
        <p:spPr>
          <a:xfrm>
            <a:off x="6026016" y="429309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A=A+1</a:t>
            </a:r>
            <a:endParaRPr lang="es-AR" dirty="0"/>
          </a:p>
        </p:txBody>
      </p:sp>
      <p:cxnSp>
        <p:nvCxnSpPr>
          <p:cNvPr id="62" name="61 Conector recto de flecha"/>
          <p:cNvCxnSpPr>
            <a:stCxn id="60" idx="2"/>
            <a:endCxn id="51" idx="0"/>
          </p:cNvCxnSpPr>
          <p:nvPr/>
        </p:nvCxnSpPr>
        <p:spPr>
          <a:xfrm>
            <a:off x="6746096" y="4662428"/>
            <a:ext cx="2735" cy="37746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 de flecha"/>
          <p:cNvCxnSpPr>
            <a:stCxn id="51" idx="1"/>
          </p:cNvCxnSpPr>
          <p:nvPr/>
        </p:nvCxnSpPr>
        <p:spPr>
          <a:xfrm flipH="1">
            <a:off x="4945900" y="5192906"/>
            <a:ext cx="79481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63 Rectángulo"/>
          <p:cNvSpPr/>
          <p:nvPr/>
        </p:nvSpPr>
        <p:spPr>
          <a:xfrm>
            <a:off x="5737984" y="5805264"/>
            <a:ext cx="201622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64 CuadroTexto"/>
          <p:cNvSpPr txBox="1"/>
          <p:nvPr/>
        </p:nvSpPr>
        <p:spPr>
          <a:xfrm>
            <a:off x="6026016" y="580526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A=A+1/2</a:t>
            </a:r>
            <a:endParaRPr lang="es-AR" dirty="0"/>
          </a:p>
        </p:txBody>
      </p:sp>
      <p:cxnSp>
        <p:nvCxnSpPr>
          <p:cNvPr id="68" name="67 Conector recto de flecha"/>
          <p:cNvCxnSpPr>
            <a:stCxn id="26" idx="2"/>
          </p:cNvCxnSpPr>
          <p:nvPr/>
        </p:nvCxnSpPr>
        <p:spPr>
          <a:xfrm>
            <a:off x="2231740" y="5363928"/>
            <a:ext cx="0" cy="5133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 de flecha"/>
          <p:cNvCxnSpPr>
            <a:stCxn id="51" idx="2"/>
            <a:endCxn id="64" idx="0"/>
          </p:cNvCxnSpPr>
          <p:nvPr/>
        </p:nvCxnSpPr>
        <p:spPr>
          <a:xfrm flipH="1">
            <a:off x="6746096" y="5345923"/>
            <a:ext cx="2735" cy="45934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40 Conector recto de flecha"/>
          <p:cNvCxnSpPr/>
          <p:nvPr/>
        </p:nvCxnSpPr>
        <p:spPr>
          <a:xfrm flipH="1">
            <a:off x="2267744" y="1556796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 de flecha"/>
          <p:cNvCxnSpPr/>
          <p:nvPr/>
        </p:nvCxnSpPr>
        <p:spPr>
          <a:xfrm>
            <a:off x="2267744" y="3501012"/>
            <a:ext cx="0" cy="78279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42 Conector angular"/>
          <p:cNvCxnSpPr/>
          <p:nvPr/>
        </p:nvCxnSpPr>
        <p:spPr>
          <a:xfrm rot="5400000">
            <a:off x="1187624" y="5435938"/>
            <a:ext cx="360042" cy="180019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angular"/>
          <p:cNvCxnSpPr/>
          <p:nvPr/>
        </p:nvCxnSpPr>
        <p:spPr>
          <a:xfrm rot="5400000" flipH="1" flipV="1">
            <a:off x="-949968" y="4306458"/>
            <a:ext cx="3627114" cy="79208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angular"/>
          <p:cNvCxnSpPr/>
          <p:nvPr/>
        </p:nvCxnSpPr>
        <p:spPr>
          <a:xfrm>
            <a:off x="3275856" y="2888944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65 Conector recto de flecha"/>
          <p:cNvCxnSpPr/>
          <p:nvPr/>
        </p:nvCxnSpPr>
        <p:spPr>
          <a:xfrm>
            <a:off x="2267744" y="4653140"/>
            <a:ext cx="2735" cy="37746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66 Conector recto de flecha"/>
          <p:cNvCxnSpPr/>
          <p:nvPr/>
        </p:nvCxnSpPr>
        <p:spPr>
          <a:xfrm flipH="1">
            <a:off x="6746096" y="1556794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69 Conector recto de flecha"/>
          <p:cNvCxnSpPr/>
          <p:nvPr/>
        </p:nvCxnSpPr>
        <p:spPr>
          <a:xfrm>
            <a:off x="6746096" y="3501010"/>
            <a:ext cx="0" cy="78279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angular"/>
          <p:cNvCxnSpPr/>
          <p:nvPr/>
        </p:nvCxnSpPr>
        <p:spPr>
          <a:xfrm rot="5400000">
            <a:off x="5665977" y="5435941"/>
            <a:ext cx="360046" cy="1800193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71 Conector angular"/>
          <p:cNvCxnSpPr/>
          <p:nvPr/>
        </p:nvCxnSpPr>
        <p:spPr>
          <a:xfrm rot="5400000" flipH="1" flipV="1">
            <a:off x="3528382" y="4306459"/>
            <a:ext cx="3627119" cy="79208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angular"/>
          <p:cNvCxnSpPr/>
          <p:nvPr/>
        </p:nvCxnSpPr>
        <p:spPr>
          <a:xfrm>
            <a:off x="7754208" y="2888942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73 Conector recto de flecha"/>
          <p:cNvCxnSpPr/>
          <p:nvPr/>
        </p:nvCxnSpPr>
        <p:spPr>
          <a:xfrm>
            <a:off x="6746096" y="4653138"/>
            <a:ext cx="2735" cy="37746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74 Conector recto de flecha"/>
          <p:cNvCxnSpPr/>
          <p:nvPr/>
        </p:nvCxnSpPr>
        <p:spPr>
          <a:xfrm flipH="1" flipV="1">
            <a:off x="4945898" y="5179260"/>
            <a:ext cx="792086" cy="43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75 Conector recto de flecha"/>
          <p:cNvCxnSpPr/>
          <p:nvPr/>
        </p:nvCxnSpPr>
        <p:spPr>
          <a:xfrm>
            <a:off x="2231740" y="5354638"/>
            <a:ext cx="0" cy="51334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 de flecha"/>
          <p:cNvCxnSpPr/>
          <p:nvPr/>
        </p:nvCxnSpPr>
        <p:spPr>
          <a:xfrm flipH="1">
            <a:off x="6746096" y="5336633"/>
            <a:ext cx="2735" cy="45934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77 Conector recto de flecha"/>
          <p:cNvCxnSpPr/>
          <p:nvPr/>
        </p:nvCxnSpPr>
        <p:spPr>
          <a:xfrm flipH="1" flipV="1">
            <a:off x="460965" y="5183616"/>
            <a:ext cx="792086" cy="435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78 CuadroTexto"/>
          <p:cNvSpPr txBox="1"/>
          <p:nvPr/>
        </p:nvSpPr>
        <p:spPr>
          <a:xfrm>
            <a:off x="7779197" y="6340674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A=10</a:t>
            </a:r>
            <a:endParaRPr lang="es-AR" dirty="0"/>
          </a:p>
        </p:txBody>
      </p:sp>
      <p:sp>
        <p:nvSpPr>
          <p:cNvPr id="81" name="80 CuadroTexto"/>
          <p:cNvSpPr txBox="1"/>
          <p:nvPr/>
        </p:nvSpPr>
        <p:spPr>
          <a:xfrm>
            <a:off x="7775325" y="239047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sp>
        <p:nvSpPr>
          <p:cNvPr id="82" name="81 CuadroTexto"/>
          <p:cNvSpPr txBox="1"/>
          <p:nvPr/>
        </p:nvSpPr>
        <p:spPr>
          <a:xfrm>
            <a:off x="6732240" y="3707740"/>
            <a:ext cx="128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56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Comando: </a:t>
            </a:r>
            <a:r>
              <a:rPr lang="es-AR" dirty="0" err="1" smtClean="0"/>
              <a:t>Continue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28466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54 Rectángulo"/>
          <p:cNvSpPr/>
          <p:nvPr/>
        </p:nvSpPr>
        <p:spPr>
          <a:xfrm>
            <a:off x="2627784" y="1892559"/>
            <a:ext cx="4446240" cy="381642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57 Rectángulo"/>
          <p:cNvSpPr/>
          <p:nvPr/>
        </p:nvSpPr>
        <p:spPr>
          <a:xfrm>
            <a:off x="3517890" y="3195100"/>
            <a:ext cx="2998326" cy="15081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9" name="58 Rectángulo"/>
          <p:cNvSpPr/>
          <p:nvPr/>
        </p:nvSpPr>
        <p:spPr>
          <a:xfrm>
            <a:off x="3589898" y="3212976"/>
            <a:ext cx="278230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dirty="0" smtClean="0"/>
              <a:t>While</a:t>
            </a:r>
          </a:p>
          <a:p>
            <a:pPr algn="ctr"/>
            <a:r>
              <a:rPr lang="en-US" sz="2000" dirty="0" smtClean="0"/>
              <a:t>Continue</a:t>
            </a:r>
            <a:endParaRPr lang="es-AR" sz="500" dirty="0"/>
          </a:p>
        </p:txBody>
      </p:sp>
      <p:sp>
        <p:nvSpPr>
          <p:cNvPr id="7" name="6 Rectángulo"/>
          <p:cNvSpPr/>
          <p:nvPr/>
        </p:nvSpPr>
        <p:spPr>
          <a:xfrm>
            <a:off x="3849343" y="1987905"/>
            <a:ext cx="234230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/>
              <a:t>While</a:t>
            </a:r>
            <a:endParaRPr lang="en-US" dirty="0"/>
          </a:p>
        </p:txBody>
      </p:sp>
      <p:sp>
        <p:nvSpPr>
          <p:cNvPr id="12" name="11 Rectángulo"/>
          <p:cNvSpPr/>
          <p:nvPr/>
        </p:nvSpPr>
        <p:spPr>
          <a:xfrm>
            <a:off x="4227654" y="4869160"/>
            <a:ext cx="15856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Continue</a:t>
            </a:r>
            <a:r>
              <a:rPr lang="en-US" sz="700" dirty="0" smtClean="0">
                <a:solidFill>
                  <a:schemeClr val="tx2">
                    <a:lumMod val="50000"/>
                  </a:schemeClr>
                </a:solidFill>
              </a:rPr>
              <a:t>  </a:t>
            </a:r>
            <a:endParaRPr lang="es-AR" sz="7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12 Flecha curvada hacia la derecha"/>
          <p:cNvSpPr/>
          <p:nvPr/>
        </p:nvSpPr>
        <p:spPr>
          <a:xfrm rot="10800000">
            <a:off x="5877576" y="1892558"/>
            <a:ext cx="1142696" cy="3435071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10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Comando: </a:t>
            </a:r>
            <a:r>
              <a:rPr lang="es-AR" dirty="0" err="1" smtClean="0"/>
              <a:t>Continue</a:t>
            </a:r>
            <a:endParaRPr lang="es-AR" dirty="0"/>
          </a:p>
        </p:txBody>
      </p:sp>
      <p:sp>
        <p:nvSpPr>
          <p:cNvPr id="2" name="1 Flecha curvada hacia la izquierda"/>
          <p:cNvSpPr/>
          <p:nvPr/>
        </p:nvSpPr>
        <p:spPr>
          <a:xfrm rot="10800000">
            <a:off x="3059832" y="3140968"/>
            <a:ext cx="720080" cy="150810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93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2339752" y="2276872"/>
            <a:ext cx="2916324" cy="36602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53 Rectángulo"/>
          <p:cNvSpPr/>
          <p:nvPr/>
        </p:nvSpPr>
        <p:spPr>
          <a:xfrm>
            <a:off x="2537520" y="2996952"/>
            <a:ext cx="2466528" cy="18722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2483768" y="1484784"/>
            <a:ext cx="47525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a=1</a:t>
            </a:r>
          </a:p>
          <a:p>
            <a:r>
              <a:rPr lang="en-US" sz="2400" dirty="0"/>
              <a:t>j=1</a:t>
            </a:r>
          </a:p>
          <a:p>
            <a:r>
              <a:rPr lang="en-US" sz="2400" dirty="0"/>
              <a:t>while a&lt;10</a:t>
            </a:r>
          </a:p>
          <a:p>
            <a:endParaRPr lang="en-US" sz="2400" dirty="0"/>
          </a:p>
          <a:p>
            <a:r>
              <a:rPr lang="en-US" sz="2400" dirty="0"/>
              <a:t>while j&lt;5</a:t>
            </a:r>
          </a:p>
          <a:p>
            <a:r>
              <a:rPr lang="en-US" sz="2400" dirty="0"/>
              <a:t>    j=j+1</a:t>
            </a:r>
          </a:p>
          <a:p>
            <a:r>
              <a:rPr lang="en-US" sz="2400" dirty="0"/>
              <a:t>    </a:t>
            </a:r>
            <a:r>
              <a:rPr lang="en-US" sz="2400" dirty="0" smtClean="0"/>
              <a:t>continue</a:t>
            </a:r>
            <a:endParaRPr lang="en-US" sz="2400" dirty="0"/>
          </a:p>
          <a:p>
            <a:r>
              <a:rPr lang="en-US" sz="2400" dirty="0"/>
              <a:t>    </a:t>
            </a:r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dirty="0" smtClean="0"/>
              <a:t>end</a:t>
            </a:r>
            <a:endParaRPr lang="en-US" sz="2400" dirty="0"/>
          </a:p>
          <a:p>
            <a:r>
              <a:rPr lang="en-US" sz="2400" dirty="0" smtClean="0"/>
              <a:t>continue</a:t>
            </a:r>
            <a:endParaRPr lang="en-US" sz="2400" dirty="0"/>
          </a:p>
          <a:p>
            <a:r>
              <a:rPr lang="en-US" sz="2400" dirty="0" smtClean="0"/>
              <a:t>a=a+1</a:t>
            </a:r>
            <a:endParaRPr lang="en-US" sz="2400" dirty="0"/>
          </a:p>
          <a:p>
            <a:r>
              <a:rPr lang="en-US" sz="2400" dirty="0"/>
              <a:t>end</a:t>
            </a:r>
            <a:endParaRPr lang="es-AR" sz="2400" dirty="0"/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Loop</a:t>
            </a:r>
            <a:r>
              <a:rPr lang="es-AR" dirty="0" smtClean="0"/>
              <a:t>: </a:t>
            </a:r>
            <a:r>
              <a:rPr lang="es-AR" dirty="0" err="1" smtClean="0"/>
              <a:t>for</a:t>
            </a:r>
            <a:endParaRPr lang="es-AR" dirty="0"/>
          </a:p>
        </p:txBody>
      </p:sp>
      <p:sp>
        <p:nvSpPr>
          <p:cNvPr id="3" name="2 Flecha curvada hacia la derecha"/>
          <p:cNvSpPr/>
          <p:nvPr/>
        </p:nvSpPr>
        <p:spPr>
          <a:xfrm rot="10800000">
            <a:off x="4067944" y="2996951"/>
            <a:ext cx="576064" cy="111002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5" name="4 Flecha curvada hacia la izquierda"/>
          <p:cNvSpPr/>
          <p:nvPr/>
        </p:nvSpPr>
        <p:spPr>
          <a:xfrm rot="10800000">
            <a:off x="1558921" y="2276872"/>
            <a:ext cx="936104" cy="280831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94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2267744" y="1566078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259632" y="228615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29" idx="0"/>
          </p:cNvCxnSpPr>
          <p:nvPr/>
        </p:nvCxnSpPr>
        <p:spPr>
          <a:xfrm>
            <a:off x="2267744" y="3510294"/>
            <a:ext cx="0" cy="78279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1262367" y="5039883"/>
            <a:ext cx="2016224" cy="306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angular"/>
          <p:cNvCxnSpPr>
            <a:stCxn id="46" idx="2"/>
          </p:cNvCxnSpPr>
          <p:nvPr/>
        </p:nvCxnSpPr>
        <p:spPr>
          <a:xfrm rot="5400000">
            <a:off x="1187624" y="5445220"/>
            <a:ext cx="360042" cy="180019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angular"/>
          <p:cNvCxnSpPr>
            <a:endCxn id="6" idx="1"/>
          </p:cNvCxnSpPr>
          <p:nvPr/>
        </p:nvCxnSpPr>
        <p:spPr>
          <a:xfrm rot="5400000" flipH="1" flipV="1">
            <a:off x="-949968" y="4315740"/>
            <a:ext cx="3627114" cy="79208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1547664" y="270891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547664" y="499458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Break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3275856" y="2898226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32 CuadroTexto"/>
          <p:cNvSpPr txBox="1"/>
          <p:nvPr/>
        </p:nvSpPr>
        <p:spPr>
          <a:xfrm>
            <a:off x="1813667" y="1196746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sp>
        <p:nvSpPr>
          <p:cNvPr id="29" name="28 Rectángulo"/>
          <p:cNvSpPr/>
          <p:nvPr/>
        </p:nvSpPr>
        <p:spPr>
          <a:xfrm>
            <a:off x="1259632" y="4293090"/>
            <a:ext cx="201622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CuadroTexto"/>
          <p:cNvSpPr txBox="1"/>
          <p:nvPr/>
        </p:nvSpPr>
        <p:spPr>
          <a:xfrm>
            <a:off x="1262367" y="4293090"/>
            <a:ext cx="2013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1</a:t>
            </a:r>
            <a:endParaRPr lang="es-AR" dirty="0"/>
          </a:p>
        </p:txBody>
      </p:sp>
      <p:cxnSp>
        <p:nvCxnSpPr>
          <p:cNvPr id="32" name="31 Conector recto de flecha"/>
          <p:cNvCxnSpPr>
            <a:stCxn id="29" idx="2"/>
            <a:endCxn id="16" idx="0"/>
          </p:cNvCxnSpPr>
          <p:nvPr/>
        </p:nvCxnSpPr>
        <p:spPr>
          <a:xfrm>
            <a:off x="2267744" y="4662422"/>
            <a:ext cx="2735" cy="37746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>
            <a:stCxn id="16" idx="3"/>
          </p:cNvCxnSpPr>
          <p:nvPr/>
        </p:nvCxnSpPr>
        <p:spPr>
          <a:xfrm>
            <a:off x="3278591" y="5192900"/>
            <a:ext cx="501321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Rectángulo"/>
          <p:cNvSpPr/>
          <p:nvPr/>
        </p:nvSpPr>
        <p:spPr>
          <a:xfrm>
            <a:off x="1259632" y="5859264"/>
            <a:ext cx="2016224" cy="306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46 CuadroTexto"/>
          <p:cNvSpPr txBox="1"/>
          <p:nvPr/>
        </p:nvSpPr>
        <p:spPr>
          <a:xfrm>
            <a:off x="1259632" y="5805258"/>
            <a:ext cx="2016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 2</a:t>
            </a:r>
            <a:endParaRPr lang="es-AR" dirty="0"/>
          </a:p>
        </p:txBody>
      </p:sp>
      <p:cxnSp>
        <p:nvCxnSpPr>
          <p:cNvPr id="48" name="47 Conector recto de flecha"/>
          <p:cNvCxnSpPr>
            <a:endCxn id="49" idx="0"/>
          </p:cNvCxnSpPr>
          <p:nvPr/>
        </p:nvCxnSpPr>
        <p:spPr>
          <a:xfrm flipH="1">
            <a:off x="6746096" y="1566076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48 Rectángulo"/>
          <p:cNvSpPr/>
          <p:nvPr/>
        </p:nvSpPr>
        <p:spPr>
          <a:xfrm>
            <a:off x="5737984" y="2286156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0" name="49 Conector recto de flecha"/>
          <p:cNvCxnSpPr>
            <a:stCxn id="49" idx="2"/>
            <a:endCxn id="60" idx="0"/>
          </p:cNvCxnSpPr>
          <p:nvPr/>
        </p:nvCxnSpPr>
        <p:spPr>
          <a:xfrm>
            <a:off x="6746096" y="3510292"/>
            <a:ext cx="0" cy="78279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Rectángulo"/>
          <p:cNvSpPr/>
          <p:nvPr/>
        </p:nvSpPr>
        <p:spPr>
          <a:xfrm>
            <a:off x="5740719" y="5039881"/>
            <a:ext cx="2016224" cy="306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2" name="51 Conector angular"/>
          <p:cNvCxnSpPr>
            <a:stCxn id="64" idx="2"/>
          </p:cNvCxnSpPr>
          <p:nvPr/>
        </p:nvCxnSpPr>
        <p:spPr>
          <a:xfrm rot="5400000">
            <a:off x="5665977" y="5445223"/>
            <a:ext cx="360046" cy="1800193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angular"/>
          <p:cNvCxnSpPr>
            <a:endCxn id="49" idx="1"/>
          </p:cNvCxnSpPr>
          <p:nvPr/>
        </p:nvCxnSpPr>
        <p:spPr>
          <a:xfrm rot="5400000" flipH="1" flipV="1">
            <a:off x="3528382" y="4315741"/>
            <a:ext cx="3627119" cy="792086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3 CuadroTexto"/>
          <p:cNvSpPr txBox="1"/>
          <p:nvPr/>
        </p:nvSpPr>
        <p:spPr>
          <a:xfrm>
            <a:off x="6026016" y="270891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¿A&lt;10?</a:t>
            </a:r>
            <a:endParaRPr lang="es-AR" dirty="0"/>
          </a:p>
        </p:txBody>
      </p:sp>
      <p:sp>
        <p:nvSpPr>
          <p:cNvPr id="55" name="54 CuadroTexto"/>
          <p:cNvSpPr txBox="1"/>
          <p:nvPr/>
        </p:nvSpPr>
        <p:spPr>
          <a:xfrm>
            <a:off x="6026016" y="499458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Break</a:t>
            </a:r>
            <a:endParaRPr lang="es-AR" dirty="0"/>
          </a:p>
        </p:txBody>
      </p:sp>
      <p:cxnSp>
        <p:nvCxnSpPr>
          <p:cNvPr id="57" name="56 Conector angular"/>
          <p:cNvCxnSpPr>
            <a:stCxn id="49" idx="3"/>
          </p:cNvCxnSpPr>
          <p:nvPr/>
        </p:nvCxnSpPr>
        <p:spPr>
          <a:xfrm>
            <a:off x="7754208" y="2898224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58 CuadroTexto"/>
          <p:cNvSpPr txBox="1"/>
          <p:nvPr/>
        </p:nvSpPr>
        <p:spPr>
          <a:xfrm>
            <a:off x="6292019" y="1196744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A=1</a:t>
            </a:r>
            <a:endParaRPr lang="es-AR" dirty="0"/>
          </a:p>
        </p:txBody>
      </p:sp>
      <p:sp>
        <p:nvSpPr>
          <p:cNvPr id="60" name="59 Rectángulo"/>
          <p:cNvSpPr/>
          <p:nvPr/>
        </p:nvSpPr>
        <p:spPr>
          <a:xfrm>
            <a:off x="5737984" y="4293088"/>
            <a:ext cx="201622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1" name="60 CuadroTexto"/>
          <p:cNvSpPr txBox="1"/>
          <p:nvPr/>
        </p:nvSpPr>
        <p:spPr>
          <a:xfrm>
            <a:off x="6026016" y="429308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A=A+1</a:t>
            </a:r>
            <a:endParaRPr lang="es-AR" dirty="0"/>
          </a:p>
        </p:txBody>
      </p:sp>
      <p:cxnSp>
        <p:nvCxnSpPr>
          <p:cNvPr id="62" name="61 Conector recto de flecha"/>
          <p:cNvCxnSpPr>
            <a:stCxn id="60" idx="2"/>
            <a:endCxn id="51" idx="0"/>
          </p:cNvCxnSpPr>
          <p:nvPr/>
        </p:nvCxnSpPr>
        <p:spPr>
          <a:xfrm>
            <a:off x="6746096" y="4662420"/>
            <a:ext cx="2735" cy="37746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62 Conector recto de flecha"/>
          <p:cNvCxnSpPr>
            <a:stCxn id="51" idx="3"/>
          </p:cNvCxnSpPr>
          <p:nvPr/>
        </p:nvCxnSpPr>
        <p:spPr>
          <a:xfrm>
            <a:off x="7756943" y="5192898"/>
            <a:ext cx="501321" cy="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63 Rectángulo"/>
          <p:cNvSpPr/>
          <p:nvPr/>
        </p:nvSpPr>
        <p:spPr>
          <a:xfrm>
            <a:off x="5737984" y="5805256"/>
            <a:ext cx="201622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5" name="64 CuadroTexto"/>
          <p:cNvSpPr txBox="1"/>
          <p:nvPr/>
        </p:nvSpPr>
        <p:spPr>
          <a:xfrm>
            <a:off x="6026016" y="5805256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A=A+1/2</a:t>
            </a:r>
            <a:endParaRPr lang="es-AR" dirty="0"/>
          </a:p>
        </p:txBody>
      </p:sp>
      <p:cxnSp>
        <p:nvCxnSpPr>
          <p:cNvPr id="68" name="67 Conector recto de flecha"/>
          <p:cNvCxnSpPr>
            <a:stCxn id="26" idx="2"/>
          </p:cNvCxnSpPr>
          <p:nvPr/>
        </p:nvCxnSpPr>
        <p:spPr>
          <a:xfrm>
            <a:off x="2231740" y="5363920"/>
            <a:ext cx="0" cy="513346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68 Conector recto de flecha"/>
          <p:cNvCxnSpPr>
            <a:stCxn id="51" idx="2"/>
            <a:endCxn id="64" idx="0"/>
          </p:cNvCxnSpPr>
          <p:nvPr/>
        </p:nvCxnSpPr>
        <p:spPr>
          <a:xfrm flipH="1">
            <a:off x="6746096" y="5345915"/>
            <a:ext cx="2735" cy="45934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41 CuadroTexto"/>
          <p:cNvSpPr txBox="1"/>
          <p:nvPr/>
        </p:nvSpPr>
        <p:spPr>
          <a:xfrm>
            <a:off x="7779197" y="6209409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A=2</a:t>
            </a:r>
            <a:endParaRPr lang="es-AR" dirty="0"/>
          </a:p>
        </p:txBody>
      </p:sp>
      <p:sp>
        <p:nvSpPr>
          <p:cNvPr id="43" name="42 CuadroTexto"/>
          <p:cNvSpPr txBox="1"/>
          <p:nvPr/>
        </p:nvSpPr>
        <p:spPr>
          <a:xfrm>
            <a:off x="3317756" y="239047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sp>
        <p:nvSpPr>
          <p:cNvPr id="44" name="43 CuadroTexto"/>
          <p:cNvSpPr txBox="1"/>
          <p:nvPr/>
        </p:nvSpPr>
        <p:spPr>
          <a:xfrm>
            <a:off x="2274671" y="3707740"/>
            <a:ext cx="128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66" name="65 CuadroTexto"/>
          <p:cNvSpPr txBox="1"/>
          <p:nvPr/>
        </p:nvSpPr>
        <p:spPr>
          <a:xfrm>
            <a:off x="7775325" y="234888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sp>
        <p:nvSpPr>
          <p:cNvPr id="67" name="66 CuadroTexto"/>
          <p:cNvSpPr txBox="1"/>
          <p:nvPr/>
        </p:nvSpPr>
        <p:spPr>
          <a:xfrm>
            <a:off x="6732240" y="3666142"/>
            <a:ext cx="128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56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Comando: Break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1418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Comando: Break</a:t>
            </a:r>
            <a:endParaRPr lang="es-AR" dirty="0"/>
          </a:p>
        </p:txBody>
      </p:sp>
      <p:sp>
        <p:nvSpPr>
          <p:cNvPr id="55" name="54 Rectángulo"/>
          <p:cNvSpPr/>
          <p:nvPr/>
        </p:nvSpPr>
        <p:spPr>
          <a:xfrm>
            <a:off x="2627784" y="1892559"/>
            <a:ext cx="4446240" cy="381642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57 Rectángulo"/>
          <p:cNvSpPr/>
          <p:nvPr/>
        </p:nvSpPr>
        <p:spPr>
          <a:xfrm>
            <a:off x="3563888" y="3195100"/>
            <a:ext cx="2782301" cy="15081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9" name="58 Rectángulo"/>
          <p:cNvSpPr/>
          <p:nvPr/>
        </p:nvSpPr>
        <p:spPr>
          <a:xfrm>
            <a:off x="3563888" y="3195100"/>
            <a:ext cx="2782302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dirty="0" smtClean="0"/>
              <a:t>While</a:t>
            </a:r>
          </a:p>
          <a:p>
            <a:pPr algn="ctr"/>
            <a:r>
              <a:rPr lang="en-US" sz="2000" dirty="0"/>
              <a:t>Break</a:t>
            </a:r>
            <a:r>
              <a:rPr lang="en-US" sz="500" dirty="0"/>
              <a:t>  </a:t>
            </a:r>
            <a:endParaRPr lang="es-AR" sz="500" dirty="0"/>
          </a:p>
        </p:txBody>
      </p:sp>
      <p:sp>
        <p:nvSpPr>
          <p:cNvPr id="7" name="6 Rectángulo"/>
          <p:cNvSpPr/>
          <p:nvPr/>
        </p:nvSpPr>
        <p:spPr>
          <a:xfrm>
            <a:off x="3849343" y="1987905"/>
            <a:ext cx="234230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dirty="0"/>
              <a:t>While</a:t>
            </a:r>
            <a:endParaRPr lang="en-US" dirty="0"/>
          </a:p>
        </p:txBody>
      </p:sp>
      <p:sp>
        <p:nvSpPr>
          <p:cNvPr id="8" name="7 Flecha curvada hacia abajo"/>
          <p:cNvSpPr/>
          <p:nvPr/>
        </p:nvSpPr>
        <p:spPr>
          <a:xfrm>
            <a:off x="6084168" y="3476754"/>
            <a:ext cx="864096" cy="64774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4000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4463294" y="4869160"/>
            <a:ext cx="11144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</a:rPr>
              <a:t>Break</a:t>
            </a:r>
            <a:r>
              <a:rPr lang="en-US" sz="700" dirty="0">
                <a:solidFill>
                  <a:schemeClr val="tx2">
                    <a:lumMod val="50000"/>
                  </a:schemeClr>
                </a:solidFill>
              </a:rPr>
              <a:t>  </a:t>
            </a:r>
            <a:endParaRPr lang="es-AR" sz="7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12 Flecha curvada hacia la derecha"/>
          <p:cNvSpPr/>
          <p:nvPr/>
        </p:nvSpPr>
        <p:spPr>
          <a:xfrm>
            <a:off x="4463294" y="5392380"/>
            <a:ext cx="557203" cy="91694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60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3419872" y="2276871"/>
            <a:ext cx="2160240" cy="396562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53 Rectángulo"/>
          <p:cNvSpPr/>
          <p:nvPr/>
        </p:nvSpPr>
        <p:spPr>
          <a:xfrm>
            <a:off x="3617640" y="2996952"/>
            <a:ext cx="1602432" cy="18722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3563888" y="1484784"/>
            <a:ext cx="475252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a=1</a:t>
            </a:r>
          </a:p>
          <a:p>
            <a:r>
              <a:rPr lang="en-US" sz="2400" dirty="0"/>
              <a:t>j=1</a:t>
            </a:r>
          </a:p>
          <a:p>
            <a:r>
              <a:rPr lang="en-US" sz="2400" dirty="0"/>
              <a:t>while a&lt;10</a:t>
            </a:r>
          </a:p>
          <a:p>
            <a:endParaRPr lang="en-US" sz="2400" dirty="0"/>
          </a:p>
          <a:p>
            <a:r>
              <a:rPr lang="en-US" sz="2400" dirty="0"/>
              <a:t>while j&lt;5</a:t>
            </a:r>
          </a:p>
          <a:p>
            <a:r>
              <a:rPr lang="en-US" sz="2400" dirty="0"/>
              <a:t>    j=j+1</a:t>
            </a:r>
          </a:p>
          <a:p>
            <a:r>
              <a:rPr lang="en-US" sz="2400" dirty="0"/>
              <a:t>    break</a:t>
            </a:r>
          </a:p>
          <a:p>
            <a:r>
              <a:rPr lang="en-US" sz="2400" dirty="0"/>
              <a:t>    </a:t>
            </a:r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dirty="0" smtClean="0"/>
              <a:t>end</a:t>
            </a:r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break</a:t>
            </a:r>
            <a:endParaRPr lang="en-US" sz="2400" dirty="0"/>
          </a:p>
          <a:p>
            <a:r>
              <a:rPr lang="en-US" sz="2400" dirty="0" smtClean="0"/>
              <a:t>a=a+1</a:t>
            </a:r>
            <a:endParaRPr lang="en-US" sz="2400" dirty="0"/>
          </a:p>
          <a:p>
            <a:r>
              <a:rPr lang="en-US" sz="2400" dirty="0"/>
              <a:t>end</a:t>
            </a:r>
            <a:endParaRPr lang="es-AR" sz="2400" dirty="0"/>
          </a:p>
        </p:txBody>
      </p:sp>
      <p:sp>
        <p:nvSpPr>
          <p:cNvPr id="13" name="12 Flecha curvada hacia abajo"/>
          <p:cNvSpPr/>
          <p:nvPr/>
        </p:nvSpPr>
        <p:spPr>
          <a:xfrm rot="5400000">
            <a:off x="4625916" y="4203071"/>
            <a:ext cx="1368153" cy="64774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4000">
              <a:solidFill>
                <a:schemeClr val="tx1"/>
              </a:solidFill>
            </a:endParaRPr>
          </a:p>
        </p:txBody>
      </p:sp>
      <p:sp>
        <p:nvSpPr>
          <p:cNvPr id="8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Comando: Break</a:t>
            </a:r>
            <a:endParaRPr lang="es-AR" dirty="0"/>
          </a:p>
        </p:txBody>
      </p:sp>
      <p:sp>
        <p:nvSpPr>
          <p:cNvPr id="7" name="6 Flecha curvada hacia abajo"/>
          <p:cNvSpPr/>
          <p:nvPr/>
        </p:nvSpPr>
        <p:spPr>
          <a:xfrm rot="5400000">
            <a:off x="4139786" y="5234549"/>
            <a:ext cx="1368153" cy="64774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4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253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2267744" y="1916832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259632" y="2636912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2267744" y="3861048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1262367" y="440110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angular"/>
          <p:cNvCxnSpPr>
            <a:stCxn id="16" idx="2"/>
          </p:cNvCxnSpPr>
          <p:nvPr/>
        </p:nvCxnSpPr>
        <p:spPr>
          <a:xfrm rot="5400000">
            <a:off x="1026974" y="5065815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angular"/>
          <p:cNvCxnSpPr>
            <a:endCxn id="6" idx="1"/>
          </p:cNvCxnSpPr>
          <p:nvPr/>
        </p:nvCxnSpPr>
        <p:spPr>
          <a:xfrm rot="5400000" flipH="1" flipV="1">
            <a:off x="-666582" y="4383107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1547664" y="305966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547664" y="477915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2339752" y="393305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3275856" y="3248980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3275856" y="292494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763688" y="1547500"/>
            <a:ext cx="103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cxnSp>
        <p:nvCxnSpPr>
          <p:cNvPr id="34" name="33 Conector recto de flecha"/>
          <p:cNvCxnSpPr>
            <a:endCxn id="35" idx="0"/>
          </p:cNvCxnSpPr>
          <p:nvPr/>
        </p:nvCxnSpPr>
        <p:spPr>
          <a:xfrm flipH="1">
            <a:off x="6372200" y="1916832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5364088" y="2636912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6" name="35 Conector recto de flecha"/>
          <p:cNvCxnSpPr>
            <a:stCxn id="35" idx="2"/>
            <a:endCxn id="37" idx="0"/>
          </p:cNvCxnSpPr>
          <p:nvPr/>
        </p:nvCxnSpPr>
        <p:spPr>
          <a:xfrm>
            <a:off x="6372200" y="3861048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"/>
          <p:cNvSpPr/>
          <p:nvPr/>
        </p:nvSpPr>
        <p:spPr>
          <a:xfrm>
            <a:off x="5366823" y="440110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8" name="37 Conector angular"/>
          <p:cNvCxnSpPr>
            <a:stCxn id="37" idx="2"/>
          </p:cNvCxnSpPr>
          <p:nvPr/>
        </p:nvCxnSpPr>
        <p:spPr>
          <a:xfrm rot="5400000">
            <a:off x="5131430" y="5065815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angular"/>
          <p:cNvCxnSpPr>
            <a:endCxn id="35" idx="1"/>
          </p:cNvCxnSpPr>
          <p:nvPr/>
        </p:nvCxnSpPr>
        <p:spPr>
          <a:xfrm rot="5400000" flipH="1" flipV="1">
            <a:off x="3437874" y="4383107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CuadroTexto"/>
          <p:cNvSpPr txBox="1"/>
          <p:nvPr/>
        </p:nvSpPr>
        <p:spPr>
          <a:xfrm>
            <a:off x="5652120" y="477915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B(i)=i+2</a:t>
            </a:r>
            <a:endParaRPr lang="es-AR" dirty="0"/>
          </a:p>
        </p:txBody>
      </p:sp>
      <p:sp>
        <p:nvSpPr>
          <p:cNvPr id="42" name="41 CuadroTexto"/>
          <p:cNvSpPr txBox="1"/>
          <p:nvPr/>
        </p:nvSpPr>
        <p:spPr>
          <a:xfrm>
            <a:off x="6444208" y="393305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43" name="42 Conector angular"/>
          <p:cNvCxnSpPr>
            <a:stCxn id="35" idx="3"/>
          </p:cNvCxnSpPr>
          <p:nvPr/>
        </p:nvCxnSpPr>
        <p:spPr>
          <a:xfrm>
            <a:off x="7380312" y="3248980"/>
            <a:ext cx="86409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CuadroTexto"/>
          <p:cNvSpPr txBox="1"/>
          <p:nvPr/>
        </p:nvSpPr>
        <p:spPr>
          <a:xfrm>
            <a:off x="7452320" y="292494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45" name="44 CuadroTexto"/>
          <p:cNvSpPr txBox="1"/>
          <p:nvPr/>
        </p:nvSpPr>
        <p:spPr>
          <a:xfrm>
            <a:off x="5774107" y="1547500"/>
            <a:ext cx="1246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/>
              <a:t>f</a:t>
            </a:r>
            <a:r>
              <a:rPr lang="es-AR" dirty="0" err="1" smtClean="0"/>
              <a:t>or</a:t>
            </a:r>
            <a:r>
              <a:rPr lang="es-AR" dirty="0" smtClean="0"/>
              <a:t>  i=1:10</a:t>
            </a:r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Loop</a:t>
            </a:r>
            <a:r>
              <a:rPr lang="es-AR" dirty="0" smtClean="0"/>
              <a:t>: </a:t>
            </a:r>
            <a:r>
              <a:rPr lang="es-AR" dirty="0" err="1" smtClean="0"/>
              <a:t>for</a:t>
            </a:r>
            <a:endParaRPr lang="es-AR" dirty="0"/>
          </a:p>
        </p:txBody>
      </p:sp>
      <p:sp>
        <p:nvSpPr>
          <p:cNvPr id="3" name="2 Flecha derecha"/>
          <p:cNvSpPr/>
          <p:nvPr/>
        </p:nvSpPr>
        <p:spPr>
          <a:xfrm rot="7249443">
            <a:off x="6810300" y="1101589"/>
            <a:ext cx="576064" cy="480700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31 Flecha derecha"/>
          <p:cNvSpPr/>
          <p:nvPr/>
        </p:nvSpPr>
        <p:spPr>
          <a:xfrm rot="7249443">
            <a:off x="6732240" y="2448816"/>
            <a:ext cx="576064" cy="480700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CuadroTexto"/>
          <p:cNvSpPr txBox="1"/>
          <p:nvPr/>
        </p:nvSpPr>
        <p:spPr>
          <a:xfrm>
            <a:off x="5724128" y="2926685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¿llegó al final de i?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8308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2267744" y="1916832"/>
            <a:ext cx="2736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259632" y="2636912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2267744" y="3861048"/>
            <a:ext cx="2735" cy="540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1262367" y="440110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angular"/>
          <p:cNvCxnSpPr>
            <a:stCxn id="16" idx="2"/>
          </p:cNvCxnSpPr>
          <p:nvPr/>
        </p:nvCxnSpPr>
        <p:spPr>
          <a:xfrm rot="5400000">
            <a:off x="1026974" y="5065815"/>
            <a:ext cx="684076" cy="18029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angular"/>
          <p:cNvCxnSpPr>
            <a:endCxn id="6" idx="1"/>
          </p:cNvCxnSpPr>
          <p:nvPr/>
        </p:nvCxnSpPr>
        <p:spPr>
          <a:xfrm rot="5400000" flipH="1" flipV="1">
            <a:off x="-666582" y="4383107"/>
            <a:ext cx="3060341" cy="79208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1547664" y="305966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547664" y="477915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2339752" y="393305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3275856" y="3248980"/>
            <a:ext cx="504056" cy="32763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3275856" y="292494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763688" y="1547500"/>
            <a:ext cx="1030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cxnSp>
        <p:nvCxnSpPr>
          <p:cNvPr id="34" name="33 Conector recto de flecha"/>
          <p:cNvCxnSpPr>
            <a:endCxn id="35" idx="0"/>
          </p:cNvCxnSpPr>
          <p:nvPr/>
        </p:nvCxnSpPr>
        <p:spPr>
          <a:xfrm flipH="1">
            <a:off x="6372200" y="1916832"/>
            <a:ext cx="2736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5364088" y="2636912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6" name="35 Conector recto de flecha"/>
          <p:cNvCxnSpPr>
            <a:stCxn id="35" idx="2"/>
            <a:endCxn id="37" idx="0"/>
          </p:cNvCxnSpPr>
          <p:nvPr/>
        </p:nvCxnSpPr>
        <p:spPr>
          <a:xfrm>
            <a:off x="6372200" y="3861048"/>
            <a:ext cx="2735" cy="540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"/>
          <p:cNvSpPr/>
          <p:nvPr/>
        </p:nvSpPr>
        <p:spPr>
          <a:xfrm>
            <a:off x="5366823" y="440110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8" name="37 Conector angular"/>
          <p:cNvCxnSpPr>
            <a:stCxn id="37" idx="2"/>
          </p:cNvCxnSpPr>
          <p:nvPr/>
        </p:nvCxnSpPr>
        <p:spPr>
          <a:xfrm rot="5400000">
            <a:off x="5131430" y="5065815"/>
            <a:ext cx="684076" cy="18029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angular"/>
          <p:cNvCxnSpPr>
            <a:endCxn id="35" idx="1"/>
          </p:cNvCxnSpPr>
          <p:nvPr/>
        </p:nvCxnSpPr>
        <p:spPr>
          <a:xfrm rot="5400000" flipH="1" flipV="1">
            <a:off x="3437874" y="4383107"/>
            <a:ext cx="3060341" cy="79208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CuadroTexto"/>
          <p:cNvSpPr txBox="1"/>
          <p:nvPr/>
        </p:nvSpPr>
        <p:spPr>
          <a:xfrm>
            <a:off x="5652120" y="477915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B(i)=i+2</a:t>
            </a:r>
            <a:endParaRPr lang="es-AR" dirty="0"/>
          </a:p>
        </p:txBody>
      </p:sp>
      <p:sp>
        <p:nvSpPr>
          <p:cNvPr id="42" name="41 CuadroTexto"/>
          <p:cNvSpPr txBox="1"/>
          <p:nvPr/>
        </p:nvSpPr>
        <p:spPr>
          <a:xfrm>
            <a:off x="6444208" y="393305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43" name="42 Conector angular"/>
          <p:cNvCxnSpPr>
            <a:stCxn id="35" idx="3"/>
          </p:cNvCxnSpPr>
          <p:nvPr/>
        </p:nvCxnSpPr>
        <p:spPr>
          <a:xfrm>
            <a:off x="7380312" y="3248980"/>
            <a:ext cx="864096" cy="32763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CuadroTexto"/>
          <p:cNvSpPr txBox="1"/>
          <p:nvPr/>
        </p:nvSpPr>
        <p:spPr>
          <a:xfrm>
            <a:off x="7452320" y="292494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45" name="44 CuadroTexto"/>
          <p:cNvSpPr txBox="1"/>
          <p:nvPr/>
        </p:nvSpPr>
        <p:spPr>
          <a:xfrm>
            <a:off x="5580112" y="1547500"/>
            <a:ext cx="1606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/>
              <a:t>f</a:t>
            </a:r>
            <a:r>
              <a:rPr lang="es-AR" dirty="0" err="1" smtClean="0"/>
              <a:t>or</a:t>
            </a:r>
            <a:r>
              <a:rPr lang="es-AR" dirty="0" smtClean="0"/>
              <a:t>  i=1:2:20</a:t>
            </a:r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0" y="518160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Loop</a:t>
            </a:r>
            <a:r>
              <a:rPr lang="es-AR" dirty="0" smtClean="0"/>
              <a:t>: </a:t>
            </a:r>
            <a:r>
              <a:rPr lang="es-AR" dirty="0" err="1" smtClean="0"/>
              <a:t>for</a:t>
            </a:r>
            <a:endParaRPr lang="es-AR" dirty="0"/>
          </a:p>
        </p:txBody>
      </p:sp>
      <p:cxnSp>
        <p:nvCxnSpPr>
          <p:cNvPr id="30" name="29 Conector recto de flecha"/>
          <p:cNvCxnSpPr/>
          <p:nvPr/>
        </p:nvCxnSpPr>
        <p:spPr>
          <a:xfrm flipH="1">
            <a:off x="2267744" y="1916832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>
            <a:off x="2267744" y="3861048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angular"/>
          <p:cNvCxnSpPr/>
          <p:nvPr/>
        </p:nvCxnSpPr>
        <p:spPr>
          <a:xfrm rot="5400000">
            <a:off x="1026974" y="5065815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angular"/>
          <p:cNvCxnSpPr/>
          <p:nvPr/>
        </p:nvCxnSpPr>
        <p:spPr>
          <a:xfrm rot="5400000" flipH="1" flipV="1">
            <a:off x="-666582" y="4383107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angular"/>
          <p:cNvCxnSpPr/>
          <p:nvPr/>
        </p:nvCxnSpPr>
        <p:spPr>
          <a:xfrm>
            <a:off x="3275856" y="3248980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 de flecha"/>
          <p:cNvCxnSpPr/>
          <p:nvPr/>
        </p:nvCxnSpPr>
        <p:spPr>
          <a:xfrm flipH="1">
            <a:off x="6372200" y="1916832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/>
          <p:nvPr/>
        </p:nvCxnSpPr>
        <p:spPr>
          <a:xfrm>
            <a:off x="6372200" y="3861048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angular"/>
          <p:cNvCxnSpPr/>
          <p:nvPr/>
        </p:nvCxnSpPr>
        <p:spPr>
          <a:xfrm rot="5400000">
            <a:off x="5131430" y="5065815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angular"/>
          <p:cNvCxnSpPr/>
          <p:nvPr/>
        </p:nvCxnSpPr>
        <p:spPr>
          <a:xfrm rot="5400000" flipH="1" flipV="1">
            <a:off x="3437874" y="4383107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angular"/>
          <p:cNvCxnSpPr/>
          <p:nvPr/>
        </p:nvCxnSpPr>
        <p:spPr>
          <a:xfrm>
            <a:off x="7380312" y="3248980"/>
            <a:ext cx="86409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53 Flecha derecha"/>
          <p:cNvSpPr/>
          <p:nvPr/>
        </p:nvSpPr>
        <p:spPr>
          <a:xfrm rot="7249443">
            <a:off x="6481982" y="1101588"/>
            <a:ext cx="576064" cy="480700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5" name="54 CuadroTexto"/>
          <p:cNvSpPr txBox="1"/>
          <p:nvPr/>
        </p:nvSpPr>
        <p:spPr>
          <a:xfrm>
            <a:off x="5724128" y="2926685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¿llegó al final de i?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5056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4 Conector recto de flecha"/>
          <p:cNvCxnSpPr>
            <a:endCxn id="6" idx="0"/>
          </p:cNvCxnSpPr>
          <p:nvPr/>
        </p:nvCxnSpPr>
        <p:spPr>
          <a:xfrm flipH="1">
            <a:off x="2267744" y="1916832"/>
            <a:ext cx="2736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Rectángulo"/>
          <p:cNvSpPr/>
          <p:nvPr/>
        </p:nvSpPr>
        <p:spPr>
          <a:xfrm>
            <a:off x="1259632" y="2636912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 de flecha"/>
          <p:cNvCxnSpPr>
            <a:stCxn id="6" idx="2"/>
            <a:endCxn id="16" idx="0"/>
          </p:cNvCxnSpPr>
          <p:nvPr/>
        </p:nvCxnSpPr>
        <p:spPr>
          <a:xfrm>
            <a:off x="2267744" y="3861048"/>
            <a:ext cx="2735" cy="540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Rectángulo"/>
          <p:cNvSpPr/>
          <p:nvPr/>
        </p:nvSpPr>
        <p:spPr>
          <a:xfrm>
            <a:off x="1262367" y="440110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0" name="19 Conector angular"/>
          <p:cNvCxnSpPr>
            <a:stCxn id="16" idx="2"/>
          </p:cNvCxnSpPr>
          <p:nvPr/>
        </p:nvCxnSpPr>
        <p:spPr>
          <a:xfrm rot="5400000">
            <a:off x="1026974" y="5065815"/>
            <a:ext cx="684076" cy="18029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angular"/>
          <p:cNvCxnSpPr>
            <a:endCxn id="6" idx="1"/>
          </p:cNvCxnSpPr>
          <p:nvPr/>
        </p:nvCxnSpPr>
        <p:spPr>
          <a:xfrm rot="5400000" flipH="1" flipV="1">
            <a:off x="-666582" y="4383107"/>
            <a:ext cx="3060341" cy="79208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1547664" y="3059668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Condición</a:t>
            </a:r>
            <a:endParaRPr lang="es-AR" dirty="0"/>
          </a:p>
        </p:txBody>
      </p:sp>
      <p:sp>
        <p:nvSpPr>
          <p:cNvPr id="26" name="25 CuadroTexto"/>
          <p:cNvSpPr txBox="1"/>
          <p:nvPr/>
        </p:nvSpPr>
        <p:spPr>
          <a:xfrm>
            <a:off x="1547664" y="477915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Sentencias</a:t>
            </a:r>
            <a:endParaRPr lang="es-AR" dirty="0"/>
          </a:p>
        </p:txBody>
      </p:sp>
      <p:sp>
        <p:nvSpPr>
          <p:cNvPr id="27" name="26 CuadroTexto"/>
          <p:cNvSpPr txBox="1"/>
          <p:nvPr/>
        </p:nvSpPr>
        <p:spPr>
          <a:xfrm>
            <a:off x="2339752" y="393305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28" name="27 Conector angular"/>
          <p:cNvCxnSpPr>
            <a:stCxn id="6" idx="3"/>
          </p:cNvCxnSpPr>
          <p:nvPr/>
        </p:nvCxnSpPr>
        <p:spPr>
          <a:xfrm>
            <a:off x="3275856" y="3248980"/>
            <a:ext cx="504056" cy="32763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30 CuadroTexto"/>
          <p:cNvSpPr txBox="1"/>
          <p:nvPr/>
        </p:nvSpPr>
        <p:spPr>
          <a:xfrm>
            <a:off x="3275856" y="292494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813667" y="1547500"/>
            <a:ext cx="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Entrada</a:t>
            </a:r>
            <a:endParaRPr lang="es-AR" dirty="0"/>
          </a:p>
        </p:txBody>
      </p:sp>
      <p:cxnSp>
        <p:nvCxnSpPr>
          <p:cNvPr id="34" name="33 Conector recto de flecha"/>
          <p:cNvCxnSpPr>
            <a:endCxn id="35" idx="0"/>
          </p:cNvCxnSpPr>
          <p:nvPr/>
        </p:nvCxnSpPr>
        <p:spPr>
          <a:xfrm flipH="1">
            <a:off x="6372200" y="1916832"/>
            <a:ext cx="2736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34 Rectángulo"/>
          <p:cNvSpPr/>
          <p:nvPr/>
        </p:nvSpPr>
        <p:spPr>
          <a:xfrm>
            <a:off x="5364088" y="2636912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6" name="35 Conector recto de flecha"/>
          <p:cNvCxnSpPr>
            <a:stCxn id="35" idx="2"/>
            <a:endCxn id="37" idx="0"/>
          </p:cNvCxnSpPr>
          <p:nvPr/>
        </p:nvCxnSpPr>
        <p:spPr>
          <a:xfrm>
            <a:off x="6372200" y="3861048"/>
            <a:ext cx="2735" cy="5400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"/>
          <p:cNvSpPr/>
          <p:nvPr/>
        </p:nvSpPr>
        <p:spPr>
          <a:xfrm>
            <a:off x="5366823" y="4401108"/>
            <a:ext cx="2016224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8" name="37 Conector angular"/>
          <p:cNvCxnSpPr>
            <a:stCxn id="37" idx="2"/>
          </p:cNvCxnSpPr>
          <p:nvPr/>
        </p:nvCxnSpPr>
        <p:spPr>
          <a:xfrm rot="5400000">
            <a:off x="5131430" y="5065815"/>
            <a:ext cx="684076" cy="18029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38 Conector angular"/>
          <p:cNvCxnSpPr>
            <a:endCxn id="35" idx="1"/>
          </p:cNvCxnSpPr>
          <p:nvPr/>
        </p:nvCxnSpPr>
        <p:spPr>
          <a:xfrm rot="5400000" flipH="1" flipV="1">
            <a:off x="3437874" y="4383107"/>
            <a:ext cx="3060341" cy="79208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CuadroTexto"/>
          <p:cNvSpPr txBox="1"/>
          <p:nvPr/>
        </p:nvSpPr>
        <p:spPr>
          <a:xfrm>
            <a:off x="5724128" y="2926685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¿llegó al final de P?</a:t>
            </a:r>
            <a:endParaRPr lang="es-AR" dirty="0"/>
          </a:p>
        </p:txBody>
      </p:sp>
      <p:sp>
        <p:nvSpPr>
          <p:cNvPr id="41" name="40 CuadroTexto"/>
          <p:cNvSpPr txBox="1"/>
          <p:nvPr/>
        </p:nvSpPr>
        <p:spPr>
          <a:xfrm>
            <a:off x="5652120" y="4779151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B(i)=P+2</a:t>
            </a:r>
          </a:p>
          <a:p>
            <a:pPr algn="ctr"/>
            <a:r>
              <a:rPr lang="es-AR" dirty="0" smtClean="0"/>
              <a:t>i=i+1</a:t>
            </a:r>
            <a:endParaRPr lang="es-AR" dirty="0"/>
          </a:p>
        </p:txBody>
      </p:sp>
      <p:sp>
        <p:nvSpPr>
          <p:cNvPr id="42" name="41 CuadroTexto"/>
          <p:cNvSpPr txBox="1"/>
          <p:nvPr/>
        </p:nvSpPr>
        <p:spPr>
          <a:xfrm>
            <a:off x="6444208" y="3933056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Falso</a:t>
            </a:r>
            <a:endParaRPr lang="es-AR" dirty="0"/>
          </a:p>
        </p:txBody>
      </p:sp>
      <p:cxnSp>
        <p:nvCxnSpPr>
          <p:cNvPr id="43" name="42 Conector angular"/>
          <p:cNvCxnSpPr>
            <a:stCxn id="35" idx="3"/>
          </p:cNvCxnSpPr>
          <p:nvPr/>
        </p:nvCxnSpPr>
        <p:spPr>
          <a:xfrm>
            <a:off x="7380312" y="3248980"/>
            <a:ext cx="864096" cy="327636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43 CuadroTexto"/>
          <p:cNvSpPr txBox="1"/>
          <p:nvPr/>
        </p:nvSpPr>
        <p:spPr>
          <a:xfrm>
            <a:off x="7452320" y="292494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Verdadero</a:t>
            </a:r>
            <a:endParaRPr lang="es-AR" dirty="0"/>
          </a:p>
        </p:txBody>
      </p:sp>
      <p:sp>
        <p:nvSpPr>
          <p:cNvPr id="45" name="44 CuadroTexto"/>
          <p:cNvSpPr txBox="1"/>
          <p:nvPr/>
        </p:nvSpPr>
        <p:spPr>
          <a:xfrm>
            <a:off x="5292080" y="1270501"/>
            <a:ext cx="2232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X=[8 , 1 , 6 , 2 , 4]</a:t>
            </a:r>
          </a:p>
          <a:p>
            <a:pPr algn="ctr"/>
            <a:r>
              <a:rPr lang="es-AR" dirty="0" err="1" smtClean="0"/>
              <a:t>for</a:t>
            </a:r>
            <a:r>
              <a:rPr lang="es-AR" dirty="0" smtClean="0"/>
              <a:t>  P=X</a:t>
            </a:r>
          </a:p>
        </p:txBody>
      </p:sp>
      <p:sp>
        <p:nvSpPr>
          <p:cNvPr id="29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Loop</a:t>
            </a:r>
            <a:r>
              <a:rPr lang="es-AR" dirty="0" smtClean="0"/>
              <a:t>: </a:t>
            </a:r>
            <a:r>
              <a:rPr lang="es-AR" dirty="0" err="1" smtClean="0"/>
              <a:t>for</a:t>
            </a:r>
            <a:endParaRPr lang="es-AR" dirty="0"/>
          </a:p>
        </p:txBody>
      </p:sp>
      <p:cxnSp>
        <p:nvCxnSpPr>
          <p:cNvPr id="30" name="29 Conector recto de flecha"/>
          <p:cNvCxnSpPr/>
          <p:nvPr/>
        </p:nvCxnSpPr>
        <p:spPr>
          <a:xfrm flipH="1">
            <a:off x="2267744" y="1916832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>
            <a:off x="2267744" y="3861048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45 Conector angular"/>
          <p:cNvCxnSpPr/>
          <p:nvPr/>
        </p:nvCxnSpPr>
        <p:spPr>
          <a:xfrm rot="5400000">
            <a:off x="1026974" y="5065815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angular"/>
          <p:cNvCxnSpPr/>
          <p:nvPr/>
        </p:nvCxnSpPr>
        <p:spPr>
          <a:xfrm rot="5400000" flipH="1" flipV="1">
            <a:off x="-666582" y="4383107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47 Conector angular"/>
          <p:cNvCxnSpPr/>
          <p:nvPr/>
        </p:nvCxnSpPr>
        <p:spPr>
          <a:xfrm>
            <a:off x="3275856" y="3248980"/>
            <a:ext cx="50405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48 Conector recto de flecha"/>
          <p:cNvCxnSpPr/>
          <p:nvPr/>
        </p:nvCxnSpPr>
        <p:spPr>
          <a:xfrm flipH="1">
            <a:off x="6372200" y="1916832"/>
            <a:ext cx="2736" cy="72008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 de flecha"/>
          <p:cNvCxnSpPr/>
          <p:nvPr/>
        </p:nvCxnSpPr>
        <p:spPr>
          <a:xfrm>
            <a:off x="6372200" y="3861048"/>
            <a:ext cx="2735" cy="54006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angular"/>
          <p:cNvCxnSpPr/>
          <p:nvPr/>
        </p:nvCxnSpPr>
        <p:spPr>
          <a:xfrm rot="5400000">
            <a:off x="5131430" y="5065815"/>
            <a:ext cx="684076" cy="1802935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angular"/>
          <p:cNvCxnSpPr/>
          <p:nvPr/>
        </p:nvCxnSpPr>
        <p:spPr>
          <a:xfrm rot="5400000" flipH="1" flipV="1">
            <a:off x="3437874" y="4383107"/>
            <a:ext cx="3060341" cy="792088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angular"/>
          <p:cNvCxnSpPr/>
          <p:nvPr/>
        </p:nvCxnSpPr>
        <p:spPr>
          <a:xfrm>
            <a:off x="7380312" y="3248980"/>
            <a:ext cx="864096" cy="3276364"/>
          </a:xfrm>
          <a:prstGeom prst="bentConnector2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35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Strings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0294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1289311"/>
            <a:ext cx="7520940" cy="3579849"/>
          </a:xfrm>
        </p:spPr>
        <p:txBody>
          <a:bodyPr>
            <a:normAutofit/>
          </a:bodyPr>
          <a:lstStyle/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3200" b="0" dirty="0"/>
              <a:t>Imprimir un texto en la consola</a:t>
            </a:r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3200" b="0" dirty="0"/>
              <a:t>Vectores o matrices de </a:t>
            </a:r>
            <a:r>
              <a:rPr lang="es-AR" sz="3200" b="0" dirty="0" err="1"/>
              <a:t>char</a:t>
            </a:r>
            <a:endParaRPr lang="es-AR" sz="3200" b="0" dirty="0"/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3200" b="0" dirty="0"/>
              <a:t>Guardar </a:t>
            </a:r>
            <a:r>
              <a:rPr lang="es-AR" sz="3200" b="0" dirty="0" err="1"/>
              <a:t>strings</a:t>
            </a:r>
            <a:r>
              <a:rPr lang="es-AR" sz="3200" b="0" dirty="0"/>
              <a:t> en variables</a:t>
            </a:r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3200" b="0" dirty="0"/>
              <a:t>Uso de índices en estas variables</a:t>
            </a:r>
          </a:p>
          <a:p>
            <a:pPr marL="0" indent="-468000"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3200" b="0" dirty="0"/>
              <a:t>Funciones aplicables a los </a:t>
            </a:r>
            <a:r>
              <a:rPr lang="es-AR" sz="3200" b="0" dirty="0" err="1"/>
              <a:t>strings</a:t>
            </a:r>
            <a:endParaRPr lang="es-AR" sz="3200" b="0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Strings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9967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Scilab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02592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81278" y="908720"/>
            <a:ext cx="9027225" cy="1015663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sz="2000" dirty="0" err="1"/>
              <a:t>mfprintf</a:t>
            </a:r>
            <a:r>
              <a:rPr lang="en-US" sz="2000" dirty="0"/>
              <a:t>(6,"These are the medical tests results of each patient\n</a:t>
            </a:r>
            <a:r>
              <a:rPr lang="en-US" sz="2000" dirty="0" smtClean="0"/>
              <a:t>");</a:t>
            </a:r>
          </a:p>
          <a:p>
            <a:pPr fontAlgn="ctr"/>
            <a:endParaRPr lang="en-US" sz="2000" dirty="0">
              <a:solidFill>
                <a:srgbClr val="32B9B9"/>
              </a:solidFill>
              <a:latin typeface="Monospaced"/>
            </a:endParaRPr>
          </a:p>
          <a:p>
            <a:pPr fontAlgn="ctr"/>
            <a:r>
              <a:rPr lang="en-US" sz="2000" dirty="0"/>
              <a:t>These are the medical test results of each </a:t>
            </a:r>
            <a:r>
              <a:rPr lang="en-US" sz="2000" dirty="0" smtClean="0"/>
              <a:t>patient</a:t>
            </a:r>
            <a:endParaRPr lang="es-AR" sz="20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Formato</a:t>
            </a:r>
            <a:endParaRPr lang="es-AR" dirty="0"/>
          </a:p>
        </p:txBody>
      </p:sp>
      <p:sp>
        <p:nvSpPr>
          <p:cNvPr id="5" name="4 Rectángulo"/>
          <p:cNvSpPr/>
          <p:nvPr/>
        </p:nvSpPr>
        <p:spPr>
          <a:xfrm>
            <a:off x="7020272" y="951111"/>
            <a:ext cx="360040" cy="338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000"/>
          </a:p>
        </p:txBody>
      </p:sp>
      <p:sp>
        <p:nvSpPr>
          <p:cNvPr id="47" name="46 Rectángulo"/>
          <p:cNvSpPr/>
          <p:nvPr/>
        </p:nvSpPr>
        <p:spPr>
          <a:xfrm>
            <a:off x="1043608" y="951111"/>
            <a:ext cx="288032" cy="338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000"/>
          </a:p>
        </p:txBody>
      </p:sp>
      <p:sp>
        <p:nvSpPr>
          <p:cNvPr id="3" name="2 Rectángulo"/>
          <p:cNvSpPr/>
          <p:nvPr/>
        </p:nvSpPr>
        <p:spPr>
          <a:xfrm>
            <a:off x="81279" y="1916832"/>
            <a:ext cx="9027225" cy="163121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MyString</a:t>
            </a:r>
            <a:r>
              <a:rPr lang="en-US" sz="2000" dirty="0" smtClean="0"/>
              <a:t>="These </a:t>
            </a:r>
            <a:r>
              <a:rPr lang="en-US" sz="2000" dirty="0"/>
              <a:t>are the medical tests results of each </a:t>
            </a:r>
            <a:r>
              <a:rPr lang="en-US" sz="2000" dirty="0" smtClean="0"/>
              <a:t>patient\n“</a:t>
            </a:r>
          </a:p>
          <a:p>
            <a:endParaRPr lang="en-US" sz="2000" dirty="0"/>
          </a:p>
          <a:p>
            <a:r>
              <a:rPr lang="en-US" sz="2000" dirty="0" err="1" smtClean="0"/>
              <a:t>mfprintf</a:t>
            </a:r>
            <a:r>
              <a:rPr lang="en-US" sz="2000" dirty="0" smtClean="0"/>
              <a:t>(6,MyString);</a:t>
            </a:r>
          </a:p>
          <a:p>
            <a:endParaRPr lang="en-US" sz="2000" dirty="0"/>
          </a:p>
          <a:p>
            <a:r>
              <a:rPr lang="en-US" sz="2000" dirty="0"/>
              <a:t>These are the medical test results of each </a:t>
            </a:r>
            <a:r>
              <a:rPr lang="en-US" sz="2000" dirty="0" smtClean="0"/>
              <a:t>patient</a:t>
            </a:r>
            <a:endParaRPr lang="es-AR" sz="2000" dirty="0"/>
          </a:p>
        </p:txBody>
      </p:sp>
      <p:sp>
        <p:nvSpPr>
          <p:cNvPr id="9" name="8 Rectángulo"/>
          <p:cNvSpPr/>
          <p:nvPr/>
        </p:nvSpPr>
        <p:spPr>
          <a:xfrm>
            <a:off x="81279" y="3525976"/>
            <a:ext cx="9027226" cy="163121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MyString</a:t>
            </a:r>
            <a:r>
              <a:rPr lang="en-US" sz="2000" dirty="0" smtClean="0"/>
              <a:t>=[“</a:t>
            </a:r>
            <a:r>
              <a:rPr lang="en-US" sz="2000" dirty="0" err="1" smtClean="0"/>
              <a:t>Hola</a:t>
            </a:r>
            <a:r>
              <a:rPr lang="en-US" sz="2000" dirty="0" smtClean="0"/>
              <a:t> “, “Como </a:t>
            </a:r>
            <a:r>
              <a:rPr lang="en-US" sz="2000" dirty="0" err="1" smtClean="0"/>
              <a:t>andan</a:t>
            </a:r>
            <a:r>
              <a:rPr lang="en-US" sz="2000" dirty="0" smtClean="0"/>
              <a:t>?”, “Que bonito </a:t>
            </a:r>
            <a:r>
              <a:rPr lang="en-US" sz="2000" dirty="0" err="1" smtClean="0"/>
              <a:t>día</a:t>
            </a:r>
            <a:r>
              <a:rPr lang="en-US" sz="2000" dirty="0" smtClean="0"/>
              <a:t>”]</a:t>
            </a:r>
          </a:p>
          <a:p>
            <a:endParaRPr lang="en-US" sz="2000" dirty="0"/>
          </a:p>
          <a:p>
            <a:r>
              <a:rPr lang="en-US" sz="2000" dirty="0" err="1" smtClean="0"/>
              <a:t>MyString</a:t>
            </a:r>
            <a:r>
              <a:rPr lang="en-US" sz="2000" dirty="0" smtClean="0"/>
              <a:t>(1:2)</a:t>
            </a:r>
          </a:p>
          <a:p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Hola</a:t>
            </a:r>
            <a:r>
              <a:rPr lang="en-US" sz="2000" dirty="0"/>
              <a:t> “, “Como </a:t>
            </a:r>
            <a:r>
              <a:rPr lang="en-US" sz="2000" dirty="0" err="1"/>
              <a:t>andan</a:t>
            </a:r>
            <a:r>
              <a:rPr lang="en-US" sz="2000" dirty="0" smtClean="0"/>
              <a:t>?”</a:t>
            </a:r>
            <a:endParaRPr lang="es-AR" sz="2000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1280" y="5157192"/>
            <a:ext cx="9027224" cy="106182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s-AR" altLang="es-AR" sz="1600" dirty="0" smtClean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500" dirty="0" err="1" smtClean="0"/>
              <a:t>mfprintf</a:t>
            </a:r>
            <a:r>
              <a:rPr lang="es-AR" altLang="es-AR" sz="1500" dirty="0" smtClean="0"/>
              <a:t>(6,</a:t>
            </a:r>
            <a:r>
              <a:rPr lang="de-DE" sz="1500" dirty="0"/>
              <a:t> "Patient %d: Results: T1= %2.2f T2=%2d%% Bd1= %g </a:t>
            </a:r>
            <a:r>
              <a:rPr lang="de-DE" sz="1500" dirty="0" smtClean="0"/>
              <a:t> </a:t>
            </a:r>
            <a:r>
              <a:rPr lang="de-DE" sz="1500" dirty="0"/>
              <a:t>Bd2= %e Hb= %s\n</a:t>
            </a:r>
            <a:r>
              <a:rPr lang="de-DE" sz="1500" dirty="0" smtClean="0"/>
              <a:t>",[0:2],3,4,"</a:t>
            </a:r>
            <a:r>
              <a:rPr lang="de-DE" sz="1500" dirty="0"/>
              <a:t>OK"</a:t>
            </a:r>
            <a:r>
              <a:rPr lang="es-AR" altLang="es-AR" sz="1500" dirty="0" smtClean="0"/>
              <a:t>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s-AR" altLang="es-AR" sz="16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AR" sz="1500" dirty="0" err="1"/>
              <a:t>Patient</a:t>
            </a:r>
            <a:r>
              <a:rPr lang="es-AR" sz="1500" dirty="0"/>
              <a:t> 0: </a:t>
            </a:r>
            <a:r>
              <a:rPr lang="es-AR" sz="1500" dirty="0" err="1"/>
              <a:t>Results</a:t>
            </a:r>
            <a:r>
              <a:rPr lang="es-AR" sz="1500" dirty="0"/>
              <a:t>: T1= 1.00   T2= 2%  </a:t>
            </a:r>
            <a:r>
              <a:rPr lang="es-AR" sz="1500" dirty="0" smtClean="0"/>
              <a:t>Bd1</a:t>
            </a:r>
            <a:r>
              <a:rPr lang="es-AR" sz="1500" dirty="0"/>
              <a:t>= </a:t>
            </a:r>
            <a:r>
              <a:rPr lang="es-AR" sz="1500" dirty="0" smtClean="0"/>
              <a:t>3 </a:t>
            </a:r>
            <a:r>
              <a:rPr lang="es-AR" sz="1500" dirty="0"/>
              <a:t>Bd2= 4</a:t>
            </a:r>
            <a:r>
              <a:rPr lang="es-AR" sz="1500" dirty="0" smtClean="0"/>
              <a:t>.000000e+00 </a:t>
            </a:r>
            <a:r>
              <a:rPr lang="es-AR" sz="1500" dirty="0" err="1"/>
              <a:t>Hb</a:t>
            </a:r>
            <a:r>
              <a:rPr lang="es-AR" sz="1500" dirty="0"/>
              <a:t>= OK 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799960" y="5460249"/>
            <a:ext cx="288032" cy="209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4154498" y="5465927"/>
            <a:ext cx="752502" cy="2039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3014584" y="5938043"/>
            <a:ext cx="333280" cy="2039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5428996" y="5493754"/>
            <a:ext cx="324128" cy="202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6306739" y="5484814"/>
            <a:ext cx="332992" cy="19151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7065232" y="5483342"/>
            <a:ext cx="459095" cy="180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ectángulo"/>
          <p:cNvSpPr/>
          <p:nvPr/>
        </p:nvSpPr>
        <p:spPr>
          <a:xfrm>
            <a:off x="6306739" y="5942931"/>
            <a:ext cx="281485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8347273" y="5483342"/>
            <a:ext cx="450690" cy="19299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8014860" y="5497953"/>
            <a:ext cx="144016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8172074" y="5501009"/>
            <a:ext cx="162000" cy="1800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Rectángulo"/>
          <p:cNvSpPr/>
          <p:nvPr/>
        </p:nvSpPr>
        <p:spPr>
          <a:xfrm>
            <a:off x="792000" y="5963995"/>
            <a:ext cx="144016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Rectángulo"/>
          <p:cNvSpPr/>
          <p:nvPr/>
        </p:nvSpPr>
        <p:spPr>
          <a:xfrm>
            <a:off x="3275880" y="5465342"/>
            <a:ext cx="530792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Rectángulo"/>
          <p:cNvSpPr/>
          <p:nvPr/>
        </p:nvSpPr>
        <p:spPr>
          <a:xfrm>
            <a:off x="2162432" y="5938043"/>
            <a:ext cx="393343" cy="2039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3923928" y="5964867"/>
            <a:ext cx="144032" cy="178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ectángulo"/>
          <p:cNvSpPr/>
          <p:nvPr/>
        </p:nvSpPr>
        <p:spPr>
          <a:xfrm>
            <a:off x="4561864" y="5955172"/>
            <a:ext cx="1350912" cy="19151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Rectángulo"/>
          <p:cNvSpPr/>
          <p:nvPr/>
        </p:nvSpPr>
        <p:spPr>
          <a:xfrm>
            <a:off x="7617210" y="5497953"/>
            <a:ext cx="384413" cy="180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1193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47" grpId="0" animBg="1"/>
      <p:bldP spid="47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9" grpId="0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0" y="5036983"/>
            <a:ext cx="9124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/>
              <a:t>Patient 2: Results: T1= 26.930000   T2=  3%  Bd1= </a:t>
            </a:r>
            <a:r>
              <a:rPr lang="de-DE" dirty="0" smtClean="0"/>
              <a:t>4.037000e+01 </a:t>
            </a:r>
            <a:r>
              <a:rPr lang="de-DE" dirty="0"/>
              <a:t>Bd2=28.06 Hb= NOK</a:t>
            </a:r>
          </a:p>
          <a:p>
            <a:r>
              <a:rPr lang="de-DE" dirty="0"/>
              <a:t>Patient 3: Results: T1= 63.250000   T2= 15%  Bd1= </a:t>
            </a:r>
            <a:r>
              <a:rPr lang="de-DE" dirty="0" smtClean="0"/>
              <a:t>4.818000e+01 </a:t>
            </a:r>
            <a:r>
              <a:rPr lang="de-DE" dirty="0"/>
              <a:t>Bd2=50 Hb= NOK</a:t>
            </a:r>
          </a:p>
          <a:p>
            <a:r>
              <a:rPr lang="de-DE" dirty="0"/>
              <a:t>Patient 4: Results: T1= 40.510000   T2= 25%  Bd1= </a:t>
            </a:r>
            <a:r>
              <a:rPr lang="de-DE" dirty="0" smtClean="0"/>
              <a:t>4.148000e+01 </a:t>
            </a:r>
            <a:r>
              <a:rPr lang="de-DE" dirty="0"/>
              <a:t>Bd2=40 Hb= NOK</a:t>
            </a:r>
          </a:p>
          <a:p>
            <a:r>
              <a:rPr lang="de-DE" dirty="0"/>
              <a:t>Patient 5: Results: T1= 91.840000   T2= 48%  Bd1= </a:t>
            </a:r>
            <a:r>
              <a:rPr lang="de-DE" dirty="0" smtClean="0"/>
              <a:t>2.639000e+01 </a:t>
            </a:r>
            <a:r>
              <a:rPr lang="de-DE" dirty="0"/>
              <a:t>Bd2=77.83 Hb= OK</a:t>
            </a:r>
            <a:endParaRPr lang="es-AR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Scilab</a:t>
            </a:r>
            <a:endParaRPr lang="es-AR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222859"/>
              </p:ext>
            </p:extLst>
          </p:nvPr>
        </p:nvGraphicFramePr>
        <p:xfrm>
          <a:off x="0" y="4154408"/>
          <a:ext cx="9124916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2491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2800" u="none" strike="noStrike" dirty="0" err="1" smtClean="0">
                          <a:effectLst/>
                        </a:rPr>
                        <a:t>mfprintf</a:t>
                      </a:r>
                      <a:r>
                        <a:rPr lang="es-AR" sz="2800" u="none" strike="noStrike" dirty="0" smtClean="0">
                          <a:effectLst/>
                        </a:rPr>
                        <a:t>(6,MyString,F(:,</a:t>
                      </a:r>
                      <a:r>
                        <a:rPr lang="es-AR" sz="2800" u="none" strike="noStrike" dirty="0" smtClean="0">
                          <a:effectLst/>
                          <a:sym typeface="Wingdings" panose="05000000000000000000" pitchFamily="2" charset="2"/>
                        </a:rPr>
                        <a:t>1)</a:t>
                      </a:r>
                      <a:r>
                        <a:rPr lang="es-AR" sz="2800" u="none" strike="noStrike" dirty="0" smtClean="0">
                          <a:effectLst/>
                        </a:rPr>
                        <a:t>,F(:,2),F(:,3),F(:,4),F(:,5),</a:t>
                      </a:r>
                      <a:r>
                        <a:rPr lang="es-AR" sz="2800" u="none" strike="noStrike" dirty="0" err="1" smtClean="0">
                          <a:effectLst/>
                        </a:rPr>
                        <a:t>Hb</a:t>
                      </a:r>
                      <a:r>
                        <a:rPr lang="es-AR" sz="2800" u="none" strike="noStrike" dirty="0" smtClean="0">
                          <a:effectLst/>
                        </a:rPr>
                        <a:t>)</a:t>
                      </a:r>
                      <a:endParaRPr lang="es-AR" sz="2800" b="0" i="0" u="none" strike="noStrike" dirty="0">
                        <a:solidFill>
                          <a:srgbClr val="32B9B9"/>
                        </a:solidFill>
                        <a:effectLst/>
                        <a:latin typeface="Monospaced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187156"/>
              </p:ext>
            </p:extLst>
          </p:nvPr>
        </p:nvGraphicFramePr>
        <p:xfrm>
          <a:off x="1644352" y="128676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Patient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Hb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26.93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3,62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40,37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63.25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15,04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40.51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40,51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41,48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91.84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91,84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26,39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77,83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9" name="28 Rectángulo"/>
          <p:cNvSpPr/>
          <p:nvPr/>
        </p:nvSpPr>
        <p:spPr>
          <a:xfrm>
            <a:off x="0" y="3419708"/>
            <a:ext cx="9124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MyString</a:t>
            </a:r>
            <a:r>
              <a:rPr lang="en-US" dirty="0" smtClean="0"/>
              <a:t>="</a:t>
            </a:r>
            <a:r>
              <a:rPr lang="de-DE" dirty="0"/>
              <a:t>Patient %d: Results: T1= %2.2f T2=%2d%% Bd1= %g  Bd2= %e Hb= %s\n</a:t>
            </a:r>
            <a:r>
              <a:rPr lang="de-DE" dirty="0" smtClean="0"/>
              <a:t>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53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565" y="1484783"/>
            <a:ext cx="897899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600" dirty="0" err="1"/>
              <a:t>mfprintf</a:t>
            </a:r>
            <a:r>
              <a:rPr lang="es-AR" altLang="es-AR" sz="1600" dirty="0"/>
              <a:t>(6</a:t>
            </a:r>
            <a:r>
              <a:rPr lang="es-AR" altLang="es-AR" sz="1600" dirty="0" smtClean="0"/>
              <a:t>,</a:t>
            </a:r>
            <a:r>
              <a:rPr lang="de-DE" sz="1600" dirty="0"/>
              <a:t> "Patient %d: Results: T1= %2.2f T2=%2d%% Bd1= %g </a:t>
            </a:r>
            <a:r>
              <a:rPr lang="de-DE" sz="1600" dirty="0" smtClean="0"/>
              <a:t> </a:t>
            </a:r>
            <a:r>
              <a:rPr lang="de-DE" sz="1600" dirty="0"/>
              <a:t>Bd2= %e Hb= %s\n</a:t>
            </a:r>
            <a:r>
              <a:rPr lang="de-DE" sz="1600" dirty="0" smtClean="0"/>
              <a:t>",[0:2],3,4,"</a:t>
            </a:r>
            <a:r>
              <a:rPr lang="de-DE" sz="1600" dirty="0"/>
              <a:t>OK"</a:t>
            </a:r>
            <a:r>
              <a:rPr lang="es-AR" altLang="es-AR" sz="1600" dirty="0" smtClean="0"/>
              <a:t>);</a:t>
            </a:r>
            <a:endParaRPr lang="es-AR" altLang="es-AR" sz="1600" dirty="0"/>
          </a:p>
        </p:txBody>
      </p:sp>
      <p:sp>
        <p:nvSpPr>
          <p:cNvPr id="6" name="5 Rectángulo"/>
          <p:cNvSpPr/>
          <p:nvPr/>
        </p:nvSpPr>
        <p:spPr>
          <a:xfrm>
            <a:off x="1728000" y="1556794"/>
            <a:ext cx="288000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3131840" y="1572432"/>
            <a:ext cx="504056" cy="1660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Rectángulo"/>
          <p:cNvSpPr/>
          <p:nvPr/>
        </p:nvSpPr>
        <p:spPr>
          <a:xfrm>
            <a:off x="3995936" y="1570788"/>
            <a:ext cx="648072" cy="1660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Rectángulo"/>
          <p:cNvSpPr/>
          <p:nvPr/>
        </p:nvSpPr>
        <p:spPr>
          <a:xfrm>
            <a:off x="5112088" y="1556792"/>
            <a:ext cx="324008" cy="202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5940152" y="1555195"/>
            <a:ext cx="251880" cy="1915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6588224" y="1570788"/>
            <a:ext cx="252000" cy="180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Rectángulo"/>
          <p:cNvSpPr/>
          <p:nvPr/>
        </p:nvSpPr>
        <p:spPr>
          <a:xfrm>
            <a:off x="7120433" y="1563791"/>
            <a:ext cx="396000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30 Rectángulo"/>
          <p:cNvSpPr/>
          <p:nvPr/>
        </p:nvSpPr>
        <p:spPr>
          <a:xfrm>
            <a:off x="107504" y="1879554"/>
            <a:ext cx="8784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 err="1" smtClean="0"/>
              <a:t>Patient</a:t>
            </a:r>
            <a:r>
              <a:rPr lang="es-AR" sz="1600" dirty="0" smtClean="0"/>
              <a:t> 0: </a:t>
            </a:r>
            <a:r>
              <a:rPr lang="es-AR" sz="1600" dirty="0" err="1"/>
              <a:t>Results</a:t>
            </a:r>
            <a:r>
              <a:rPr lang="es-AR" sz="1600" dirty="0"/>
              <a:t>: </a:t>
            </a:r>
            <a:r>
              <a:rPr lang="es-AR" sz="1600" dirty="0" smtClean="0"/>
              <a:t>T1= 1.00   T2= 2%  </a:t>
            </a:r>
            <a:r>
              <a:rPr lang="es-AR" sz="1600" dirty="0" err="1" smtClean="0"/>
              <a:t>Hb</a:t>
            </a:r>
            <a:r>
              <a:rPr lang="es-AR" sz="1600" dirty="0" smtClean="0"/>
              <a:t>= OK Bd1= 4 Bd2= </a:t>
            </a:r>
            <a:r>
              <a:rPr lang="es-AR" sz="1600" dirty="0"/>
              <a:t>5.000000e+00</a:t>
            </a:r>
          </a:p>
        </p:txBody>
      </p:sp>
      <p:sp>
        <p:nvSpPr>
          <p:cNvPr id="32" name="31 Rectángulo"/>
          <p:cNvSpPr/>
          <p:nvPr/>
        </p:nvSpPr>
        <p:spPr>
          <a:xfrm>
            <a:off x="7873458" y="1556794"/>
            <a:ext cx="432048" cy="21677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Rectángulo"/>
          <p:cNvSpPr/>
          <p:nvPr/>
        </p:nvSpPr>
        <p:spPr>
          <a:xfrm>
            <a:off x="7559984" y="1567578"/>
            <a:ext cx="144016" cy="191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34 Rectángulo"/>
          <p:cNvSpPr/>
          <p:nvPr/>
        </p:nvSpPr>
        <p:spPr>
          <a:xfrm>
            <a:off x="7703984" y="1571952"/>
            <a:ext cx="144000" cy="1800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8611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30" grpId="0" animBg="1"/>
      <p:bldP spid="30" grpId="1" animBg="1"/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>
            <a:spLocks noChangeArrowheads="1"/>
          </p:cNvSpPr>
          <p:nvPr/>
        </p:nvSpPr>
        <p:spPr bwMode="auto">
          <a:xfrm>
            <a:off x="-35496" y="1916832"/>
            <a:ext cx="94558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600" dirty="0" err="1"/>
              <a:t>mfprintf</a:t>
            </a:r>
            <a:r>
              <a:rPr lang="es-AR" altLang="es-AR" sz="1600" dirty="0"/>
              <a:t>(6</a:t>
            </a:r>
            <a:r>
              <a:rPr lang="es-AR" altLang="es-AR" sz="1600" dirty="0" smtClean="0"/>
              <a:t>,</a:t>
            </a:r>
            <a:r>
              <a:rPr lang="de-DE" sz="1600" dirty="0"/>
              <a:t> "Patient %d: Results: T1= </a:t>
            </a:r>
            <a:r>
              <a:rPr lang="de-DE" sz="1600" dirty="0" smtClean="0"/>
              <a:t>%4.2f </a:t>
            </a:r>
            <a:r>
              <a:rPr lang="de-DE" sz="1600" dirty="0"/>
              <a:t>T2=%2d%% Bd1= %</a:t>
            </a:r>
            <a:r>
              <a:rPr lang="de-DE" sz="1600" dirty="0" smtClean="0"/>
              <a:t>g </a:t>
            </a:r>
            <a:r>
              <a:rPr lang="de-DE" sz="1600" dirty="0"/>
              <a:t>Bd2= %e Hb= %s\n</a:t>
            </a:r>
            <a:r>
              <a:rPr lang="de-DE" sz="1600" dirty="0" smtClean="0"/>
              <a:t>",[1:3],4,1567,5,154,"</a:t>
            </a:r>
            <a:r>
              <a:rPr lang="de-DE" sz="1600" dirty="0"/>
              <a:t>OK"</a:t>
            </a:r>
            <a:r>
              <a:rPr lang="es-AR" altLang="es-AR" sz="1600" dirty="0" smtClean="0"/>
              <a:t>);</a:t>
            </a:r>
            <a:endParaRPr lang="es-AR" altLang="es-AR" sz="1600" dirty="0"/>
          </a:p>
        </p:txBody>
      </p:sp>
      <p:cxnSp>
        <p:nvCxnSpPr>
          <p:cNvPr id="13" name="12 Conector recto de flecha"/>
          <p:cNvCxnSpPr/>
          <p:nvPr/>
        </p:nvCxnSpPr>
        <p:spPr>
          <a:xfrm flipH="1" flipV="1">
            <a:off x="2448272" y="1240681"/>
            <a:ext cx="936104" cy="7477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288032" y="378907"/>
            <a:ext cx="28803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4 </a:t>
            </a:r>
            <a:r>
              <a:rPr lang="es-AR" sz="1600" dirty="0" err="1" smtClean="0"/>
              <a:t>digit</a:t>
            </a:r>
            <a:r>
              <a:rPr lang="es-AR" sz="1600" dirty="0" smtClean="0"/>
              <a:t> </a:t>
            </a:r>
            <a:r>
              <a:rPr lang="es-AR" sz="1600" dirty="0" err="1" smtClean="0"/>
              <a:t>number</a:t>
            </a:r>
            <a:endParaRPr lang="es-A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2 decimales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err="1" smtClean="0"/>
              <a:t>Notacion</a:t>
            </a:r>
            <a:r>
              <a:rPr lang="es-AR" sz="1600" dirty="0" smtClean="0"/>
              <a:t> de punto flotante</a:t>
            </a:r>
          </a:p>
        </p:txBody>
      </p:sp>
      <p:cxnSp>
        <p:nvCxnSpPr>
          <p:cNvPr id="15" name="14 Conector recto de flecha"/>
          <p:cNvCxnSpPr/>
          <p:nvPr/>
        </p:nvCxnSpPr>
        <p:spPr>
          <a:xfrm flipH="1" flipV="1">
            <a:off x="1080120" y="1700808"/>
            <a:ext cx="792088" cy="2876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CuadroTexto"/>
          <p:cNvSpPr txBox="1"/>
          <p:nvPr/>
        </p:nvSpPr>
        <p:spPr>
          <a:xfrm>
            <a:off x="101774" y="1291625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Uso de </a:t>
            </a:r>
            <a:r>
              <a:rPr lang="es-AR" sz="1600" dirty="0" err="1" smtClean="0"/>
              <a:t>integers</a:t>
            </a:r>
            <a:endParaRPr lang="es-AR" sz="1600" dirty="0"/>
          </a:p>
        </p:txBody>
      </p:sp>
      <p:cxnSp>
        <p:nvCxnSpPr>
          <p:cNvPr id="18" name="17 Conector recto de flecha"/>
          <p:cNvCxnSpPr>
            <a:stCxn id="44" idx="0"/>
            <a:endCxn id="19" idx="2"/>
          </p:cNvCxnSpPr>
          <p:nvPr/>
        </p:nvCxnSpPr>
        <p:spPr>
          <a:xfrm flipH="1" flipV="1">
            <a:off x="3688160" y="978406"/>
            <a:ext cx="533309" cy="1024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2592288" y="116632"/>
            <a:ext cx="21917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2 </a:t>
            </a:r>
            <a:r>
              <a:rPr lang="es-AR" sz="1600" dirty="0" err="1" smtClean="0"/>
              <a:t>digitos</a:t>
            </a:r>
            <a:endParaRPr lang="es-A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“d” es similar a “i”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Introduce “%”  </a:t>
            </a:r>
          </a:p>
        </p:txBody>
      </p:sp>
      <p:cxnSp>
        <p:nvCxnSpPr>
          <p:cNvPr id="22" name="21 Conector recto de flecha"/>
          <p:cNvCxnSpPr>
            <a:stCxn id="45" idx="0"/>
          </p:cNvCxnSpPr>
          <p:nvPr/>
        </p:nvCxnSpPr>
        <p:spPr>
          <a:xfrm flipV="1">
            <a:off x="5220752" y="1450528"/>
            <a:ext cx="0" cy="537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4104456" y="908720"/>
            <a:ext cx="224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Notación científica compacta</a:t>
            </a:r>
            <a:endParaRPr lang="es-AR" sz="1600" dirty="0"/>
          </a:p>
        </p:txBody>
      </p:sp>
      <p:cxnSp>
        <p:nvCxnSpPr>
          <p:cNvPr id="25" name="24 Conector recto de flecha"/>
          <p:cNvCxnSpPr>
            <a:stCxn id="46" idx="0"/>
          </p:cNvCxnSpPr>
          <p:nvPr/>
        </p:nvCxnSpPr>
        <p:spPr>
          <a:xfrm flipV="1">
            <a:off x="5976664" y="1110051"/>
            <a:ext cx="684248" cy="8787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uadroTexto"/>
          <p:cNvSpPr txBox="1"/>
          <p:nvPr/>
        </p:nvSpPr>
        <p:spPr>
          <a:xfrm>
            <a:off x="6228520" y="804863"/>
            <a:ext cx="3419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 smtClean="0"/>
              <a:t>Notación científica extensa</a:t>
            </a:r>
            <a:endParaRPr lang="es-AR" sz="1600" dirty="0"/>
          </a:p>
        </p:txBody>
      </p:sp>
      <p:cxnSp>
        <p:nvCxnSpPr>
          <p:cNvPr id="28" name="27 Conector recto de flecha"/>
          <p:cNvCxnSpPr>
            <a:stCxn id="47" idx="0"/>
          </p:cNvCxnSpPr>
          <p:nvPr/>
        </p:nvCxnSpPr>
        <p:spPr>
          <a:xfrm flipV="1">
            <a:off x="6624736" y="1633286"/>
            <a:ext cx="180020" cy="3459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28 CuadroTexto"/>
          <p:cNvSpPr txBox="1"/>
          <p:nvPr/>
        </p:nvSpPr>
        <p:spPr>
          <a:xfrm>
            <a:off x="6912768" y="1303956"/>
            <a:ext cx="3419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 smtClean="0"/>
              <a:t>“s” introduce un </a:t>
            </a:r>
            <a:r>
              <a:rPr lang="es-AR" sz="1600" dirty="0" err="1" smtClean="0"/>
              <a:t>string</a:t>
            </a:r>
            <a:endParaRPr lang="es-AR" sz="1600" dirty="0"/>
          </a:p>
        </p:txBody>
      </p:sp>
      <p:sp>
        <p:nvSpPr>
          <p:cNvPr id="42" name="41 Rectángulo"/>
          <p:cNvSpPr/>
          <p:nvPr/>
        </p:nvSpPr>
        <p:spPr>
          <a:xfrm>
            <a:off x="1728192" y="1988478"/>
            <a:ext cx="216024" cy="2252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42 Rectángulo"/>
          <p:cNvSpPr/>
          <p:nvPr/>
        </p:nvSpPr>
        <p:spPr>
          <a:xfrm>
            <a:off x="3096344" y="2002474"/>
            <a:ext cx="504000" cy="209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4" name="43 Rectángulo"/>
          <p:cNvSpPr/>
          <p:nvPr/>
        </p:nvSpPr>
        <p:spPr>
          <a:xfrm>
            <a:off x="3888432" y="2002474"/>
            <a:ext cx="666074" cy="2020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44 Rectángulo"/>
          <p:cNvSpPr/>
          <p:nvPr/>
        </p:nvSpPr>
        <p:spPr>
          <a:xfrm>
            <a:off x="5076736" y="1988480"/>
            <a:ext cx="288032" cy="240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45 Rectángulo"/>
          <p:cNvSpPr/>
          <p:nvPr/>
        </p:nvSpPr>
        <p:spPr>
          <a:xfrm>
            <a:off x="5832648" y="1988840"/>
            <a:ext cx="288032" cy="1915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7" name="46 Rectángulo"/>
          <p:cNvSpPr/>
          <p:nvPr/>
        </p:nvSpPr>
        <p:spPr>
          <a:xfrm>
            <a:off x="6480720" y="1979254"/>
            <a:ext cx="288032" cy="22524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4" name="73 Rectángulo"/>
          <p:cNvSpPr/>
          <p:nvPr/>
        </p:nvSpPr>
        <p:spPr>
          <a:xfrm>
            <a:off x="72008" y="2442374"/>
            <a:ext cx="8784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/>
              <a:t>Patient </a:t>
            </a:r>
            <a:r>
              <a:rPr lang="de-DE" sz="1600" dirty="0" smtClean="0"/>
              <a:t>1: </a:t>
            </a:r>
            <a:r>
              <a:rPr lang="de-DE" sz="1600" dirty="0"/>
              <a:t>Results: T1= </a:t>
            </a:r>
            <a:r>
              <a:rPr lang="de-DE" sz="1600" dirty="0" smtClean="0"/>
              <a:t>2.00   </a:t>
            </a:r>
            <a:r>
              <a:rPr lang="de-DE" sz="1600" dirty="0"/>
              <a:t>T2= </a:t>
            </a:r>
            <a:r>
              <a:rPr lang="de-DE" sz="1600" dirty="0" smtClean="0"/>
              <a:t>3% </a:t>
            </a:r>
            <a:r>
              <a:rPr lang="de-DE" sz="1600" dirty="0"/>
              <a:t>Bd1= </a:t>
            </a:r>
            <a:r>
              <a:rPr lang="de-DE" sz="1600" dirty="0" smtClean="0"/>
              <a:t>4.1567e+10  </a:t>
            </a:r>
            <a:r>
              <a:rPr lang="de-DE" sz="1600" dirty="0"/>
              <a:t>Bd2= 5.154000e+03 Hb= OK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03751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480431"/>
              </p:ext>
            </p:extLst>
          </p:nvPr>
        </p:nvGraphicFramePr>
        <p:xfrm>
          <a:off x="0" y="1460179"/>
          <a:ext cx="9144000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2800" u="none" strike="noStrike" dirty="0" err="1" smtClean="0">
                          <a:effectLst/>
                        </a:rPr>
                        <a:t>mfprintf</a:t>
                      </a:r>
                      <a:r>
                        <a:rPr lang="es-AR" sz="2800" u="none" strike="noStrike" dirty="0" smtClean="0">
                          <a:effectLst/>
                        </a:rPr>
                        <a:t>(6,MyString,F(:,</a:t>
                      </a:r>
                      <a:r>
                        <a:rPr lang="es-AR" sz="2800" u="none" strike="noStrike" dirty="0" smtClean="0">
                          <a:effectLst/>
                          <a:sym typeface="Wingdings" panose="05000000000000000000" pitchFamily="2" charset="2"/>
                        </a:rPr>
                        <a:t>1)</a:t>
                      </a:r>
                      <a:r>
                        <a:rPr lang="es-AR" sz="2800" u="none" strike="noStrike" dirty="0" smtClean="0">
                          <a:effectLst/>
                        </a:rPr>
                        <a:t>,F(:,2),F(:,3),F(:,4),F(:,5),</a:t>
                      </a:r>
                      <a:r>
                        <a:rPr lang="es-AR" sz="2800" u="none" strike="noStrike" dirty="0" err="1" smtClean="0">
                          <a:effectLst/>
                        </a:rPr>
                        <a:t>Hb</a:t>
                      </a:r>
                      <a:r>
                        <a:rPr lang="es-AR" sz="2800" u="none" strike="noStrike" dirty="0" smtClean="0">
                          <a:effectLst/>
                        </a:rPr>
                        <a:t>)</a:t>
                      </a:r>
                      <a:endParaRPr lang="es-AR" sz="2800" b="0" i="0" u="none" strike="noStrike" dirty="0">
                        <a:solidFill>
                          <a:srgbClr val="32B9B9"/>
                        </a:solidFill>
                        <a:effectLst/>
                        <a:latin typeface="Monospaced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8" name="27 Rectángulo"/>
          <p:cNvSpPr/>
          <p:nvPr/>
        </p:nvSpPr>
        <p:spPr>
          <a:xfrm>
            <a:off x="0" y="5661248"/>
            <a:ext cx="9124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/>
              <a:t>Patient 2: Results: T1= 26.930000   T2=  3%  Bd1= </a:t>
            </a:r>
            <a:r>
              <a:rPr lang="de-DE" dirty="0" smtClean="0"/>
              <a:t>4.037000e+01 </a:t>
            </a:r>
            <a:r>
              <a:rPr lang="de-DE" dirty="0"/>
              <a:t>Bd2=28.06 Hb= NOK</a:t>
            </a:r>
          </a:p>
          <a:p>
            <a:r>
              <a:rPr lang="de-DE" dirty="0"/>
              <a:t>Patient 3: Results: T1= 63.250000   T2= 15%  Bd1= </a:t>
            </a:r>
            <a:r>
              <a:rPr lang="de-DE" dirty="0" smtClean="0"/>
              <a:t>4.818000e+01 </a:t>
            </a:r>
            <a:r>
              <a:rPr lang="de-DE" dirty="0"/>
              <a:t>Bd2=50 Hb= NOK</a:t>
            </a:r>
          </a:p>
          <a:p>
            <a:r>
              <a:rPr lang="de-DE" dirty="0"/>
              <a:t>Patient 4: Results: T1= 40.510000   T2= 25%  Bd1= </a:t>
            </a:r>
            <a:r>
              <a:rPr lang="de-DE" dirty="0" smtClean="0"/>
              <a:t>4.148000e+01 </a:t>
            </a:r>
            <a:r>
              <a:rPr lang="de-DE" dirty="0"/>
              <a:t>Bd2=40 Hb= NOK</a:t>
            </a:r>
          </a:p>
          <a:p>
            <a:r>
              <a:rPr lang="de-DE" dirty="0"/>
              <a:t>Patient 5: Results: T1= 91.840000   T2= 48%  Bd1= </a:t>
            </a:r>
            <a:r>
              <a:rPr lang="de-DE" dirty="0" smtClean="0"/>
              <a:t>2.639000e+01 </a:t>
            </a:r>
            <a:r>
              <a:rPr lang="de-DE" dirty="0"/>
              <a:t>Bd2=77.83 Hb= OK</a:t>
            </a:r>
            <a:endParaRPr lang="es-AR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err="1" smtClean="0"/>
              <a:t>Scilab</a:t>
            </a:r>
            <a:endParaRPr lang="es-AR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102902"/>
              </p:ext>
            </p:extLst>
          </p:nvPr>
        </p:nvGraphicFramePr>
        <p:xfrm>
          <a:off x="2123728" y="4159180"/>
          <a:ext cx="504012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885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593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723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9165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26.93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3,62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40,37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63.25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15,04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40.51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40,51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41,48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91.84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91,84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26,39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77,83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517975"/>
              </p:ext>
            </p:extLst>
          </p:nvPr>
        </p:nvGraphicFramePr>
        <p:xfrm>
          <a:off x="1500336" y="2204864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Patient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Hb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26.93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3,62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40,37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63.25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15,04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40.51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40,51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41,48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91.84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91,84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26,39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77,83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" name="5 Rectángulo"/>
          <p:cNvSpPr/>
          <p:nvPr/>
        </p:nvSpPr>
        <p:spPr>
          <a:xfrm>
            <a:off x="3446820" y="1472882"/>
            <a:ext cx="884466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2123729" y="4153090"/>
            <a:ext cx="86409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832810" y="5724000"/>
            <a:ext cx="210798" cy="2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Rectángulo"/>
          <p:cNvSpPr/>
          <p:nvPr/>
        </p:nvSpPr>
        <p:spPr>
          <a:xfrm>
            <a:off x="4390708" y="1484784"/>
            <a:ext cx="88123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2987825" y="4153090"/>
            <a:ext cx="80996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2439076" y="5718642"/>
            <a:ext cx="1152128" cy="266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5354998" y="1494834"/>
            <a:ext cx="855076" cy="42199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ectángulo"/>
          <p:cNvSpPr/>
          <p:nvPr/>
        </p:nvSpPr>
        <p:spPr>
          <a:xfrm>
            <a:off x="3797785" y="4153090"/>
            <a:ext cx="809960" cy="36004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Rectángulo"/>
          <p:cNvSpPr/>
          <p:nvPr/>
        </p:nvSpPr>
        <p:spPr>
          <a:xfrm>
            <a:off x="6293132" y="1534817"/>
            <a:ext cx="834965" cy="38201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7233786" y="1507517"/>
            <a:ext cx="920072" cy="39701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8190441" y="1507517"/>
            <a:ext cx="486015" cy="39701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4607745" y="4154810"/>
            <a:ext cx="882279" cy="36004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Rectángulo"/>
          <p:cNvSpPr/>
          <p:nvPr/>
        </p:nvSpPr>
        <p:spPr>
          <a:xfrm>
            <a:off x="5490024" y="4149080"/>
            <a:ext cx="882177" cy="3600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Rectángulo"/>
          <p:cNvSpPr/>
          <p:nvPr/>
        </p:nvSpPr>
        <p:spPr>
          <a:xfrm>
            <a:off x="6372201" y="4153090"/>
            <a:ext cx="791656" cy="36004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Rectángulo"/>
          <p:cNvSpPr/>
          <p:nvPr/>
        </p:nvSpPr>
        <p:spPr>
          <a:xfrm>
            <a:off x="4257120" y="5716531"/>
            <a:ext cx="342000" cy="26693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5274000" y="5733256"/>
            <a:ext cx="1512168" cy="24733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ectángulo"/>
          <p:cNvSpPr/>
          <p:nvPr/>
        </p:nvSpPr>
        <p:spPr>
          <a:xfrm>
            <a:off x="7362000" y="5732463"/>
            <a:ext cx="648072" cy="2160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Rectángulo"/>
          <p:cNvSpPr/>
          <p:nvPr/>
        </p:nvSpPr>
        <p:spPr>
          <a:xfrm>
            <a:off x="8460000" y="5718642"/>
            <a:ext cx="576496" cy="26693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Rectángulo"/>
          <p:cNvSpPr/>
          <p:nvPr/>
        </p:nvSpPr>
        <p:spPr>
          <a:xfrm>
            <a:off x="0" y="980728"/>
            <a:ext cx="9124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MyString</a:t>
            </a:r>
            <a:r>
              <a:rPr lang="en-US" dirty="0" smtClean="0"/>
              <a:t>="</a:t>
            </a:r>
            <a:r>
              <a:rPr lang="de-DE" dirty="0"/>
              <a:t>Patient %d: Results: T1= %2.2f T2=%2d%% Bd1= %g  Bd2= %e Hb= %s\n</a:t>
            </a:r>
            <a:r>
              <a:rPr lang="de-DE" dirty="0" smtClean="0"/>
              <a:t>"</a:t>
            </a:r>
            <a:endParaRPr lang="en-US" dirty="0"/>
          </a:p>
        </p:txBody>
      </p:sp>
      <p:grpSp>
        <p:nvGrpSpPr>
          <p:cNvPr id="16" name="15 Grupo"/>
          <p:cNvGrpSpPr/>
          <p:nvPr/>
        </p:nvGrpSpPr>
        <p:grpSpPr>
          <a:xfrm>
            <a:off x="1515480" y="2564904"/>
            <a:ext cx="5076000" cy="1512168"/>
            <a:chOff x="1490800" y="1916832"/>
            <a:chExt cx="5076000" cy="1512168"/>
          </a:xfrm>
        </p:grpSpPr>
        <p:sp>
          <p:nvSpPr>
            <p:cNvPr id="3" name="2 Rectángulo"/>
            <p:cNvSpPr/>
            <p:nvPr/>
          </p:nvSpPr>
          <p:spPr>
            <a:xfrm>
              <a:off x="1490800" y="1916832"/>
              <a:ext cx="5076000" cy="15121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7 CuadroTexto"/>
            <p:cNvSpPr txBox="1"/>
            <p:nvPr/>
          </p:nvSpPr>
          <p:spPr>
            <a:xfrm>
              <a:off x="1490800" y="1916832"/>
              <a:ext cx="5061200" cy="15081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9200" dirty="0" smtClean="0">
                  <a:solidFill>
                    <a:srgbClr val="FF0000"/>
                  </a:solidFill>
                </a:rPr>
                <a:t>F</a:t>
              </a:r>
              <a:endParaRPr lang="es-AR" sz="9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1" name="30 Grupo"/>
          <p:cNvGrpSpPr/>
          <p:nvPr/>
        </p:nvGrpSpPr>
        <p:grpSpPr>
          <a:xfrm>
            <a:off x="6576680" y="2561009"/>
            <a:ext cx="1010228" cy="1516063"/>
            <a:chOff x="6552000" y="1912937"/>
            <a:chExt cx="1010228" cy="1516063"/>
          </a:xfrm>
        </p:grpSpPr>
        <p:sp>
          <p:nvSpPr>
            <p:cNvPr id="9" name="8 Rectángulo"/>
            <p:cNvSpPr/>
            <p:nvPr/>
          </p:nvSpPr>
          <p:spPr>
            <a:xfrm>
              <a:off x="6552000" y="1916832"/>
              <a:ext cx="1008112" cy="151216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0" name="29 CuadroTexto"/>
            <p:cNvSpPr txBox="1"/>
            <p:nvPr/>
          </p:nvSpPr>
          <p:spPr>
            <a:xfrm>
              <a:off x="6568916" y="1912937"/>
              <a:ext cx="993312" cy="1512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1200"/>
                </a:spcBef>
                <a:spcAft>
                  <a:spcPts val="1200"/>
                </a:spcAft>
              </a:pPr>
              <a:r>
                <a:rPr lang="es-AR" sz="5400" dirty="0" err="1" smtClean="0">
                  <a:solidFill>
                    <a:schemeClr val="accent3"/>
                  </a:solidFill>
                </a:rPr>
                <a:t>Hb</a:t>
              </a:r>
              <a:endParaRPr lang="es-AR" sz="5400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32" name="9 Rectángulo"/>
          <p:cNvSpPr/>
          <p:nvPr/>
        </p:nvSpPr>
        <p:spPr>
          <a:xfrm>
            <a:off x="2118503" y="4509120"/>
            <a:ext cx="864096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10 Rectángulo"/>
          <p:cNvSpPr/>
          <p:nvPr/>
        </p:nvSpPr>
        <p:spPr>
          <a:xfrm>
            <a:off x="827584" y="5985312"/>
            <a:ext cx="210798" cy="2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12 Rectángulo"/>
          <p:cNvSpPr/>
          <p:nvPr/>
        </p:nvSpPr>
        <p:spPr>
          <a:xfrm>
            <a:off x="2987824" y="4509120"/>
            <a:ext cx="804735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13 Rectángulo"/>
          <p:cNvSpPr/>
          <p:nvPr/>
        </p:nvSpPr>
        <p:spPr>
          <a:xfrm>
            <a:off x="2411760" y="5970375"/>
            <a:ext cx="1152128" cy="266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138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6" grpId="3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2" grpId="2" animBg="1"/>
      <p:bldP spid="32" grpId="3" animBg="1"/>
      <p:bldP spid="33" grpId="2" animBg="1"/>
      <p:bldP spid="33" grpId="3" animBg="1"/>
      <p:bldP spid="34" grpId="0" animBg="1"/>
      <p:bldP spid="34" grpId="1" animBg="1"/>
      <p:bldP spid="35" grpId="0" animBg="1"/>
      <p:bldP spid="35" grpId="1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Errores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1" y="1412776"/>
            <a:ext cx="8729848" cy="1008112"/>
          </a:xfrm>
          <a:ln w="254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dirty="0" err="1" smtClean="0"/>
              <a:t>mfprintf</a:t>
            </a:r>
            <a:r>
              <a:rPr lang="es-AR" dirty="0" smtClean="0"/>
              <a:t>(6,MyString, 1,2,3,4,5,”Ok”)</a:t>
            </a:r>
          </a:p>
          <a:p>
            <a:pPr marL="0" indent="0">
              <a:buNone/>
            </a:pPr>
            <a:endParaRPr lang="es-AR" dirty="0"/>
          </a:p>
          <a:p>
            <a:pPr marL="0" indent="0"/>
            <a:r>
              <a:rPr lang="de-DE" dirty="0"/>
              <a:t>Patient 1: Results: T1= 2.00   T2= 3%  </a:t>
            </a:r>
            <a:r>
              <a:rPr lang="de-DE" dirty="0" smtClean="0"/>
              <a:t>Bd1</a:t>
            </a:r>
            <a:r>
              <a:rPr lang="de-DE" dirty="0"/>
              <a:t>= 4 Lt  Bd2= 5.000000e+00 Hb= OK </a:t>
            </a:r>
            <a:endParaRPr lang="es-AR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179511" y="2420888"/>
            <a:ext cx="8729847" cy="936104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dirty="0" err="1" smtClean="0"/>
              <a:t>mfprintf</a:t>
            </a:r>
            <a:r>
              <a:rPr lang="es-AR" sz="1600" dirty="0" smtClean="0"/>
              <a:t>(6,MyString, </a:t>
            </a:r>
            <a:r>
              <a:rPr lang="es-AR" sz="1600" dirty="0"/>
              <a:t>1,2,3,4,5,6, ”Ok”)</a:t>
            </a:r>
            <a:endParaRPr lang="es-AR" sz="1600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AR" sz="1600" dirty="0" smtClean="0"/>
          </a:p>
          <a:p>
            <a:pPr marL="0" indent="0">
              <a:buNone/>
            </a:pPr>
            <a:r>
              <a:rPr lang="en-US" sz="1600" dirty="0"/>
              <a:t>Wrong number of input arguments: data doesn't fit with format.</a:t>
            </a:r>
            <a:endParaRPr lang="es-AR" sz="1600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79512" y="3356992"/>
            <a:ext cx="8729846" cy="86409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600" dirty="0" err="1" smtClean="0"/>
              <a:t>mfprintf</a:t>
            </a:r>
            <a:r>
              <a:rPr lang="es-AR" sz="1600" dirty="0" smtClean="0"/>
              <a:t>(6,MyString, 1,2,3,4,5)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sz="1600" dirty="0" smtClean="0"/>
          </a:p>
          <a:p>
            <a:pPr marL="0" indent="0">
              <a:buNone/>
            </a:pPr>
            <a:r>
              <a:rPr lang="en-US" sz="1600" dirty="0" err="1"/>
              <a:t>mfprintf</a:t>
            </a:r>
            <a:r>
              <a:rPr lang="en-US" sz="1600" dirty="0"/>
              <a:t>: Wrong number of input arguments: data doesn't fit with format.</a:t>
            </a:r>
            <a:endParaRPr lang="es-AR" sz="1600" dirty="0"/>
          </a:p>
        </p:txBody>
      </p:sp>
      <p:sp>
        <p:nvSpPr>
          <p:cNvPr id="6" name="5 Rectángulo"/>
          <p:cNvSpPr/>
          <p:nvPr/>
        </p:nvSpPr>
        <p:spPr>
          <a:xfrm>
            <a:off x="179510" y="1052736"/>
            <a:ext cx="8729848" cy="338554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 err="1"/>
              <a:t>MyString</a:t>
            </a:r>
            <a:r>
              <a:rPr lang="en-US" sz="1600" dirty="0" smtClean="0"/>
              <a:t>="</a:t>
            </a:r>
            <a:r>
              <a:rPr lang="de-DE" sz="1600" dirty="0"/>
              <a:t>Patient %d: Results: T1= %2.2f T2=%2d%% Bd1= %g  Bd2= %e Hb</a:t>
            </a:r>
            <a:r>
              <a:rPr lang="de-DE" sz="1600" dirty="0" smtClean="0"/>
              <a:t>= %s\n"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3579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Matlab / </a:t>
            </a:r>
            <a:r>
              <a:rPr lang="es-AR" dirty="0" err="1" smtClean="0"/>
              <a:t>Octave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03691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81278" y="908720"/>
            <a:ext cx="9027225" cy="1015663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ctr"/>
            <a:r>
              <a:rPr lang="en-US" sz="2000" dirty="0" err="1" smtClean="0"/>
              <a:t>mfprintf</a:t>
            </a:r>
            <a:r>
              <a:rPr lang="en-US" sz="2000" dirty="0" smtClean="0"/>
              <a:t>("These </a:t>
            </a:r>
            <a:r>
              <a:rPr lang="en-US" sz="2000" dirty="0"/>
              <a:t>are the medical tests results of each patient\n</a:t>
            </a:r>
            <a:r>
              <a:rPr lang="en-US" sz="2000" dirty="0" smtClean="0"/>
              <a:t>");</a:t>
            </a:r>
          </a:p>
          <a:p>
            <a:pPr fontAlgn="ctr"/>
            <a:endParaRPr lang="en-US" sz="2000" dirty="0">
              <a:solidFill>
                <a:srgbClr val="32B9B9"/>
              </a:solidFill>
              <a:latin typeface="Monospaced"/>
            </a:endParaRPr>
          </a:p>
          <a:p>
            <a:pPr fontAlgn="ctr"/>
            <a:r>
              <a:rPr lang="en-US" sz="2000" dirty="0"/>
              <a:t>These are the medical test results of each </a:t>
            </a:r>
            <a:r>
              <a:rPr lang="en-US" sz="2000" dirty="0" smtClean="0"/>
              <a:t>patient</a:t>
            </a:r>
            <a:endParaRPr lang="es-AR" sz="20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Formato</a:t>
            </a:r>
            <a:endParaRPr lang="es-AR" dirty="0"/>
          </a:p>
        </p:txBody>
      </p:sp>
      <p:sp>
        <p:nvSpPr>
          <p:cNvPr id="5" name="4 Rectángulo"/>
          <p:cNvSpPr/>
          <p:nvPr/>
        </p:nvSpPr>
        <p:spPr>
          <a:xfrm>
            <a:off x="6804248" y="951111"/>
            <a:ext cx="360040" cy="3388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000"/>
          </a:p>
        </p:txBody>
      </p:sp>
      <p:sp>
        <p:nvSpPr>
          <p:cNvPr id="3" name="2 Rectángulo"/>
          <p:cNvSpPr/>
          <p:nvPr/>
        </p:nvSpPr>
        <p:spPr>
          <a:xfrm>
            <a:off x="81279" y="1916832"/>
            <a:ext cx="9027225" cy="163121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MyString</a:t>
            </a:r>
            <a:r>
              <a:rPr lang="en-US" sz="2000" dirty="0" smtClean="0"/>
              <a:t>="These </a:t>
            </a:r>
            <a:r>
              <a:rPr lang="en-US" sz="2000" dirty="0"/>
              <a:t>are the medical tests results of each </a:t>
            </a:r>
            <a:r>
              <a:rPr lang="en-US" sz="2000" dirty="0" smtClean="0"/>
              <a:t>patient\n“</a:t>
            </a:r>
          </a:p>
          <a:p>
            <a:endParaRPr lang="en-US" sz="2000" dirty="0"/>
          </a:p>
          <a:p>
            <a:r>
              <a:rPr lang="en-US" sz="2000" dirty="0" err="1" smtClean="0"/>
              <a:t>mfprintf</a:t>
            </a:r>
            <a:r>
              <a:rPr lang="en-US" sz="2000" dirty="0" smtClean="0"/>
              <a:t>(6,MyString);</a:t>
            </a:r>
          </a:p>
          <a:p>
            <a:endParaRPr lang="en-US" sz="2000" dirty="0"/>
          </a:p>
          <a:p>
            <a:r>
              <a:rPr lang="en-US" sz="2000" dirty="0"/>
              <a:t>These are the medical test results of each </a:t>
            </a:r>
            <a:r>
              <a:rPr lang="en-US" sz="2000" dirty="0" smtClean="0"/>
              <a:t>patient</a:t>
            </a:r>
            <a:endParaRPr lang="es-AR" sz="2000" dirty="0"/>
          </a:p>
        </p:txBody>
      </p:sp>
      <p:sp>
        <p:nvSpPr>
          <p:cNvPr id="9" name="8 Rectángulo"/>
          <p:cNvSpPr/>
          <p:nvPr/>
        </p:nvSpPr>
        <p:spPr>
          <a:xfrm>
            <a:off x="81279" y="3525976"/>
            <a:ext cx="9027226" cy="1631216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 smtClean="0"/>
              <a:t>MyString</a:t>
            </a:r>
            <a:r>
              <a:rPr lang="en-US" sz="2000" dirty="0" smtClean="0"/>
              <a:t>=[“</a:t>
            </a:r>
            <a:r>
              <a:rPr lang="en-US" sz="2000" dirty="0" err="1" smtClean="0"/>
              <a:t>Hola</a:t>
            </a:r>
            <a:r>
              <a:rPr lang="en-US" sz="2000" dirty="0" smtClean="0"/>
              <a:t> “, “Como </a:t>
            </a:r>
            <a:r>
              <a:rPr lang="en-US" sz="2000" dirty="0" err="1" smtClean="0"/>
              <a:t>andan</a:t>
            </a:r>
            <a:r>
              <a:rPr lang="en-US" sz="2000" dirty="0" smtClean="0"/>
              <a:t>?”, “Que bonito </a:t>
            </a:r>
            <a:r>
              <a:rPr lang="en-US" sz="2000" dirty="0" err="1" smtClean="0"/>
              <a:t>día</a:t>
            </a:r>
            <a:r>
              <a:rPr lang="en-US" sz="2000" dirty="0" smtClean="0"/>
              <a:t>”]</a:t>
            </a:r>
          </a:p>
          <a:p>
            <a:endParaRPr lang="en-US" sz="2000" dirty="0"/>
          </a:p>
          <a:p>
            <a:r>
              <a:rPr lang="en-US" sz="2000" dirty="0" err="1" smtClean="0"/>
              <a:t>MyString</a:t>
            </a:r>
            <a:r>
              <a:rPr lang="en-US" sz="2000" dirty="0" smtClean="0"/>
              <a:t>(1:2)</a:t>
            </a:r>
          </a:p>
          <a:p>
            <a:endParaRPr lang="en-US" sz="2000" dirty="0"/>
          </a:p>
          <a:p>
            <a:r>
              <a:rPr lang="en-US" sz="2000" dirty="0"/>
              <a:t>“</a:t>
            </a:r>
            <a:r>
              <a:rPr lang="en-US" sz="2000" dirty="0" err="1"/>
              <a:t>Hola</a:t>
            </a:r>
            <a:r>
              <a:rPr lang="en-US" sz="2000" dirty="0"/>
              <a:t> “, “Como </a:t>
            </a:r>
            <a:r>
              <a:rPr lang="en-US" sz="2000" dirty="0" err="1"/>
              <a:t>andan</a:t>
            </a:r>
            <a:r>
              <a:rPr lang="en-US" sz="2000" dirty="0" smtClean="0"/>
              <a:t>?”</a:t>
            </a:r>
            <a:endParaRPr lang="es-AR" sz="2000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1280" y="5157192"/>
            <a:ext cx="9027224" cy="1061829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s-AR" altLang="es-AR" sz="1600" dirty="0" smtClean="0"/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500" dirty="0" err="1" smtClean="0"/>
              <a:t>fprintf</a:t>
            </a:r>
            <a:r>
              <a:rPr lang="es-AR" altLang="es-AR" sz="1500" dirty="0" smtClean="0"/>
              <a:t>(</a:t>
            </a:r>
            <a:r>
              <a:rPr lang="de-DE" sz="1500" dirty="0" smtClean="0"/>
              <a:t>"Patient </a:t>
            </a:r>
            <a:r>
              <a:rPr lang="de-DE" sz="1500" dirty="0"/>
              <a:t>%d: Results: T1= %2.2f T2=%2d%% Bd1= %g </a:t>
            </a:r>
            <a:r>
              <a:rPr lang="de-DE" sz="1500" dirty="0" smtClean="0"/>
              <a:t> </a:t>
            </a:r>
            <a:r>
              <a:rPr lang="de-DE" sz="1500" dirty="0"/>
              <a:t>Bd2= %e Hb= %s\n</a:t>
            </a:r>
            <a:r>
              <a:rPr lang="de-DE" sz="1500" dirty="0" smtClean="0"/>
              <a:t>",[0:2],3,4,"</a:t>
            </a:r>
            <a:r>
              <a:rPr lang="de-DE" sz="1500" dirty="0"/>
              <a:t>OK"</a:t>
            </a:r>
            <a:r>
              <a:rPr lang="es-AR" altLang="es-AR" sz="1500" dirty="0" smtClean="0"/>
              <a:t>);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s-AR" altLang="es-AR" sz="1600" dirty="0"/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s-AR" sz="1500" dirty="0" err="1"/>
              <a:t>Patient</a:t>
            </a:r>
            <a:r>
              <a:rPr lang="es-AR" sz="1500" dirty="0"/>
              <a:t> 0: </a:t>
            </a:r>
            <a:r>
              <a:rPr lang="es-AR" sz="1500" dirty="0" err="1"/>
              <a:t>Results</a:t>
            </a:r>
            <a:r>
              <a:rPr lang="es-AR" sz="1500" dirty="0"/>
              <a:t>: T1= 1.00   T2= 2%  </a:t>
            </a:r>
            <a:r>
              <a:rPr lang="es-AR" sz="1500" dirty="0" smtClean="0"/>
              <a:t>Bd1</a:t>
            </a:r>
            <a:r>
              <a:rPr lang="es-AR" sz="1500" dirty="0"/>
              <a:t>= </a:t>
            </a:r>
            <a:r>
              <a:rPr lang="es-AR" sz="1500" dirty="0" smtClean="0"/>
              <a:t>3 </a:t>
            </a:r>
            <a:r>
              <a:rPr lang="es-AR" sz="1500" dirty="0"/>
              <a:t>Bd2= 4</a:t>
            </a:r>
            <a:r>
              <a:rPr lang="es-AR" sz="1500" dirty="0" smtClean="0"/>
              <a:t>.000000e+00 </a:t>
            </a:r>
            <a:r>
              <a:rPr lang="es-AR" sz="1500" dirty="0" err="1"/>
              <a:t>Hb</a:t>
            </a:r>
            <a:r>
              <a:rPr lang="es-AR" sz="1500" dirty="0"/>
              <a:t>= OK 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1425374" y="5462573"/>
            <a:ext cx="288032" cy="209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3779912" y="5468251"/>
            <a:ext cx="752502" cy="2039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3014584" y="5938043"/>
            <a:ext cx="333280" cy="2039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5054410" y="5496078"/>
            <a:ext cx="324128" cy="202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5932153" y="5487138"/>
            <a:ext cx="332992" cy="19151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6690646" y="5485666"/>
            <a:ext cx="459095" cy="180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ectángulo"/>
          <p:cNvSpPr/>
          <p:nvPr/>
        </p:nvSpPr>
        <p:spPr>
          <a:xfrm>
            <a:off x="6306739" y="5942931"/>
            <a:ext cx="281485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7972687" y="5485666"/>
            <a:ext cx="450690" cy="19299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7640274" y="5500277"/>
            <a:ext cx="144016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7797488" y="5503333"/>
            <a:ext cx="162000" cy="1800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Rectángulo"/>
          <p:cNvSpPr/>
          <p:nvPr/>
        </p:nvSpPr>
        <p:spPr>
          <a:xfrm>
            <a:off x="792000" y="5963995"/>
            <a:ext cx="144016" cy="18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Rectángulo"/>
          <p:cNvSpPr/>
          <p:nvPr/>
        </p:nvSpPr>
        <p:spPr>
          <a:xfrm>
            <a:off x="2901294" y="5467666"/>
            <a:ext cx="530792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Rectángulo"/>
          <p:cNvSpPr/>
          <p:nvPr/>
        </p:nvSpPr>
        <p:spPr>
          <a:xfrm>
            <a:off x="2162432" y="5938043"/>
            <a:ext cx="393343" cy="2039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3923928" y="5964867"/>
            <a:ext cx="144032" cy="178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ectángulo"/>
          <p:cNvSpPr/>
          <p:nvPr/>
        </p:nvSpPr>
        <p:spPr>
          <a:xfrm>
            <a:off x="4561864" y="5955172"/>
            <a:ext cx="1350912" cy="19151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Rectángulo"/>
          <p:cNvSpPr/>
          <p:nvPr/>
        </p:nvSpPr>
        <p:spPr>
          <a:xfrm>
            <a:off x="7242624" y="5500277"/>
            <a:ext cx="384413" cy="1800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4615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  <p:bldP spid="19" grpId="0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0" y="5036983"/>
            <a:ext cx="9124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/>
              <a:t>Patient 2: Results: T1= </a:t>
            </a:r>
            <a:r>
              <a:rPr lang="de-DE" dirty="0" smtClean="0"/>
              <a:t>26.93   </a:t>
            </a:r>
            <a:r>
              <a:rPr lang="de-DE" dirty="0"/>
              <a:t>T2=  3%  Bd1= </a:t>
            </a:r>
            <a:r>
              <a:rPr lang="de-DE" dirty="0" smtClean="0"/>
              <a:t>4.037000e+01 </a:t>
            </a:r>
            <a:r>
              <a:rPr lang="de-DE" dirty="0"/>
              <a:t>Bd2=28.06 Hb= NOK</a:t>
            </a:r>
          </a:p>
          <a:p>
            <a:r>
              <a:rPr lang="de-DE" dirty="0"/>
              <a:t>Patient 3: Results: T1= </a:t>
            </a:r>
            <a:r>
              <a:rPr lang="de-DE" dirty="0" smtClean="0"/>
              <a:t>63.25   </a:t>
            </a:r>
            <a:r>
              <a:rPr lang="de-DE" dirty="0"/>
              <a:t>T2= 15%  Bd1= </a:t>
            </a:r>
            <a:r>
              <a:rPr lang="de-DE" dirty="0" smtClean="0"/>
              <a:t>4.818000e+01 </a:t>
            </a:r>
            <a:r>
              <a:rPr lang="de-DE" dirty="0"/>
              <a:t>Bd2=50 Hb= NOK</a:t>
            </a:r>
          </a:p>
          <a:p>
            <a:r>
              <a:rPr lang="de-DE" dirty="0"/>
              <a:t>Patient 4: Results: T1= </a:t>
            </a:r>
            <a:r>
              <a:rPr lang="de-DE" dirty="0" smtClean="0"/>
              <a:t>40.51   </a:t>
            </a:r>
            <a:r>
              <a:rPr lang="de-DE" dirty="0"/>
              <a:t>T2= 25%  Bd1= </a:t>
            </a:r>
            <a:r>
              <a:rPr lang="de-DE" dirty="0" smtClean="0"/>
              <a:t>4.148000e+01 </a:t>
            </a:r>
            <a:r>
              <a:rPr lang="de-DE" dirty="0"/>
              <a:t>Bd2=40 Hb= NOK</a:t>
            </a:r>
          </a:p>
          <a:p>
            <a:r>
              <a:rPr lang="de-DE" dirty="0"/>
              <a:t>Patient 5: Results: T1</a:t>
            </a:r>
            <a:r>
              <a:rPr lang="de-DE"/>
              <a:t>= </a:t>
            </a:r>
            <a:r>
              <a:rPr lang="de-DE" smtClean="0"/>
              <a:t>91.840   </a:t>
            </a:r>
            <a:r>
              <a:rPr lang="de-DE" dirty="0"/>
              <a:t>T2= 48%  Bd1= </a:t>
            </a:r>
            <a:r>
              <a:rPr lang="de-DE" dirty="0" smtClean="0"/>
              <a:t>2.639000e+01 </a:t>
            </a:r>
            <a:r>
              <a:rPr lang="de-DE" dirty="0"/>
              <a:t>Bd2=77.83 Hb= OK</a:t>
            </a:r>
            <a:endParaRPr lang="es-AR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Matlab / </a:t>
            </a:r>
            <a:r>
              <a:rPr lang="es-AR" dirty="0" err="1" smtClean="0"/>
              <a:t>octave</a:t>
            </a:r>
            <a:endParaRPr lang="es-AR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0507468"/>
              </p:ext>
            </p:extLst>
          </p:nvPr>
        </p:nvGraphicFramePr>
        <p:xfrm>
          <a:off x="3059832" y="4154408"/>
          <a:ext cx="3312368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2800" u="none" strike="noStrike" dirty="0" err="1" smtClean="0">
                          <a:effectLst/>
                        </a:rPr>
                        <a:t>fprintf</a:t>
                      </a:r>
                      <a:r>
                        <a:rPr lang="es-AR" sz="2800" u="none" strike="noStrike" dirty="0" smtClean="0">
                          <a:effectLst/>
                        </a:rPr>
                        <a:t>(</a:t>
                      </a:r>
                      <a:r>
                        <a:rPr lang="es-AR" sz="2800" u="none" strike="noStrike" dirty="0" err="1" smtClean="0">
                          <a:effectLst/>
                        </a:rPr>
                        <a:t>MyString</a:t>
                      </a:r>
                      <a:r>
                        <a:rPr lang="es-AR" sz="2800" u="none" strike="noStrike" dirty="0" smtClean="0">
                          <a:effectLst/>
                        </a:rPr>
                        <a:t>,???)</a:t>
                      </a:r>
                      <a:endParaRPr lang="es-AR" sz="2800" b="0" i="0" u="none" strike="noStrike" dirty="0">
                        <a:solidFill>
                          <a:srgbClr val="32B9B9"/>
                        </a:solidFill>
                        <a:effectLst/>
                        <a:latin typeface="Monospaced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7" name="6 Tabla"/>
          <p:cNvGraphicFramePr>
            <a:graphicFrameLocks noGrp="1"/>
          </p:cNvGraphicFramePr>
          <p:nvPr>
            <p:extLst/>
          </p:nvPr>
        </p:nvGraphicFramePr>
        <p:xfrm>
          <a:off x="1644352" y="1286768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Patient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Hb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26.93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3,62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40,37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63.25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15,04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40.51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40,51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41,48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91.84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91,84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26,39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77,83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9" name="28 Rectángulo"/>
          <p:cNvSpPr/>
          <p:nvPr/>
        </p:nvSpPr>
        <p:spPr>
          <a:xfrm>
            <a:off x="0" y="3419708"/>
            <a:ext cx="91249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MyString</a:t>
            </a:r>
            <a:r>
              <a:rPr lang="en-US" dirty="0" smtClean="0"/>
              <a:t>="</a:t>
            </a:r>
            <a:r>
              <a:rPr lang="de-DE" dirty="0"/>
              <a:t>Patient %d: Results: T1= %2.2f T2=%2d%% Bd1= %g  Bd2= %e Hb= %s\n</a:t>
            </a:r>
            <a:r>
              <a:rPr lang="de-DE" dirty="0" smtClean="0"/>
              <a:t>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07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30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796851"/>
              </p:ext>
            </p:extLst>
          </p:nvPr>
        </p:nvGraphicFramePr>
        <p:xfrm>
          <a:off x="1475656" y="1556792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Patient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T2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Bd1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Bd2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Hb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26.93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3,62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40,37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63.25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15,04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40.51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40,51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41,48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91.84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91,84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26,39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77,83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4" name="13 Rectángulo"/>
          <p:cNvSpPr/>
          <p:nvPr/>
        </p:nvSpPr>
        <p:spPr>
          <a:xfrm>
            <a:off x="1475656" y="1911280"/>
            <a:ext cx="1008112" cy="3705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ectángulo"/>
          <p:cNvSpPr/>
          <p:nvPr/>
        </p:nvSpPr>
        <p:spPr>
          <a:xfrm>
            <a:off x="2483768" y="1914961"/>
            <a:ext cx="1026000" cy="3631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Rectángulo"/>
          <p:cNvSpPr/>
          <p:nvPr/>
        </p:nvSpPr>
        <p:spPr>
          <a:xfrm>
            <a:off x="3509768" y="1920766"/>
            <a:ext cx="1008112" cy="35423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4517880" y="1914960"/>
            <a:ext cx="1026000" cy="36191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5543880" y="1914960"/>
            <a:ext cx="1008120" cy="3668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6552000" y="1920766"/>
            <a:ext cx="1010228" cy="3600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Rectángulo"/>
          <p:cNvSpPr/>
          <p:nvPr/>
        </p:nvSpPr>
        <p:spPr>
          <a:xfrm>
            <a:off x="1475656" y="2281800"/>
            <a:ext cx="1008112" cy="38713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32" name="31 Grupo"/>
          <p:cNvGrpSpPr/>
          <p:nvPr/>
        </p:nvGrpSpPr>
        <p:grpSpPr>
          <a:xfrm>
            <a:off x="1475656" y="1916832"/>
            <a:ext cx="5076000" cy="1512168"/>
            <a:chOff x="1490800" y="1916832"/>
            <a:chExt cx="5076000" cy="1512168"/>
          </a:xfrm>
        </p:grpSpPr>
        <p:sp>
          <p:nvSpPr>
            <p:cNvPr id="33" name="32 Rectángulo"/>
            <p:cNvSpPr/>
            <p:nvPr/>
          </p:nvSpPr>
          <p:spPr>
            <a:xfrm>
              <a:off x="1490800" y="1916832"/>
              <a:ext cx="5076000" cy="151216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4" name="33 CuadroTexto"/>
            <p:cNvSpPr txBox="1"/>
            <p:nvPr/>
          </p:nvSpPr>
          <p:spPr>
            <a:xfrm>
              <a:off x="1490800" y="1916832"/>
              <a:ext cx="5061200" cy="150810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9200" dirty="0" smtClean="0">
                  <a:solidFill>
                    <a:srgbClr val="FF0000"/>
                  </a:solidFill>
                </a:rPr>
                <a:t>F</a:t>
              </a:r>
              <a:endParaRPr lang="es-AR" sz="9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5" name="34 Grupo"/>
          <p:cNvGrpSpPr/>
          <p:nvPr/>
        </p:nvGrpSpPr>
        <p:grpSpPr>
          <a:xfrm>
            <a:off x="6586108" y="1912937"/>
            <a:ext cx="985548" cy="1516063"/>
            <a:chOff x="6552000" y="1912937"/>
            <a:chExt cx="1010228" cy="1516063"/>
          </a:xfrm>
        </p:grpSpPr>
        <p:sp>
          <p:nvSpPr>
            <p:cNvPr id="36" name="35 Rectángulo"/>
            <p:cNvSpPr/>
            <p:nvPr/>
          </p:nvSpPr>
          <p:spPr>
            <a:xfrm>
              <a:off x="6552000" y="1916832"/>
              <a:ext cx="1008112" cy="1512168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7" name="36 CuadroTexto"/>
            <p:cNvSpPr txBox="1"/>
            <p:nvPr/>
          </p:nvSpPr>
          <p:spPr>
            <a:xfrm>
              <a:off x="6568916" y="1912937"/>
              <a:ext cx="993312" cy="1512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>
                <a:spcBef>
                  <a:spcPts val="1200"/>
                </a:spcBef>
                <a:spcAft>
                  <a:spcPts val="1200"/>
                </a:spcAft>
              </a:pPr>
              <a:r>
                <a:rPr lang="es-AR" sz="5400" dirty="0" err="1" smtClean="0">
                  <a:solidFill>
                    <a:schemeClr val="accent3"/>
                  </a:solidFill>
                </a:rPr>
                <a:t>Hb</a:t>
              </a:r>
              <a:endParaRPr lang="es-AR" sz="5400" dirty="0">
                <a:solidFill>
                  <a:schemeClr val="accent3"/>
                </a:solidFill>
              </a:endParaRPr>
            </a:p>
          </p:txBody>
        </p:sp>
      </p:grpSp>
      <p:sp>
        <p:nvSpPr>
          <p:cNvPr id="7" name="6 Rectángulo"/>
          <p:cNvSpPr/>
          <p:nvPr/>
        </p:nvSpPr>
        <p:spPr>
          <a:xfrm>
            <a:off x="36512" y="501317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/>
              <a:t>Patient</a:t>
            </a:r>
            <a:r>
              <a:rPr lang="es-AR" dirty="0"/>
              <a:t> 2: </a:t>
            </a:r>
            <a:r>
              <a:rPr lang="es-AR" dirty="0" err="1"/>
              <a:t>Results</a:t>
            </a:r>
            <a:r>
              <a:rPr lang="es-AR" dirty="0"/>
              <a:t>: T1= 26.93 T2=3.62% Bd1= </a:t>
            </a:r>
            <a:r>
              <a:rPr lang="es-AR" dirty="0" smtClean="0"/>
              <a:t>40.37 </a:t>
            </a:r>
            <a:r>
              <a:rPr lang="es-AR" dirty="0"/>
              <a:t>Bd2= 2.806000e+01 </a:t>
            </a:r>
            <a:r>
              <a:rPr lang="es-AR" dirty="0" err="1"/>
              <a:t>Hb</a:t>
            </a:r>
            <a:r>
              <a:rPr lang="es-AR" dirty="0"/>
              <a:t>= NOK</a:t>
            </a:r>
          </a:p>
          <a:p>
            <a:r>
              <a:rPr lang="es-AR" dirty="0" err="1"/>
              <a:t>Patient</a:t>
            </a:r>
            <a:r>
              <a:rPr lang="es-AR" dirty="0"/>
              <a:t> 3: </a:t>
            </a:r>
            <a:r>
              <a:rPr lang="es-AR" dirty="0" err="1"/>
              <a:t>Results</a:t>
            </a:r>
            <a:r>
              <a:rPr lang="es-AR" dirty="0"/>
              <a:t>: T1= 63.25 T2=15.04% Bd1= 48.18 Bd2= 5.000000e+01 </a:t>
            </a:r>
            <a:r>
              <a:rPr lang="es-AR" dirty="0" err="1"/>
              <a:t>Hb</a:t>
            </a:r>
            <a:r>
              <a:rPr lang="es-AR" dirty="0"/>
              <a:t>= NOK</a:t>
            </a:r>
          </a:p>
          <a:p>
            <a:r>
              <a:rPr lang="es-AR" dirty="0" err="1"/>
              <a:t>Patient</a:t>
            </a:r>
            <a:r>
              <a:rPr lang="es-AR" dirty="0"/>
              <a:t> 4: </a:t>
            </a:r>
            <a:r>
              <a:rPr lang="es-AR" dirty="0" err="1"/>
              <a:t>Results</a:t>
            </a:r>
            <a:r>
              <a:rPr lang="es-AR" dirty="0"/>
              <a:t>: T1= 40.51 T2=25.3% Bd1= 41.48 Bd2= 4.000000e+01 </a:t>
            </a:r>
            <a:r>
              <a:rPr lang="es-AR" dirty="0" err="1"/>
              <a:t>Hb</a:t>
            </a:r>
            <a:r>
              <a:rPr lang="es-AR" dirty="0"/>
              <a:t>= NOK</a:t>
            </a:r>
          </a:p>
          <a:p>
            <a:r>
              <a:rPr lang="es-AR" dirty="0" err="1"/>
              <a:t>Patient</a:t>
            </a:r>
            <a:r>
              <a:rPr lang="es-AR" dirty="0"/>
              <a:t> 5: </a:t>
            </a:r>
            <a:r>
              <a:rPr lang="es-AR" dirty="0" err="1"/>
              <a:t>Results</a:t>
            </a:r>
            <a:r>
              <a:rPr lang="es-AR" dirty="0"/>
              <a:t>: T1= 91.84 T2=48.19% Bd1= 26.39 Bd2= 7.783000e+01 </a:t>
            </a:r>
            <a:r>
              <a:rPr lang="es-AR" dirty="0" err="1"/>
              <a:t>Hb</a:t>
            </a:r>
            <a:r>
              <a:rPr lang="es-AR" dirty="0"/>
              <a:t>= OK</a:t>
            </a: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Matlab</a:t>
            </a:r>
            <a:endParaRPr lang="es-AR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2786646"/>
              </p:ext>
            </p:extLst>
          </p:nvPr>
        </p:nvGraphicFramePr>
        <p:xfrm>
          <a:off x="427707" y="3573016"/>
          <a:ext cx="3240361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036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080120">
                <a:tc>
                  <a:txBody>
                    <a:bodyPr/>
                    <a:lstStyle/>
                    <a:p>
                      <a:pPr algn="l" fontAlgn="b"/>
                      <a:r>
                        <a:rPr lang="es-AR" sz="1800" u="none" strike="noStrike" dirty="0" err="1" smtClean="0">
                          <a:effectLst/>
                        </a:rPr>
                        <a:t>fprintf</a:t>
                      </a:r>
                      <a:r>
                        <a:rPr lang="es-AR" sz="1800" u="none" strike="noStrike" dirty="0" smtClean="0">
                          <a:effectLst/>
                        </a:rPr>
                        <a:t>(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MyString</a:t>
                      </a:r>
                      <a:r>
                        <a:rPr lang="es-AR" sz="1800" u="none" strike="noStrike" dirty="0" smtClean="0">
                          <a:effectLst/>
                        </a:rPr>
                        <a:t>, F(1,:),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Hb</a:t>
                      </a:r>
                      <a:r>
                        <a:rPr lang="es-AR" sz="1800" u="none" strike="noStrike" dirty="0" smtClean="0">
                          <a:effectLst/>
                        </a:rPr>
                        <a:t>(1));</a:t>
                      </a:r>
                    </a:p>
                    <a:p>
                      <a:pPr algn="l" fontAlgn="b"/>
                      <a:r>
                        <a:rPr lang="es-AR" sz="1800" u="none" strike="noStrike" dirty="0" err="1" smtClean="0">
                          <a:effectLst/>
                        </a:rPr>
                        <a:t>fprintf</a:t>
                      </a:r>
                      <a:r>
                        <a:rPr lang="es-AR" sz="1800" u="none" strike="noStrike" dirty="0" smtClean="0">
                          <a:effectLst/>
                        </a:rPr>
                        <a:t>(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MyString</a:t>
                      </a:r>
                      <a:r>
                        <a:rPr lang="es-AR" sz="1800" u="none" strike="noStrike" dirty="0" smtClean="0">
                          <a:effectLst/>
                        </a:rPr>
                        <a:t>, F(2,:), 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Hb</a:t>
                      </a:r>
                      <a:r>
                        <a:rPr lang="es-AR" sz="1800" u="none" strike="noStrike" dirty="0" smtClean="0">
                          <a:effectLst/>
                        </a:rPr>
                        <a:t>(2));</a:t>
                      </a:r>
                    </a:p>
                    <a:p>
                      <a:pPr algn="l" fontAlgn="b"/>
                      <a:r>
                        <a:rPr lang="es-AR" sz="1800" u="none" strike="noStrike" dirty="0" err="1" smtClean="0">
                          <a:effectLst/>
                        </a:rPr>
                        <a:t>fprintf</a:t>
                      </a:r>
                      <a:r>
                        <a:rPr lang="es-AR" sz="1800" u="none" strike="noStrike" dirty="0" smtClean="0">
                          <a:effectLst/>
                        </a:rPr>
                        <a:t>(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MyString</a:t>
                      </a:r>
                      <a:r>
                        <a:rPr lang="es-AR" sz="1800" u="none" strike="noStrike" dirty="0" smtClean="0">
                          <a:effectLst/>
                        </a:rPr>
                        <a:t>, F(3,:), 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Hb</a:t>
                      </a:r>
                      <a:r>
                        <a:rPr lang="es-AR" sz="1800" u="none" strike="noStrike" dirty="0" smtClean="0">
                          <a:effectLst/>
                        </a:rPr>
                        <a:t>(3));</a:t>
                      </a:r>
                    </a:p>
                    <a:p>
                      <a:pPr algn="l" fontAlgn="b"/>
                      <a:r>
                        <a:rPr lang="es-AR" sz="1800" u="none" strike="noStrike" dirty="0" err="1" smtClean="0">
                          <a:effectLst/>
                        </a:rPr>
                        <a:t>fprintf</a:t>
                      </a:r>
                      <a:r>
                        <a:rPr lang="es-AR" sz="1800" u="none" strike="noStrike" dirty="0" smtClean="0">
                          <a:effectLst/>
                        </a:rPr>
                        <a:t>(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MyString</a:t>
                      </a:r>
                      <a:r>
                        <a:rPr lang="es-AR" sz="1800" u="none" strike="noStrike" dirty="0" smtClean="0">
                          <a:effectLst/>
                        </a:rPr>
                        <a:t>, F(4,:), 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Hb</a:t>
                      </a:r>
                      <a:r>
                        <a:rPr lang="es-AR" sz="1800" u="none" strike="noStrike" dirty="0" smtClean="0">
                          <a:effectLst/>
                        </a:rPr>
                        <a:t>(4));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11" name="10 Cerrar llave"/>
          <p:cNvSpPr/>
          <p:nvPr/>
        </p:nvSpPr>
        <p:spPr>
          <a:xfrm>
            <a:off x="3509768" y="3566216"/>
            <a:ext cx="216024" cy="10801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3" name="12 Conector recto de flecha"/>
          <p:cNvCxnSpPr>
            <a:stCxn id="11" idx="1"/>
            <a:endCxn id="15" idx="1"/>
          </p:cNvCxnSpPr>
          <p:nvPr/>
        </p:nvCxnSpPr>
        <p:spPr>
          <a:xfrm>
            <a:off x="3725792" y="4106276"/>
            <a:ext cx="1223028" cy="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1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737775"/>
              </p:ext>
            </p:extLst>
          </p:nvPr>
        </p:nvGraphicFramePr>
        <p:xfrm>
          <a:off x="4948820" y="3701596"/>
          <a:ext cx="3347020" cy="822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70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fontAlgn="b"/>
                      <a:r>
                        <a:rPr lang="es-AR" dirty="0" err="1" smtClean="0">
                          <a:solidFill>
                            <a:srgbClr val="000000"/>
                          </a:solidFill>
                        </a:rPr>
                        <a:t>for</a:t>
                      </a:r>
                      <a:r>
                        <a:rPr lang="es-AR" dirty="0" smtClean="0">
                          <a:solidFill>
                            <a:srgbClr val="000000"/>
                          </a:solidFill>
                        </a:rPr>
                        <a:t> i=1:4</a:t>
                      </a:r>
                    </a:p>
                    <a:p>
                      <a:pPr fontAlgn="b">
                        <a:defRPr/>
                      </a:pPr>
                      <a:r>
                        <a:rPr lang="es-AR" dirty="0" smtClean="0">
                          <a:solidFill>
                            <a:srgbClr val="000000"/>
                          </a:solidFill>
                        </a:rPr>
                        <a:t>      </a:t>
                      </a:r>
                      <a:r>
                        <a:rPr lang="es-AR" dirty="0" err="1" smtClean="0">
                          <a:solidFill>
                            <a:srgbClr val="000000"/>
                          </a:solidFill>
                        </a:rPr>
                        <a:t>fprintf</a:t>
                      </a:r>
                      <a:r>
                        <a:rPr lang="es-AR" dirty="0" smtClean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s-AR" sz="1800" u="none" strike="noStrike" dirty="0" err="1" smtClean="0">
                          <a:effectLst/>
                        </a:rPr>
                        <a:t>MyString</a:t>
                      </a:r>
                      <a:r>
                        <a:rPr lang="es-AR" dirty="0" err="1" smtClean="0">
                          <a:solidFill>
                            <a:srgbClr val="000000"/>
                          </a:solidFill>
                        </a:rPr>
                        <a:t>,F</a:t>
                      </a:r>
                      <a:r>
                        <a:rPr lang="es-AR" dirty="0" smtClean="0">
                          <a:solidFill>
                            <a:srgbClr val="000000"/>
                          </a:solidFill>
                        </a:rPr>
                        <a:t>(i,:),</a:t>
                      </a:r>
                      <a:r>
                        <a:rPr lang="es-AR" dirty="0" err="1" smtClean="0">
                          <a:solidFill>
                            <a:srgbClr val="000000"/>
                          </a:solidFill>
                        </a:rPr>
                        <a:t>Hb</a:t>
                      </a:r>
                      <a:r>
                        <a:rPr lang="es-AR" dirty="0" smtClean="0">
                          <a:solidFill>
                            <a:srgbClr val="000000"/>
                          </a:solidFill>
                        </a:rPr>
                        <a:t>(i));</a:t>
                      </a:r>
                    </a:p>
                    <a:p>
                      <a:pPr fontAlgn="b"/>
                      <a:r>
                        <a:rPr lang="es-AR" dirty="0" err="1" smtClean="0">
                          <a:solidFill>
                            <a:srgbClr val="000000"/>
                          </a:solidFill>
                        </a:rPr>
                        <a:t>end</a:t>
                      </a:r>
                      <a:endParaRPr lang="es-AR" dirty="0" smtClean="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23" name="22 Rectángulo"/>
          <p:cNvSpPr/>
          <p:nvPr/>
        </p:nvSpPr>
        <p:spPr>
          <a:xfrm>
            <a:off x="905892" y="5085184"/>
            <a:ext cx="128188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Rectángulo"/>
          <p:cNvSpPr/>
          <p:nvPr/>
        </p:nvSpPr>
        <p:spPr>
          <a:xfrm>
            <a:off x="2461835" y="5088359"/>
            <a:ext cx="616364" cy="2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3510247" y="5089251"/>
            <a:ext cx="720080" cy="21917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ectángulo"/>
          <p:cNvSpPr/>
          <p:nvPr/>
        </p:nvSpPr>
        <p:spPr>
          <a:xfrm>
            <a:off x="4806391" y="5085183"/>
            <a:ext cx="648072" cy="22006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Rectángulo"/>
          <p:cNvSpPr/>
          <p:nvPr/>
        </p:nvSpPr>
        <p:spPr>
          <a:xfrm>
            <a:off x="6030526" y="5088359"/>
            <a:ext cx="1584177" cy="22006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Rectángulo"/>
          <p:cNvSpPr/>
          <p:nvPr/>
        </p:nvSpPr>
        <p:spPr>
          <a:xfrm>
            <a:off x="8100391" y="5081833"/>
            <a:ext cx="504057" cy="22659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Rectángulo"/>
          <p:cNvSpPr/>
          <p:nvPr/>
        </p:nvSpPr>
        <p:spPr>
          <a:xfrm>
            <a:off x="899592" y="5373240"/>
            <a:ext cx="139292" cy="216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Rectángulo"/>
          <p:cNvSpPr/>
          <p:nvPr/>
        </p:nvSpPr>
        <p:spPr>
          <a:xfrm>
            <a:off x="0" y="112474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MyString</a:t>
            </a:r>
            <a:r>
              <a:rPr lang="en-US" dirty="0" smtClean="0"/>
              <a:t>="</a:t>
            </a:r>
            <a:r>
              <a:rPr lang="de-DE" dirty="0"/>
              <a:t>Patient %d: Results: T1= %2.2f T2=%2d%% Bd1= %g  Bd2= %e Hb= %s\n</a:t>
            </a:r>
            <a:r>
              <a:rPr lang="de-DE" dirty="0" smtClean="0"/>
              <a:t>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56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Errores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6856" y="2080051"/>
            <a:ext cx="8229600" cy="1036711"/>
          </a:xfrm>
          <a:ln w="25400"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1800" dirty="0" err="1" smtClean="0"/>
              <a:t>fprintf</a:t>
            </a:r>
            <a:r>
              <a:rPr lang="es-AR" sz="1800" dirty="0" smtClean="0"/>
              <a:t>(</a:t>
            </a:r>
            <a:r>
              <a:rPr lang="es-AR" sz="1800" dirty="0" err="1" smtClean="0"/>
              <a:t>MyString</a:t>
            </a:r>
            <a:r>
              <a:rPr lang="es-AR" sz="1800" dirty="0" smtClean="0"/>
              <a:t>,[1:3],4,5,”Ok”);</a:t>
            </a:r>
          </a:p>
          <a:p>
            <a:pPr marL="0" indent="0">
              <a:buNone/>
            </a:pPr>
            <a:endParaRPr lang="es-AR" sz="1800" dirty="0"/>
          </a:p>
          <a:p>
            <a:pPr marL="0" indent="0"/>
            <a:r>
              <a:rPr lang="es-AR" sz="1800" dirty="0" err="1"/>
              <a:t>Patient</a:t>
            </a:r>
            <a:r>
              <a:rPr lang="es-AR" sz="1800" dirty="0"/>
              <a:t> 1: </a:t>
            </a:r>
            <a:r>
              <a:rPr lang="es-AR" sz="1800" dirty="0" err="1"/>
              <a:t>Results</a:t>
            </a:r>
            <a:r>
              <a:rPr lang="es-AR" sz="1800" dirty="0"/>
              <a:t>: T1= 2.00 T2= 3% Bd1= 4  Bd2= 5.000000e+00 </a:t>
            </a:r>
            <a:r>
              <a:rPr lang="es-AR" sz="1800" dirty="0" err="1"/>
              <a:t>Hb</a:t>
            </a:r>
            <a:r>
              <a:rPr lang="es-AR" sz="1800" dirty="0"/>
              <a:t>= ok</a:t>
            </a:r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446856" y="3116762"/>
            <a:ext cx="8229600" cy="1368152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800" dirty="0" err="1" smtClean="0"/>
              <a:t>fprintf</a:t>
            </a:r>
            <a:r>
              <a:rPr lang="es-AR" sz="1800" dirty="0" smtClean="0"/>
              <a:t>(</a:t>
            </a:r>
            <a:r>
              <a:rPr lang="es-AR" sz="1800" dirty="0" err="1" smtClean="0"/>
              <a:t>MyString</a:t>
            </a:r>
            <a:r>
              <a:rPr lang="es-AR" sz="1800" dirty="0" smtClean="0"/>
              <a:t>, 1,2,3,4,5,”Ok”,6)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sz="1800" dirty="0" smtClean="0"/>
          </a:p>
          <a:p>
            <a:pPr marL="0" indent="0">
              <a:buNone/>
            </a:pPr>
            <a:r>
              <a:rPr lang="es-AR" sz="1800" dirty="0" err="1"/>
              <a:t>Patient</a:t>
            </a:r>
            <a:r>
              <a:rPr lang="es-AR" sz="1800" dirty="0"/>
              <a:t> 1: </a:t>
            </a:r>
            <a:r>
              <a:rPr lang="es-AR" sz="1800" dirty="0" err="1"/>
              <a:t>Results</a:t>
            </a:r>
            <a:r>
              <a:rPr lang="es-AR" sz="1800" dirty="0"/>
              <a:t>: T1= 2.00 T2= 3% Bd1= 4  Bd2= 5.000000e+00 </a:t>
            </a:r>
            <a:r>
              <a:rPr lang="es-AR" sz="1800" dirty="0" err="1"/>
              <a:t>Hb</a:t>
            </a:r>
            <a:r>
              <a:rPr lang="es-AR" sz="1800" dirty="0"/>
              <a:t>= Ok</a:t>
            </a:r>
          </a:p>
          <a:p>
            <a:pPr marL="0" indent="0">
              <a:buNone/>
            </a:pPr>
            <a:r>
              <a:rPr lang="es-AR" sz="1800" dirty="0" err="1"/>
              <a:t>Patient</a:t>
            </a:r>
            <a:r>
              <a:rPr lang="es-AR" sz="1800" dirty="0"/>
              <a:t> 6: </a:t>
            </a:r>
            <a:r>
              <a:rPr lang="es-AR" sz="1800" dirty="0" err="1"/>
              <a:t>Results</a:t>
            </a:r>
            <a:r>
              <a:rPr lang="es-AR" sz="1800" dirty="0"/>
              <a:t>: T1=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446856" y="4480520"/>
            <a:ext cx="8229600" cy="1036712"/>
          </a:xfrm>
          <a:prstGeom prst="rect">
            <a:avLst/>
          </a:prstGeom>
          <a:ln w="2540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800" dirty="0" err="1" smtClean="0"/>
              <a:t>fprintf</a:t>
            </a:r>
            <a:r>
              <a:rPr lang="es-AR" sz="1800" dirty="0" smtClean="0"/>
              <a:t>(</a:t>
            </a:r>
            <a:r>
              <a:rPr lang="es-AR" sz="1800" dirty="0" err="1" smtClean="0"/>
              <a:t>MyString</a:t>
            </a:r>
            <a:r>
              <a:rPr lang="es-AR" sz="1800" dirty="0" smtClean="0"/>
              <a:t>, 1,2,3,4,5)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sz="1800" dirty="0" smtClean="0"/>
          </a:p>
          <a:p>
            <a:pPr marL="0" indent="0">
              <a:buNone/>
            </a:pPr>
            <a:r>
              <a:rPr lang="de-DE" sz="1800" dirty="0"/>
              <a:t>Patient 1: Results: T1= 2.00 T2= 3% Bd1= 4  Bd2= 5.000000e+00 Hb=</a:t>
            </a:r>
            <a:endParaRPr lang="es-AR" sz="1800" dirty="0"/>
          </a:p>
        </p:txBody>
      </p:sp>
      <p:sp>
        <p:nvSpPr>
          <p:cNvPr id="6" name="5 Rectángulo"/>
          <p:cNvSpPr/>
          <p:nvPr/>
        </p:nvSpPr>
        <p:spPr>
          <a:xfrm>
            <a:off x="0" y="112474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MyString</a:t>
            </a:r>
            <a:r>
              <a:rPr lang="en-US" dirty="0" smtClean="0"/>
              <a:t>="</a:t>
            </a:r>
            <a:r>
              <a:rPr lang="de-DE" dirty="0"/>
              <a:t>Patient %d: Results: T1= %2.2f T2=%2d%% Bd1= %g  Bd2= %e Hb= %s\n</a:t>
            </a:r>
            <a:r>
              <a:rPr lang="de-DE" dirty="0" smtClean="0"/>
              <a:t>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88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Matlab</a:t>
            </a:r>
            <a:endParaRPr lang="es-AR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3251833"/>
              </p:ext>
            </p:extLst>
          </p:nvPr>
        </p:nvGraphicFramePr>
        <p:xfrm>
          <a:off x="179588" y="1755393"/>
          <a:ext cx="8424860" cy="42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248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s-AR" sz="2800" u="none" strike="noStrike" dirty="0" err="1" smtClean="0">
                          <a:effectLst/>
                        </a:rPr>
                        <a:t>fprintf</a:t>
                      </a:r>
                      <a:r>
                        <a:rPr lang="es-AR" sz="2800" u="none" strike="noStrike" dirty="0" smtClean="0">
                          <a:effectLst/>
                        </a:rPr>
                        <a:t>(</a:t>
                      </a:r>
                      <a:r>
                        <a:rPr lang="es-AR" sz="2800" u="none" strike="noStrike" dirty="0" err="1" smtClean="0">
                          <a:effectLst/>
                        </a:rPr>
                        <a:t>MyString</a:t>
                      </a:r>
                      <a:r>
                        <a:rPr lang="es-AR" sz="2800" u="none" strike="noStrike" dirty="0" smtClean="0">
                          <a:effectLst/>
                        </a:rPr>
                        <a:t>, F(:,1) , </a:t>
                      </a:r>
                      <a:r>
                        <a:rPr lang="es-AR" sz="2800" u="none" strike="noStrike" baseline="0" dirty="0" smtClean="0">
                          <a:effectLst/>
                        </a:rPr>
                        <a:t>F(:,2) </a:t>
                      </a:r>
                      <a:r>
                        <a:rPr lang="es-AR" sz="2800" u="none" strike="noStrike" dirty="0" smtClean="0">
                          <a:effectLst/>
                        </a:rPr>
                        <a:t>, </a:t>
                      </a:r>
                      <a:r>
                        <a:rPr lang="es-AR" sz="2800" u="none" strike="noStrike" baseline="0" dirty="0" smtClean="0">
                          <a:effectLst/>
                        </a:rPr>
                        <a:t>F(:,3) </a:t>
                      </a:r>
                      <a:r>
                        <a:rPr lang="es-AR" sz="2800" u="none" strike="noStrike" dirty="0" smtClean="0">
                          <a:effectLst/>
                        </a:rPr>
                        <a:t>, F(:,4) , F(:,5) , </a:t>
                      </a:r>
                      <a:r>
                        <a:rPr lang="es-AR" sz="2800" u="none" strike="noStrike" dirty="0" err="1" smtClean="0">
                          <a:effectLst/>
                        </a:rPr>
                        <a:t>Hb</a:t>
                      </a:r>
                      <a:r>
                        <a:rPr lang="es-AR" sz="2800" u="none" strike="noStrike" dirty="0" smtClean="0">
                          <a:effectLst/>
                        </a:rPr>
                        <a:t> )</a:t>
                      </a:r>
                      <a:endParaRPr lang="es-AR" sz="2800" b="0" i="0" u="none" strike="noStrike" dirty="0">
                        <a:solidFill>
                          <a:srgbClr val="32B9B9"/>
                        </a:solidFill>
                        <a:effectLst/>
                        <a:latin typeface="Monospaced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" name="2 Rectángulo"/>
          <p:cNvSpPr/>
          <p:nvPr/>
        </p:nvSpPr>
        <p:spPr>
          <a:xfrm>
            <a:off x="107504" y="4166503"/>
            <a:ext cx="90364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750" dirty="0"/>
              <a:t>Patient 2: Results: T1= 3.00 T2= 4% Bd1= 5 Bd2= 2.693000e+01 Hb=</a:t>
            </a:r>
          </a:p>
          <a:p>
            <a:r>
              <a:rPr lang="de-DE" sz="1750" dirty="0"/>
              <a:t>Patient 40.51: Results: T1= 91.84 T2=3.62% Bd1= 15.04 Bd2= 2.530000e+01 Hb=</a:t>
            </a:r>
          </a:p>
          <a:p>
            <a:r>
              <a:rPr lang="de-DE" sz="1750" dirty="0"/>
              <a:t>Patient 4.37: Results: T1= 48.18 T2=41.48% Bd1= 26.39 Bd2= 2.806000e+01 Hb= 2(</a:t>
            </a:r>
          </a:p>
          <a:p>
            <a:r>
              <a:rPr lang="de-DE" sz="1750" dirty="0"/>
              <a:t>Patient 77.83: Results: T1= 78.00 T2=79% Bd1= 75 Bd2= 7.800000e+01 Hb= OKNOKOK</a:t>
            </a:r>
            <a:endParaRPr lang="es-AR" sz="175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144058"/>
              </p:ext>
            </p:extLst>
          </p:nvPr>
        </p:nvGraphicFramePr>
        <p:xfrm>
          <a:off x="2622848" y="2276872"/>
          <a:ext cx="583758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0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26.93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3,62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40,37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63.25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15,04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28,06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40.51 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40,51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41,48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NOK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91.84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91,84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26,39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77,83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OK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5" name="14 Rectángulo"/>
          <p:cNvSpPr/>
          <p:nvPr/>
        </p:nvSpPr>
        <p:spPr>
          <a:xfrm>
            <a:off x="2627784" y="2294794"/>
            <a:ext cx="936180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899592" y="4238511"/>
            <a:ext cx="173759" cy="21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31 Rectángulo"/>
          <p:cNvSpPr/>
          <p:nvPr/>
        </p:nvSpPr>
        <p:spPr>
          <a:xfrm>
            <a:off x="2627784" y="2654834"/>
            <a:ext cx="93618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3" name="32 Rectángulo"/>
          <p:cNvSpPr/>
          <p:nvPr/>
        </p:nvSpPr>
        <p:spPr>
          <a:xfrm>
            <a:off x="2627784" y="3014874"/>
            <a:ext cx="936180" cy="38707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Rectángulo"/>
          <p:cNvSpPr/>
          <p:nvPr/>
        </p:nvSpPr>
        <p:spPr>
          <a:xfrm>
            <a:off x="2627784" y="3401946"/>
            <a:ext cx="936180" cy="36004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5" name="34 Rectángulo"/>
          <p:cNvSpPr/>
          <p:nvPr/>
        </p:nvSpPr>
        <p:spPr>
          <a:xfrm>
            <a:off x="2339752" y="4238511"/>
            <a:ext cx="521317" cy="216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35 Rectángulo"/>
          <p:cNvSpPr/>
          <p:nvPr/>
        </p:nvSpPr>
        <p:spPr>
          <a:xfrm>
            <a:off x="3286747" y="4238511"/>
            <a:ext cx="337044" cy="2160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36 Rectángulo"/>
          <p:cNvSpPr/>
          <p:nvPr/>
        </p:nvSpPr>
        <p:spPr>
          <a:xfrm>
            <a:off x="4211960" y="4238511"/>
            <a:ext cx="139023" cy="21600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Rectángulo"/>
          <p:cNvSpPr/>
          <p:nvPr/>
        </p:nvSpPr>
        <p:spPr>
          <a:xfrm>
            <a:off x="4945112" y="4238510"/>
            <a:ext cx="1499096" cy="216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38 Rectángulo"/>
          <p:cNvSpPr/>
          <p:nvPr/>
        </p:nvSpPr>
        <p:spPr>
          <a:xfrm>
            <a:off x="6948264" y="4238511"/>
            <a:ext cx="208535" cy="216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39 Rectángulo"/>
          <p:cNvSpPr/>
          <p:nvPr/>
        </p:nvSpPr>
        <p:spPr>
          <a:xfrm>
            <a:off x="3563964" y="2276872"/>
            <a:ext cx="1080000" cy="3600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40 Rectángulo"/>
          <p:cNvSpPr/>
          <p:nvPr/>
        </p:nvSpPr>
        <p:spPr>
          <a:xfrm>
            <a:off x="3563964" y="2636912"/>
            <a:ext cx="1080000" cy="36004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41 Rectángulo"/>
          <p:cNvSpPr/>
          <p:nvPr/>
        </p:nvSpPr>
        <p:spPr>
          <a:xfrm>
            <a:off x="3563964" y="2996952"/>
            <a:ext cx="1080000" cy="40499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3" name="42 Rectángulo"/>
          <p:cNvSpPr/>
          <p:nvPr/>
        </p:nvSpPr>
        <p:spPr>
          <a:xfrm>
            <a:off x="922115" y="4526567"/>
            <a:ext cx="521317" cy="2160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216024" y="1124744"/>
            <a:ext cx="925252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900" dirty="0" err="1"/>
              <a:t>MyString</a:t>
            </a:r>
            <a:r>
              <a:rPr lang="en-US" sz="1900" dirty="0" smtClean="0"/>
              <a:t>="</a:t>
            </a:r>
            <a:r>
              <a:rPr lang="de-DE" sz="1900" dirty="0"/>
              <a:t>Patient %d: Results: T1= %2.2f T2=%2d%% Bd1= %g  Bd2= %e Hb= %s\n</a:t>
            </a:r>
            <a:r>
              <a:rPr lang="de-DE" sz="1900" dirty="0" smtClean="0"/>
              <a:t>"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655936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070527"/>
              </p:ext>
            </p:extLst>
          </p:nvPr>
        </p:nvGraphicFramePr>
        <p:xfrm>
          <a:off x="270860" y="836712"/>
          <a:ext cx="8621620" cy="5182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85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5801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2487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0037">
                <a:tc rowSpan="2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Descripción</a:t>
                      </a:r>
                      <a:endParaRPr lang="es-AR" sz="1800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Función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6325">
                <a:tc vMerge="1">
                  <a:txBody>
                    <a:bodyPr/>
                    <a:lstStyle/>
                    <a:p>
                      <a:pPr algn="ctr"/>
                      <a:endParaRPr lang="es-AR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Matlab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Scilab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Octave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2333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Imprimir</a:t>
                      </a:r>
                      <a:r>
                        <a:rPr lang="es-AR" sz="1800" baseline="0" dirty="0" smtClean="0"/>
                        <a:t> en la consola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fprintf</a:t>
                      </a:r>
                      <a:r>
                        <a:rPr lang="es-AR" sz="1800" dirty="0" smtClean="0"/>
                        <a:t>(“”)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mfprintf</a:t>
                      </a:r>
                      <a:r>
                        <a:rPr lang="es-AR" sz="1800" dirty="0" smtClean="0"/>
                        <a:t>(6,””)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fprintf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Almacenar</a:t>
                      </a:r>
                      <a:r>
                        <a:rPr lang="es-AR" sz="1800" baseline="0" dirty="0" smtClean="0"/>
                        <a:t> una parte del </a:t>
                      </a:r>
                      <a:r>
                        <a:rPr lang="es-AR" sz="1800" baseline="0" dirty="0" err="1" smtClean="0"/>
                        <a:t>string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Índice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part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Índice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Invertir</a:t>
                      </a:r>
                      <a:r>
                        <a:rPr lang="es-AR" sz="1800" baseline="0" dirty="0" smtClean="0"/>
                        <a:t> </a:t>
                      </a:r>
                      <a:r>
                        <a:rPr lang="es-AR" sz="1800" baseline="0" dirty="0" err="1" smtClean="0"/>
                        <a:t>string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Índice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strrev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Índice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2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Comparar </a:t>
                      </a:r>
                      <a:r>
                        <a:rPr lang="es-AR" sz="1800" dirty="0" err="1" smtClean="0"/>
                        <a:t>strings</a:t>
                      </a:r>
                      <a:endParaRPr lang="es-AR" sz="1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strcmp</a:t>
                      </a:r>
                      <a:r>
                        <a:rPr lang="es-AR" sz="1800" dirty="0" smtClean="0"/>
                        <a:t>(“”,””)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strcmp</a:t>
                      </a:r>
                      <a:r>
                        <a:rPr lang="es-AR" sz="1800" dirty="0" smtClean="0"/>
                        <a:t>(“”,””)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strcmp</a:t>
                      </a:r>
                      <a:r>
                        <a:rPr lang="es-AR" sz="1800" dirty="0" smtClean="0"/>
                        <a:t>(“”,””)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2060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Buscar un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pequeño dentro de un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más</a:t>
                      </a:r>
                      <a:r>
                        <a:rPr lang="es-AR" sz="1800" baseline="0" dirty="0" smtClean="0"/>
                        <a:t> largo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strfind</a:t>
                      </a:r>
                      <a:r>
                        <a:rPr lang="es-AR" sz="1800" dirty="0" smtClean="0"/>
                        <a:t>(“”,””)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err="1" smtClean="0"/>
                        <a:t>mtlb_strfind</a:t>
                      </a:r>
                      <a:r>
                        <a:rPr lang="es-AR" sz="1800" dirty="0" smtClean="0"/>
                        <a:t>(“”,””)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err="1" smtClean="0"/>
                        <a:t>strfind</a:t>
                      </a:r>
                      <a:r>
                        <a:rPr lang="es-AR" sz="1800" dirty="0" smtClean="0"/>
                        <a:t>(“”,””)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las letras del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a </a:t>
                      </a:r>
                      <a:r>
                        <a:rPr lang="es-AR" sz="1800" dirty="0" err="1" smtClean="0"/>
                        <a:t>minusculas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lower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mtlb_lower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lower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las letras del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a </a:t>
                      </a:r>
                      <a:r>
                        <a:rPr lang="es-AR" sz="1800" dirty="0" err="1" smtClean="0"/>
                        <a:t>mayusculas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upper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mtlb_upper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upper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un </a:t>
                      </a:r>
                      <a:r>
                        <a:rPr lang="es-AR" sz="1800" dirty="0" err="1" smtClean="0"/>
                        <a:t>double</a:t>
                      </a:r>
                      <a:r>
                        <a:rPr lang="es-AR" sz="1800" baseline="0" dirty="0" smtClean="0"/>
                        <a:t> en </a:t>
                      </a:r>
                      <a:r>
                        <a:rPr lang="es-AR" sz="1800" baseline="0" dirty="0" err="1" smtClean="0"/>
                        <a:t>string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num2str(“”)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num2str(“”)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un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baseline="0" dirty="0" smtClean="0"/>
                        <a:t> en </a:t>
                      </a:r>
                      <a:r>
                        <a:rPr lang="es-AR" sz="1800" baseline="0" dirty="0" err="1" smtClean="0"/>
                        <a:t>double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str2num(“”)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err="1" smtClean="0"/>
                        <a:t>strtod</a:t>
                      </a:r>
                      <a:r>
                        <a:rPr lang="es-AR" sz="1800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str2num(“”)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764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Rectángulo"/>
          <p:cNvSpPr/>
          <p:nvPr/>
        </p:nvSpPr>
        <p:spPr>
          <a:xfrm>
            <a:off x="35496" y="1268760"/>
            <a:ext cx="91085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sz="2400" dirty="0" err="1" smtClean="0"/>
              <a:t>fprintf</a:t>
            </a:r>
            <a:r>
              <a:rPr lang="en-US" sz="2400" dirty="0"/>
              <a:t>(</a:t>
            </a:r>
            <a:r>
              <a:rPr lang="en-US" sz="2400" dirty="0" smtClean="0"/>
              <a:t>"These </a:t>
            </a:r>
            <a:r>
              <a:rPr lang="en-US" sz="2400" dirty="0"/>
              <a:t>are the </a:t>
            </a:r>
            <a:r>
              <a:rPr lang="en-US" sz="2400" dirty="0" smtClean="0"/>
              <a:t>medical tests results for each patient\n</a:t>
            </a:r>
            <a:r>
              <a:rPr lang="en-US" sz="2400" dirty="0"/>
              <a:t>");</a:t>
            </a:r>
            <a:endParaRPr lang="en-US" sz="2400" dirty="0">
              <a:solidFill>
                <a:srgbClr val="32B9B9"/>
              </a:solidFill>
              <a:latin typeface="Monospaced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7668344" y="1299392"/>
            <a:ext cx="360040" cy="400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3200"/>
          </a:p>
        </p:txBody>
      </p:sp>
      <p:sp>
        <p:nvSpPr>
          <p:cNvPr id="20" name="19 Rectángulo"/>
          <p:cNvSpPr/>
          <p:nvPr/>
        </p:nvSpPr>
        <p:spPr>
          <a:xfrm>
            <a:off x="454887" y="1988840"/>
            <a:ext cx="67094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These are the </a:t>
            </a:r>
            <a:r>
              <a:rPr lang="en-US" sz="2400" dirty="0" smtClean="0"/>
              <a:t>medical test results for each patient</a:t>
            </a:r>
            <a:endParaRPr lang="es-AR" sz="2400" dirty="0"/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Strings</a:t>
            </a:r>
            <a:endParaRPr lang="es-AR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0" y="2831998"/>
            <a:ext cx="9143999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700" dirty="0" err="1" smtClean="0"/>
              <a:t>fprintf</a:t>
            </a:r>
            <a:r>
              <a:rPr lang="es-AR" altLang="es-AR" sz="1700" dirty="0" smtClean="0"/>
              <a:t>(</a:t>
            </a:r>
            <a:r>
              <a:rPr lang="de-DE" sz="1700" dirty="0" smtClean="0"/>
              <a:t>"Patient </a:t>
            </a:r>
            <a:r>
              <a:rPr lang="de-DE" sz="1700" dirty="0"/>
              <a:t>%d: Results: T1= %2.2f T2=%2d%% Bd1= %g </a:t>
            </a:r>
            <a:r>
              <a:rPr lang="de-DE" sz="1700" dirty="0" smtClean="0"/>
              <a:t> </a:t>
            </a:r>
            <a:r>
              <a:rPr lang="de-DE" sz="1700" dirty="0"/>
              <a:t>Bd2= %e Hb= %s\n</a:t>
            </a:r>
            <a:r>
              <a:rPr lang="de-DE" sz="1700" dirty="0" smtClean="0"/>
              <a:t>",[0:2],3,4,"</a:t>
            </a:r>
            <a:r>
              <a:rPr lang="de-DE" sz="1700" dirty="0"/>
              <a:t>OK"</a:t>
            </a:r>
            <a:r>
              <a:rPr lang="es-AR" altLang="es-AR" sz="1700" dirty="0" smtClean="0"/>
              <a:t>);</a:t>
            </a:r>
            <a:endParaRPr lang="es-AR" altLang="es-AR" sz="1700" dirty="0"/>
          </a:p>
        </p:txBody>
      </p:sp>
      <p:sp>
        <p:nvSpPr>
          <p:cNvPr id="9" name="8 Rectángulo"/>
          <p:cNvSpPr/>
          <p:nvPr/>
        </p:nvSpPr>
        <p:spPr>
          <a:xfrm>
            <a:off x="1450878" y="2911702"/>
            <a:ext cx="312810" cy="20230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Rectángulo"/>
          <p:cNvSpPr/>
          <p:nvPr/>
        </p:nvSpPr>
        <p:spPr>
          <a:xfrm>
            <a:off x="3016410" y="2927340"/>
            <a:ext cx="619486" cy="1866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3995936" y="2925696"/>
            <a:ext cx="703901" cy="1865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5306403" y="2911699"/>
            <a:ext cx="273709" cy="2273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6228184" y="2910102"/>
            <a:ext cx="273578" cy="21524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Rectángulo"/>
          <p:cNvSpPr/>
          <p:nvPr/>
        </p:nvSpPr>
        <p:spPr>
          <a:xfrm>
            <a:off x="6984000" y="2927430"/>
            <a:ext cx="252000" cy="18657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7578000" y="2927339"/>
            <a:ext cx="432048" cy="1980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ectángulo"/>
          <p:cNvSpPr/>
          <p:nvPr/>
        </p:nvSpPr>
        <p:spPr>
          <a:xfrm>
            <a:off x="395536" y="3234462"/>
            <a:ext cx="8784976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700" dirty="0" err="1" smtClean="0"/>
              <a:t>Patient</a:t>
            </a:r>
            <a:r>
              <a:rPr lang="es-AR" sz="1700" dirty="0" smtClean="0"/>
              <a:t> 0: </a:t>
            </a:r>
            <a:r>
              <a:rPr lang="es-AR" sz="1700" dirty="0" err="1"/>
              <a:t>Results</a:t>
            </a:r>
            <a:r>
              <a:rPr lang="es-AR" sz="1700" dirty="0"/>
              <a:t>: </a:t>
            </a:r>
            <a:r>
              <a:rPr lang="es-AR" sz="1700" dirty="0" smtClean="0"/>
              <a:t>T1= 1.00   T2= 2%  </a:t>
            </a:r>
            <a:r>
              <a:rPr lang="es-AR" sz="1700" dirty="0" err="1" smtClean="0"/>
              <a:t>Hb</a:t>
            </a:r>
            <a:r>
              <a:rPr lang="es-AR" sz="1700" dirty="0" smtClean="0"/>
              <a:t>= OK Bd1= 4 Bd2= </a:t>
            </a:r>
            <a:r>
              <a:rPr lang="es-AR" sz="1700" dirty="0"/>
              <a:t>5.000000e+00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8423213" y="2911701"/>
            <a:ext cx="469267" cy="24363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8028384" y="2922485"/>
            <a:ext cx="144000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8208000" y="2926860"/>
            <a:ext cx="144000" cy="17562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73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Strings</a:t>
            </a:r>
            <a:endParaRPr lang="es-AR" dirty="0"/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-44655" y="3212976"/>
            <a:ext cx="981961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600" dirty="0" err="1" smtClean="0"/>
              <a:t>fprintf</a:t>
            </a:r>
            <a:r>
              <a:rPr lang="es-AR" altLang="es-AR" sz="1600" dirty="0" smtClean="0"/>
              <a:t>(</a:t>
            </a:r>
            <a:r>
              <a:rPr lang="de-DE" sz="1600" dirty="0" smtClean="0"/>
              <a:t>"Patient </a:t>
            </a:r>
            <a:r>
              <a:rPr lang="de-DE" sz="1600" dirty="0"/>
              <a:t>%d: Results: T1= </a:t>
            </a:r>
            <a:r>
              <a:rPr lang="de-DE" sz="1600" dirty="0" smtClean="0"/>
              <a:t>%4.2f </a:t>
            </a:r>
            <a:r>
              <a:rPr lang="de-DE" sz="1600" dirty="0"/>
              <a:t>T2=%2d%% Bd1= %</a:t>
            </a:r>
            <a:r>
              <a:rPr lang="de-DE" sz="1600" dirty="0" smtClean="0"/>
              <a:t>g </a:t>
            </a:r>
            <a:r>
              <a:rPr lang="de-DE" sz="1600" dirty="0"/>
              <a:t>Bd2= %e Hb= %s\n</a:t>
            </a:r>
            <a:r>
              <a:rPr lang="de-DE" sz="1600" dirty="0" smtClean="0"/>
              <a:t>",[1:3],4,1567,5,154,"</a:t>
            </a:r>
            <a:r>
              <a:rPr lang="de-DE" sz="1600" dirty="0"/>
              <a:t>OK"</a:t>
            </a:r>
            <a:r>
              <a:rPr lang="es-AR" altLang="es-AR" sz="1600" dirty="0" smtClean="0"/>
              <a:t>);</a:t>
            </a:r>
            <a:endParaRPr lang="es-AR" altLang="es-AR" sz="1600" dirty="0"/>
          </a:p>
        </p:txBody>
      </p:sp>
      <p:cxnSp>
        <p:nvCxnSpPr>
          <p:cNvPr id="16" name="15 Conector recto de flecha"/>
          <p:cNvCxnSpPr>
            <a:stCxn id="29" idx="0"/>
          </p:cNvCxnSpPr>
          <p:nvPr/>
        </p:nvCxnSpPr>
        <p:spPr>
          <a:xfrm flipH="1" flipV="1">
            <a:off x="2376264" y="2536826"/>
            <a:ext cx="701948" cy="7617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216024" y="1675051"/>
            <a:ext cx="28803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4 </a:t>
            </a:r>
            <a:r>
              <a:rPr lang="es-AR" sz="1600" dirty="0" err="1" smtClean="0"/>
              <a:t>digit</a:t>
            </a:r>
            <a:r>
              <a:rPr lang="es-AR" sz="1600" dirty="0" smtClean="0"/>
              <a:t> </a:t>
            </a:r>
            <a:r>
              <a:rPr lang="es-AR" sz="1600" dirty="0" err="1" smtClean="0"/>
              <a:t>number</a:t>
            </a:r>
            <a:endParaRPr lang="es-A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2 decimales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err="1" smtClean="0"/>
              <a:t>Notacion</a:t>
            </a:r>
            <a:r>
              <a:rPr lang="es-AR" sz="1600" dirty="0" smtClean="0"/>
              <a:t> de punto flotante</a:t>
            </a:r>
          </a:p>
        </p:txBody>
      </p:sp>
      <p:cxnSp>
        <p:nvCxnSpPr>
          <p:cNvPr id="18" name="17 Conector recto de flecha"/>
          <p:cNvCxnSpPr>
            <a:stCxn id="28" idx="0"/>
          </p:cNvCxnSpPr>
          <p:nvPr/>
        </p:nvCxnSpPr>
        <p:spPr>
          <a:xfrm flipH="1" flipV="1">
            <a:off x="1008112" y="2996952"/>
            <a:ext cx="467908" cy="278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29766" y="2587769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Uso de </a:t>
            </a:r>
            <a:r>
              <a:rPr lang="es-AR" sz="1600" dirty="0" err="1" smtClean="0"/>
              <a:t>integers</a:t>
            </a:r>
            <a:endParaRPr lang="es-AR" sz="1600" dirty="0"/>
          </a:p>
        </p:txBody>
      </p:sp>
      <p:cxnSp>
        <p:nvCxnSpPr>
          <p:cNvPr id="20" name="19 Conector recto de flecha"/>
          <p:cNvCxnSpPr>
            <a:stCxn id="34" idx="0"/>
            <a:endCxn id="21" idx="2"/>
          </p:cNvCxnSpPr>
          <p:nvPr/>
        </p:nvCxnSpPr>
        <p:spPr>
          <a:xfrm flipH="1" flipV="1">
            <a:off x="3616152" y="2274550"/>
            <a:ext cx="425167" cy="1024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20 CuadroTexto"/>
          <p:cNvSpPr txBox="1"/>
          <p:nvPr/>
        </p:nvSpPr>
        <p:spPr>
          <a:xfrm>
            <a:off x="2520280" y="1412776"/>
            <a:ext cx="21917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2 </a:t>
            </a:r>
            <a:r>
              <a:rPr lang="es-AR" sz="1600" dirty="0" err="1" smtClean="0"/>
              <a:t>digitos</a:t>
            </a:r>
            <a:endParaRPr lang="es-A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“d” es similar a “i”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AR" sz="1600" dirty="0" smtClean="0"/>
              <a:t>Introduce “%”  </a:t>
            </a:r>
          </a:p>
        </p:txBody>
      </p:sp>
      <p:cxnSp>
        <p:nvCxnSpPr>
          <p:cNvPr id="22" name="21 Conector recto de flecha"/>
          <p:cNvCxnSpPr>
            <a:stCxn id="36" idx="0"/>
          </p:cNvCxnSpPr>
          <p:nvPr/>
        </p:nvCxnSpPr>
        <p:spPr>
          <a:xfrm flipV="1">
            <a:off x="5076420" y="2746672"/>
            <a:ext cx="18016" cy="5379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4032448" y="2204864"/>
            <a:ext cx="224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/>
              <a:t>Notación científica compacta</a:t>
            </a:r>
            <a:endParaRPr lang="es-AR" sz="1600" dirty="0"/>
          </a:p>
        </p:txBody>
      </p:sp>
      <p:cxnSp>
        <p:nvCxnSpPr>
          <p:cNvPr id="24" name="23 Conector recto de flecha"/>
          <p:cNvCxnSpPr>
            <a:stCxn id="37" idx="0"/>
          </p:cNvCxnSpPr>
          <p:nvPr/>
        </p:nvCxnSpPr>
        <p:spPr>
          <a:xfrm flipV="1">
            <a:off x="5868508" y="2406196"/>
            <a:ext cx="702264" cy="8787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CuadroTexto"/>
          <p:cNvSpPr txBox="1"/>
          <p:nvPr/>
        </p:nvSpPr>
        <p:spPr>
          <a:xfrm>
            <a:off x="6156512" y="2101007"/>
            <a:ext cx="3419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 smtClean="0"/>
              <a:t>Notación científica extensa</a:t>
            </a:r>
            <a:endParaRPr lang="es-AR" sz="1600" dirty="0"/>
          </a:p>
        </p:txBody>
      </p:sp>
      <p:cxnSp>
        <p:nvCxnSpPr>
          <p:cNvPr id="26" name="25 Conector recto de flecha"/>
          <p:cNvCxnSpPr>
            <a:stCxn id="38" idx="0"/>
            <a:endCxn id="27" idx="1"/>
          </p:cNvCxnSpPr>
          <p:nvPr/>
        </p:nvCxnSpPr>
        <p:spPr>
          <a:xfrm flipV="1">
            <a:off x="6624620" y="2769377"/>
            <a:ext cx="216140" cy="5213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26 CuadroTexto"/>
          <p:cNvSpPr txBox="1"/>
          <p:nvPr/>
        </p:nvSpPr>
        <p:spPr>
          <a:xfrm>
            <a:off x="6840760" y="2600100"/>
            <a:ext cx="3419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 smtClean="0"/>
              <a:t>“s” introduce un </a:t>
            </a:r>
            <a:r>
              <a:rPr lang="es-AR" sz="1600" dirty="0" err="1" smtClean="0"/>
              <a:t>string</a:t>
            </a:r>
            <a:endParaRPr lang="es-AR" sz="1600" dirty="0"/>
          </a:p>
        </p:txBody>
      </p:sp>
      <p:sp>
        <p:nvSpPr>
          <p:cNvPr id="28" name="27 Rectángulo"/>
          <p:cNvSpPr/>
          <p:nvPr/>
        </p:nvSpPr>
        <p:spPr>
          <a:xfrm>
            <a:off x="1350020" y="3275398"/>
            <a:ext cx="252000" cy="22524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Rectángulo"/>
          <p:cNvSpPr/>
          <p:nvPr/>
        </p:nvSpPr>
        <p:spPr>
          <a:xfrm>
            <a:off x="2790180" y="3298618"/>
            <a:ext cx="576064" cy="2095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Rectángulo"/>
          <p:cNvSpPr/>
          <p:nvPr/>
        </p:nvSpPr>
        <p:spPr>
          <a:xfrm>
            <a:off x="3708282" y="3298618"/>
            <a:ext cx="666074" cy="2020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35 Rectángulo"/>
          <p:cNvSpPr/>
          <p:nvPr/>
        </p:nvSpPr>
        <p:spPr>
          <a:xfrm>
            <a:off x="4950420" y="3284624"/>
            <a:ext cx="252000" cy="240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7" name="36 Rectángulo"/>
          <p:cNvSpPr/>
          <p:nvPr/>
        </p:nvSpPr>
        <p:spPr>
          <a:xfrm>
            <a:off x="5742508" y="3284984"/>
            <a:ext cx="252000" cy="191518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8" name="37 Rectángulo"/>
          <p:cNvSpPr/>
          <p:nvPr/>
        </p:nvSpPr>
        <p:spPr>
          <a:xfrm>
            <a:off x="6498620" y="3290754"/>
            <a:ext cx="252000" cy="22524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9" name="38 Rectángulo"/>
          <p:cNvSpPr/>
          <p:nvPr/>
        </p:nvSpPr>
        <p:spPr>
          <a:xfrm>
            <a:off x="0" y="3738518"/>
            <a:ext cx="8784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1600" dirty="0"/>
              <a:t>Patient </a:t>
            </a:r>
            <a:r>
              <a:rPr lang="de-DE" sz="1600" dirty="0" smtClean="0"/>
              <a:t>1: </a:t>
            </a:r>
            <a:r>
              <a:rPr lang="de-DE" sz="1600" dirty="0"/>
              <a:t>Results: T1= </a:t>
            </a:r>
            <a:r>
              <a:rPr lang="de-DE" sz="1600" dirty="0" smtClean="0"/>
              <a:t>2.00   </a:t>
            </a:r>
            <a:r>
              <a:rPr lang="de-DE" sz="1600" dirty="0"/>
              <a:t>T2= </a:t>
            </a:r>
            <a:r>
              <a:rPr lang="de-DE" sz="1600" dirty="0" smtClean="0"/>
              <a:t>3% </a:t>
            </a:r>
            <a:r>
              <a:rPr lang="de-DE" sz="1600" dirty="0"/>
              <a:t>Bd1= </a:t>
            </a:r>
            <a:r>
              <a:rPr lang="de-DE" sz="1600" dirty="0" smtClean="0"/>
              <a:t>4.1567e+10  </a:t>
            </a:r>
            <a:r>
              <a:rPr lang="de-DE" sz="1600" dirty="0"/>
              <a:t>Bd2= 5.154000e+03 Hb= OK</a:t>
            </a:r>
            <a:endParaRPr lang="es-AR" sz="1600" dirty="0"/>
          </a:p>
        </p:txBody>
      </p:sp>
    </p:spTree>
    <p:extLst>
      <p:ext uri="{BB962C8B-B14F-4D97-AF65-F5344CB8AC3E}">
        <p14:creationId xmlns:p14="http://schemas.microsoft.com/office/powerpoint/2010/main" val="13025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9" grpId="0" animBg="1"/>
      <p:bldP spid="29" grpId="1" animBg="1"/>
      <p:bldP spid="34" grpId="0" animBg="1"/>
      <p:bldP spid="34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367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1800" b="0" dirty="0" err="1" smtClean="0"/>
              <a:t>fprintf</a:t>
            </a:r>
            <a:r>
              <a:rPr lang="es-AR" sz="1800" b="0" dirty="0" smtClean="0"/>
              <a:t>(</a:t>
            </a:r>
            <a:r>
              <a:rPr lang="es-AR" sz="1800" b="0" dirty="0" err="1" smtClean="0"/>
              <a:t>Format</a:t>
            </a:r>
            <a:r>
              <a:rPr lang="es-AR" sz="1800" b="0" dirty="0" smtClean="0"/>
              <a:t>,[1:3</a:t>
            </a:r>
            <a:r>
              <a:rPr lang="es-AR" sz="1800" b="0" dirty="0"/>
              <a:t>],"ok",4,5</a:t>
            </a:r>
            <a:r>
              <a:rPr lang="es-AR" sz="1800" b="0" dirty="0" smtClean="0"/>
              <a:t>);</a:t>
            </a:r>
          </a:p>
          <a:p>
            <a:pPr marL="0" indent="0">
              <a:buNone/>
            </a:pPr>
            <a:endParaRPr lang="es-AR" sz="1800" b="0" dirty="0"/>
          </a:p>
          <a:p>
            <a:pPr marL="0" indent="0">
              <a:buNone/>
            </a:pPr>
            <a:r>
              <a:rPr lang="es-AR" sz="1800" b="0" dirty="0" err="1" smtClean="0"/>
              <a:t>Patient</a:t>
            </a:r>
            <a:r>
              <a:rPr lang="es-AR" sz="1800" b="0" dirty="0" smtClean="0"/>
              <a:t> </a:t>
            </a:r>
            <a:r>
              <a:rPr lang="es-AR" sz="1800" b="0" dirty="0"/>
              <a:t>1: </a:t>
            </a:r>
            <a:r>
              <a:rPr lang="es-AR" sz="1800" b="0" dirty="0" err="1"/>
              <a:t>Results</a:t>
            </a:r>
            <a:r>
              <a:rPr lang="es-AR" sz="1800" b="0" dirty="0"/>
              <a:t>: A= 2.00   B= 3%  Status= ok C(1)= 4  C(2)= 5.000000e+00</a:t>
            </a:r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446856" y="2824336"/>
            <a:ext cx="8229600" cy="1036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1800" dirty="0" err="1" smtClean="0"/>
              <a:t>fprintf</a:t>
            </a:r>
            <a:r>
              <a:rPr lang="es-AR" sz="1800" dirty="0" smtClean="0"/>
              <a:t>(</a:t>
            </a:r>
            <a:r>
              <a:rPr lang="es-AR" sz="1800" dirty="0" err="1" smtClean="0"/>
              <a:t>Format</a:t>
            </a:r>
            <a:r>
              <a:rPr lang="es-AR" sz="1800" dirty="0" smtClean="0"/>
              <a:t>, 1,2,3,4,5,”Ok”,6)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sz="1800" dirty="0" smtClean="0"/>
          </a:p>
          <a:p>
            <a:pPr marL="0" indent="0">
              <a:buNone/>
            </a:pPr>
            <a:r>
              <a:rPr lang="es-AR" sz="1800" dirty="0" err="1" smtClean="0"/>
              <a:t>Patient</a:t>
            </a:r>
            <a:r>
              <a:rPr lang="es-AR" sz="1800" dirty="0" smtClean="0"/>
              <a:t> </a:t>
            </a:r>
            <a:r>
              <a:rPr lang="es-AR" sz="1800" dirty="0"/>
              <a:t>1: </a:t>
            </a:r>
            <a:r>
              <a:rPr lang="es-AR" sz="1800" dirty="0" err="1"/>
              <a:t>Results</a:t>
            </a:r>
            <a:r>
              <a:rPr lang="es-AR" sz="1800" dirty="0"/>
              <a:t>: A= 2.00   B= 3%  Status= ok C(1)= 4  C(2)= 5.000000e+00</a:t>
            </a:r>
          </a:p>
          <a:p>
            <a:pPr marL="0" indent="0">
              <a:buNone/>
            </a:pPr>
            <a:r>
              <a:rPr lang="es-AR" sz="1800" dirty="0" err="1" smtClean="0"/>
              <a:t>Patient</a:t>
            </a:r>
            <a:r>
              <a:rPr lang="es-AR" sz="1800" dirty="0" smtClean="0"/>
              <a:t> </a:t>
            </a:r>
            <a:r>
              <a:rPr lang="es-AR" sz="1800" dirty="0"/>
              <a:t>6:</a:t>
            </a:r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446856" y="4480520"/>
            <a:ext cx="8229600" cy="1036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800" dirty="0" err="1" smtClean="0"/>
              <a:t>fprintf</a:t>
            </a:r>
            <a:r>
              <a:rPr lang="es-AR" sz="1800" dirty="0" smtClean="0"/>
              <a:t>(</a:t>
            </a:r>
            <a:r>
              <a:rPr lang="es-AR" sz="1800" dirty="0" err="1" smtClean="0"/>
              <a:t>Format</a:t>
            </a:r>
            <a:r>
              <a:rPr lang="es-AR" sz="1800" dirty="0" smtClean="0"/>
              <a:t>, 1,2,3,4,5)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sz="1800" dirty="0" smtClean="0"/>
          </a:p>
          <a:p>
            <a:pPr marL="0" indent="0">
              <a:buNone/>
            </a:pPr>
            <a:r>
              <a:rPr lang="en-US" sz="1800" dirty="0" smtClean="0"/>
              <a:t>Patient </a:t>
            </a:r>
            <a:r>
              <a:rPr lang="en-US" sz="1800" dirty="0"/>
              <a:t>1: Results: A= 2.00   B= 3%  Status= ok C(1)= 4  C(2)=</a:t>
            </a:r>
            <a:endParaRPr lang="es-AR" sz="1800" dirty="0"/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Strings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2834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70350"/>
              </p:ext>
            </p:extLst>
          </p:nvPr>
        </p:nvGraphicFramePr>
        <p:xfrm>
          <a:off x="1115616" y="1332761"/>
          <a:ext cx="7021385" cy="45410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73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140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86362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Descripción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Función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2333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Imprimir</a:t>
                      </a:r>
                      <a:r>
                        <a:rPr lang="es-AR" sz="1800" baseline="0" dirty="0" smtClean="0"/>
                        <a:t> en la consola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fprintf</a:t>
                      </a:r>
                      <a:r>
                        <a:rPr lang="es-AR" sz="1800" dirty="0" smtClean="0"/>
                        <a:t>(“”)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Almacenar</a:t>
                      </a:r>
                      <a:r>
                        <a:rPr lang="es-AR" sz="1800" baseline="0" dirty="0" smtClean="0"/>
                        <a:t> una parte del </a:t>
                      </a:r>
                      <a:r>
                        <a:rPr lang="es-AR" sz="1800" baseline="0" dirty="0" err="1" smtClean="0"/>
                        <a:t>string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Variable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Invertir</a:t>
                      </a:r>
                      <a:r>
                        <a:rPr lang="es-AR" sz="1800" baseline="0" dirty="0" smtClean="0"/>
                        <a:t> </a:t>
                      </a:r>
                      <a:r>
                        <a:rPr lang="es-AR" sz="1800" baseline="0" dirty="0" err="1" smtClean="0"/>
                        <a:t>string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Índice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231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dirty="0" smtClean="0"/>
                        <a:t>Comparar </a:t>
                      </a:r>
                      <a:r>
                        <a:rPr lang="es-AR" sz="1800" dirty="0" err="1" smtClean="0"/>
                        <a:t>strings</a:t>
                      </a:r>
                      <a:endParaRPr lang="es-AR" sz="1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strcmp</a:t>
                      </a:r>
                      <a:r>
                        <a:rPr lang="es-AR" sz="1800" dirty="0" smtClean="0"/>
                        <a:t>(“”,””)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060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Buscar un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pequeño dentro de un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más</a:t>
                      </a:r>
                      <a:r>
                        <a:rPr lang="es-AR" sz="1800" baseline="0" dirty="0" smtClean="0"/>
                        <a:t> largo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strfind</a:t>
                      </a:r>
                      <a:r>
                        <a:rPr lang="es-AR" sz="1800" dirty="0" smtClean="0"/>
                        <a:t>(“”,””)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las letras del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a </a:t>
                      </a:r>
                      <a:r>
                        <a:rPr lang="es-AR" sz="1800" dirty="0" err="1" smtClean="0"/>
                        <a:t>minusculas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lower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las letras del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dirty="0" smtClean="0"/>
                        <a:t> a </a:t>
                      </a:r>
                      <a:r>
                        <a:rPr lang="es-AR" sz="1800" dirty="0" err="1" smtClean="0"/>
                        <a:t>mayusculas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err="1" smtClean="0"/>
                        <a:t>upper</a:t>
                      </a:r>
                      <a:r>
                        <a:rPr lang="es-AR" sz="1800" dirty="0" smtClean="0"/>
                        <a:t>(“”)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un </a:t>
                      </a:r>
                      <a:r>
                        <a:rPr lang="es-AR" sz="1800" dirty="0" err="1" smtClean="0"/>
                        <a:t>double</a:t>
                      </a:r>
                      <a:r>
                        <a:rPr lang="es-AR" sz="1800" baseline="0" dirty="0" smtClean="0"/>
                        <a:t> en </a:t>
                      </a:r>
                      <a:r>
                        <a:rPr lang="es-AR" sz="1800" baseline="0" dirty="0" err="1" smtClean="0"/>
                        <a:t>string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num2str(“”)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Convertir un </a:t>
                      </a:r>
                      <a:r>
                        <a:rPr lang="es-AR" sz="1800" dirty="0" err="1" smtClean="0"/>
                        <a:t>string</a:t>
                      </a:r>
                      <a:r>
                        <a:rPr lang="es-AR" sz="1800" baseline="0" dirty="0" smtClean="0"/>
                        <a:t> en </a:t>
                      </a:r>
                      <a:r>
                        <a:rPr lang="es-AR" sz="1800" baseline="0" dirty="0" err="1" smtClean="0"/>
                        <a:t>double</a:t>
                      </a:r>
                      <a:endParaRPr lang="es-A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str2num(“”)</a:t>
                      </a:r>
                      <a:endParaRPr lang="es-AR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3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Strings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6219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024569"/>
              </p:ext>
            </p:extLst>
          </p:nvPr>
        </p:nvGraphicFramePr>
        <p:xfrm>
          <a:off x="74043" y="318552"/>
          <a:ext cx="4129105" cy="1454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557">
                  <a:extLst>
                    <a:ext uri="{9D8B030D-6E8A-4147-A177-3AD203B41FA5}">
                      <a16:colId xmlns:a16="http://schemas.microsoft.com/office/drawing/2014/main" xmlns="" val="185101517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xmlns="" val="2450117827"/>
                    </a:ext>
                  </a:extLst>
                </a:gridCol>
                <a:gridCol w="927292">
                  <a:extLst>
                    <a:ext uri="{9D8B030D-6E8A-4147-A177-3AD203B41FA5}">
                      <a16:colId xmlns:a16="http://schemas.microsoft.com/office/drawing/2014/main" xmlns="" val="2325295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AR" sz="1400" dirty="0" err="1" smtClean="0"/>
                        <a:t>Caracter</a:t>
                      </a:r>
                      <a:endParaRPr lang="es-AR" sz="14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s-AR" sz="1400" dirty="0" smtClean="0"/>
                        <a:t>Descripción</a:t>
                      </a:r>
                      <a:endParaRPr lang="es-AR" sz="14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Ejemplo</a:t>
                      </a:r>
                      <a:endParaRPr lang="es-AR" sz="14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771910212"/>
                  </a:ext>
                </a:extLst>
              </a:tr>
              <a:tr h="199256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-</a:t>
                      </a:r>
                      <a:endParaRPr lang="es-AR" sz="1400" dirty="0"/>
                    </a:p>
                  </a:txBody>
                  <a:tcPr marL="68580" marR="68580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Imprime un + o -</a:t>
                      </a:r>
                      <a:endParaRPr lang="es-AR" sz="1400" dirty="0"/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%-3.4d</a:t>
                      </a:r>
                      <a:endParaRPr lang="es-AR" sz="14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707440111"/>
                  </a:ext>
                </a:extLst>
              </a:tr>
              <a:tr h="326504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+</a:t>
                      </a:r>
                      <a:endParaRPr lang="es-AR" sz="1400" dirty="0"/>
                    </a:p>
                  </a:txBody>
                  <a:tcPr marL="68580" marR="6858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%+3.4d</a:t>
                      </a:r>
                      <a:endParaRPr lang="es-AR" sz="14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0</a:t>
                      </a:r>
                      <a:endParaRPr lang="es-AR" sz="14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Introduce</a:t>
                      </a:r>
                      <a:r>
                        <a:rPr lang="es-AR" sz="1400" baseline="0" dirty="0" smtClean="0"/>
                        <a:t> ceros en los espacios</a:t>
                      </a:r>
                      <a:endParaRPr lang="es-AR" sz="1400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 smtClean="0"/>
                        <a:t>%03.4d</a:t>
                      </a:r>
                      <a:endParaRPr lang="es-AR" sz="1400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3798852258"/>
                  </a:ext>
                </a:extLst>
              </a:tr>
            </a:tbl>
          </a:graphicData>
        </a:graphic>
      </p:graphicFrame>
      <p:graphicFrame>
        <p:nvGraphicFramePr>
          <p:cNvPr id="11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26794"/>
              </p:ext>
            </p:extLst>
          </p:nvPr>
        </p:nvGraphicFramePr>
        <p:xfrm>
          <a:off x="251521" y="2466424"/>
          <a:ext cx="3312367" cy="405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535">
                  <a:extLst>
                    <a:ext uri="{9D8B030D-6E8A-4147-A177-3AD203B41FA5}">
                      <a16:colId xmlns:a16="http://schemas.microsoft.com/office/drawing/2014/main" xmlns="" val="1851015171"/>
                    </a:ext>
                  </a:extLst>
                </a:gridCol>
                <a:gridCol w="2405832">
                  <a:extLst>
                    <a:ext uri="{9D8B030D-6E8A-4147-A177-3AD203B41FA5}">
                      <a16:colId xmlns:a16="http://schemas.microsoft.com/office/drawing/2014/main" xmlns="" val="2450117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Carácter</a:t>
                      </a:r>
                      <a:endParaRPr lang="es-A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Descripción</a:t>
                      </a:r>
                      <a:endParaRPr lang="es-A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xmlns="" val="771910212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Carácter simple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3707440111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Notacion</a:t>
                      </a: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decimal con signo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2647241530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Notacion</a:t>
                      </a: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exponencial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3826849695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57716222"/>
                  </a:ext>
                </a:extLst>
              </a:tr>
              <a:tr h="242147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Notacion</a:t>
                      </a: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 punto fijo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2950407367"/>
                  </a:ext>
                </a:extLst>
              </a:tr>
              <a:tr h="123613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Notacion</a:t>
                      </a: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exponencial compacta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112046376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9885225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Notacion</a:t>
                      </a: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octal (base 8)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3714893246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Imprime </a:t>
                      </a:r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strings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1149179719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Notacion</a:t>
                      </a: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decimal sin signo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39353162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es-AR" sz="14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Notacion</a:t>
                      </a: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hexadecimal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14134756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18783021"/>
                  </a:ext>
                </a:extLst>
              </a:tr>
            </a:tbl>
          </a:graphicData>
        </a:graphic>
      </p:graphicFrame>
      <p:graphicFrame>
        <p:nvGraphicFramePr>
          <p:cNvPr id="9" name="Tab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364897"/>
              </p:ext>
            </p:extLst>
          </p:nvPr>
        </p:nvGraphicFramePr>
        <p:xfrm>
          <a:off x="3851920" y="2734745"/>
          <a:ext cx="5080921" cy="3574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xmlns="" val="185101517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xmlns="" val="2043328676"/>
                    </a:ext>
                  </a:extLst>
                </a:gridCol>
                <a:gridCol w="2488633">
                  <a:extLst>
                    <a:ext uri="{9D8B030D-6E8A-4147-A177-3AD203B41FA5}">
                      <a16:colId xmlns:a16="http://schemas.microsoft.com/office/drawing/2014/main" xmlns="" val="2450117827"/>
                    </a:ext>
                  </a:extLst>
                </a:gridCol>
              </a:tblGrid>
              <a:tr h="30090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Carácter</a:t>
                      </a:r>
                      <a:endParaRPr lang="es-A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Descripción</a:t>
                      </a:r>
                      <a:endParaRPr lang="es-A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96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4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Matlab / </a:t>
                      </a:r>
                      <a:r>
                        <a:rPr lang="es-AR" sz="1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Octave</a:t>
                      </a:r>
                      <a:endParaRPr lang="es-A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b="1" kern="120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Scilab</a:t>
                      </a:r>
                      <a:endParaRPr lang="es-AR" sz="1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A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71910212"/>
                  </a:ext>
                </a:extLst>
              </a:tr>
              <a:tr h="27967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\b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Borrar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xmlns="" val="3707440111"/>
                  </a:ext>
                </a:extLst>
              </a:tr>
              <a:tr h="27967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\f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Salto de impresión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2647241530"/>
                  </a:ext>
                </a:extLst>
              </a:tr>
              <a:tr h="298312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\n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Continuar en una línea nueva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3826849695"/>
                  </a:ext>
                </a:extLst>
              </a:tr>
              <a:tr h="27967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\r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Retorno de carro 1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3957716222"/>
                  </a:ext>
                </a:extLst>
              </a:tr>
              <a:tr h="27967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\t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Tabulación horizontal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2950407367"/>
                  </a:ext>
                </a:extLst>
              </a:tr>
              <a:tr h="27967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\\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Barra invertida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1120463760"/>
                  </a:ext>
                </a:extLst>
              </a:tr>
              <a:tr h="3009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\"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\”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rowSpan="2"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Comillas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3798852258"/>
                  </a:ext>
                </a:extLst>
              </a:tr>
              <a:tr h="27967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es-AR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vMerge="1">
                  <a:txBody>
                    <a:bodyPr/>
                    <a:lstStyle/>
                    <a:p>
                      <a:pPr algn="just"/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714893246"/>
                  </a:ext>
                </a:extLst>
              </a:tr>
              <a:tr h="526575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E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%%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s-A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Símbolo de porcentaje</a:t>
                      </a:r>
                      <a:endParaRPr lang="es-A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xmlns="" val="1149179719"/>
                  </a:ext>
                </a:extLst>
              </a:tr>
            </a:tbl>
          </a:graphicData>
        </a:graphic>
      </p:graphicFrame>
      <p:sp>
        <p:nvSpPr>
          <p:cNvPr id="3" name="2 Botón de acción: Hacia atrás o Anterior">
            <a:hlinkClick r:id="" action="ppaction://hlinkshowjump?jump=previousslide" highlightClick="1"/>
          </p:cNvPr>
          <p:cNvSpPr/>
          <p:nvPr/>
        </p:nvSpPr>
        <p:spPr>
          <a:xfrm rot="16200000">
            <a:off x="5603375" y="176180"/>
            <a:ext cx="349624" cy="25213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Botón de acción: Hacia atrás o Anterior">
            <a:hlinkClick r:id="" action="ppaction://hlinkshowjump?jump=previousslide" highlightClick="1"/>
          </p:cNvPr>
          <p:cNvSpPr/>
          <p:nvPr/>
        </p:nvSpPr>
        <p:spPr>
          <a:xfrm rot="16200000">
            <a:off x="5892612" y="175764"/>
            <a:ext cx="349624" cy="25213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Botón de acción: Hacia atrás o Anterior">
            <a:hlinkClick r:id="" action="ppaction://hlinkshowjump?jump=previousslide" highlightClick="1"/>
          </p:cNvPr>
          <p:cNvSpPr/>
          <p:nvPr/>
        </p:nvSpPr>
        <p:spPr>
          <a:xfrm rot="16200000">
            <a:off x="6232980" y="175763"/>
            <a:ext cx="349624" cy="25213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Botón de acción: Hacia atrás o Anterior">
            <a:hlinkClick r:id="" action="ppaction://hlinkshowjump?jump=previousslide" highlightClick="1"/>
          </p:cNvPr>
          <p:cNvSpPr/>
          <p:nvPr/>
        </p:nvSpPr>
        <p:spPr>
          <a:xfrm rot="16200000">
            <a:off x="6863409" y="175762"/>
            <a:ext cx="349624" cy="25213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CuadroTexto"/>
          <p:cNvSpPr txBox="1"/>
          <p:nvPr/>
        </p:nvSpPr>
        <p:spPr>
          <a:xfrm>
            <a:off x="5220072" y="355303"/>
            <a:ext cx="29698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400" dirty="0" smtClean="0">
                <a:latin typeface="Calibri" panose="020F0502020204030204" pitchFamily="34" charset="0"/>
                <a:cs typeface="Calibri" panose="020F0502020204030204" pitchFamily="34" charset="0"/>
              </a:rPr>
              <a:t>%-12.5e</a:t>
            </a:r>
            <a:r>
              <a:rPr lang="es-ES" sz="4400" dirty="0" smtClean="0">
                <a:latin typeface="Calibri" panose="020F0502020204030204" pitchFamily="34" charset="0"/>
                <a:cs typeface="Calibri" panose="020F0502020204030204" pitchFamily="34" charset="0"/>
              </a:rPr>
              <a:t>\t</a:t>
            </a:r>
            <a:endParaRPr lang="es-AR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" name="18 Conector recto de flecha"/>
          <p:cNvCxnSpPr/>
          <p:nvPr/>
        </p:nvCxnSpPr>
        <p:spPr>
          <a:xfrm>
            <a:off x="5048250" y="788770"/>
            <a:ext cx="514350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angular"/>
          <p:cNvCxnSpPr/>
          <p:nvPr/>
        </p:nvCxnSpPr>
        <p:spPr>
          <a:xfrm flipV="1">
            <a:off x="5562601" y="1120173"/>
            <a:ext cx="504825" cy="397428"/>
          </a:xfrm>
          <a:prstGeom prst="bentConnector3">
            <a:avLst>
              <a:gd name="adj1" fmla="val 100000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Cerrar llave"/>
          <p:cNvSpPr/>
          <p:nvPr/>
        </p:nvSpPr>
        <p:spPr>
          <a:xfrm rot="5400000">
            <a:off x="6241783" y="875322"/>
            <a:ext cx="397428" cy="515650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7" name="26 Conector angular"/>
          <p:cNvCxnSpPr>
            <a:endCxn id="26" idx="1"/>
          </p:cNvCxnSpPr>
          <p:nvPr/>
        </p:nvCxnSpPr>
        <p:spPr>
          <a:xfrm rot="5400000" flipH="1" flipV="1">
            <a:off x="5985747" y="1539606"/>
            <a:ext cx="662495" cy="247006"/>
          </a:xfrm>
          <a:prstGeom prst="bentConnector3">
            <a:avLst>
              <a:gd name="adj1" fmla="val 216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angular"/>
          <p:cNvCxnSpPr/>
          <p:nvPr/>
        </p:nvCxnSpPr>
        <p:spPr>
          <a:xfrm rot="10800000">
            <a:off x="6924513" y="1329823"/>
            <a:ext cx="606293" cy="679920"/>
          </a:xfrm>
          <a:prstGeom prst="bentConnector3">
            <a:avLst>
              <a:gd name="adj1" fmla="val 99880"/>
            </a:avLst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Cerrar llave"/>
          <p:cNvSpPr/>
          <p:nvPr/>
        </p:nvSpPr>
        <p:spPr>
          <a:xfrm rot="5400000">
            <a:off x="6731802" y="1014363"/>
            <a:ext cx="397428" cy="252536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41" name="40 Conector angular"/>
          <p:cNvCxnSpPr>
            <a:stCxn id="49" idx="1"/>
          </p:cNvCxnSpPr>
          <p:nvPr/>
        </p:nvCxnSpPr>
        <p:spPr>
          <a:xfrm rot="10800000">
            <a:off x="7301225" y="959243"/>
            <a:ext cx="80645" cy="500281"/>
          </a:xfrm>
          <a:prstGeom prst="bentConnector2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/>
          <p:nvPr/>
        </p:nvCxnSpPr>
        <p:spPr>
          <a:xfrm flipH="1">
            <a:off x="7812361" y="740023"/>
            <a:ext cx="520045" cy="1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46 CuadroTexto"/>
          <p:cNvSpPr txBox="1"/>
          <p:nvPr/>
        </p:nvSpPr>
        <p:spPr>
          <a:xfrm>
            <a:off x="8309982" y="586135"/>
            <a:ext cx="1199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Símbolo</a:t>
            </a:r>
            <a:endParaRPr lang="es-A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48 CuadroTexto"/>
          <p:cNvSpPr txBox="1"/>
          <p:nvPr/>
        </p:nvSpPr>
        <p:spPr>
          <a:xfrm>
            <a:off x="7381869" y="1290246"/>
            <a:ext cx="20673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Formato de número</a:t>
            </a:r>
            <a:endParaRPr lang="es-A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49 CuadroTexto"/>
          <p:cNvSpPr txBox="1"/>
          <p:nvPr/>
        </p:nvSpPr>
        <p:spPr>
          <a:xfrm>
            <a:off x="7428729" y="1825079"/>
            <a:ext cx="1751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Precisión decimal</a:t>
            </a:r>
            <a:endParaRPr lang="es-A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51 CuadroTexto"/>
          <p:cNvSpPr txBox="1"/>
          <p:nvPr/>
        </p:nvSpPr>
        <p:spPr>
          <a:xfrm>
            <a:off x="4427984" y="1825079"/>
            <a:ext cx="1890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Número de dígitos</a:t>
            </a:r>
            <a:endParaRPr lang="es-A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52 CuadroTexto"/>
          <p:cNvSpPr txBox="1"/>
          <p:nvPr/>
        </p:nvSpPr>
        <p:spPr>
          <a:xfrm>
            <a:off x="4788025" y="1337509"/>
            <a:ext cx="7733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Signos</a:t>
            </a:r>
            <a:endParaRPr lang="es-A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53 CuadroTexto"/>
          <p:cNvSpPr txBox="1"/>
          <p:nvPr/>
        </p:nvSpPr>
        <p:spPr>
          <a:xfrm>
            <a:off x="4178088" y="620688"/>
            <a:ext cx="969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16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Indicador</a:t>
            </a:r>
            <a:endParaRPr lang="es-AR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54 Botón de acción: Hacia atrás o Anterior">
            <a:hlinkClick r:id="" action="ppaction://hlinkshowjump?jump=previousslide" highlightClick="1"/>
          </p:cNvPr>
          <p:cNvSpPr/>
          <p:nvPr/>
        </p:nvSpPr>
        <p:spPr>
          <a:xfrm rot="16200000">
            <a:off x="7115543" y="175762"/>
            <a:ext cx="349624" cy="25213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6" name="55 Botón de acción: Hacia atrás o Anterior">
            <a:hlinkClick r:id="" action="ppaction://hlinkshowjump?jump=previousslide" highlightClick="1"/>
          </p:cNvPr>
          <p:cNvSpPr/>
          <p:nvPr/>
        </p:nvSpPr>
        <p:spPr>
          <a:xfrm rot="16200000">
            <a:off x="7547591" y="175761"/>
            <a:ext cx="349624" cy="25213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784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55" grpId="0" animBg="1"/>
      <p:bldP spid="55" grpId="1" animBg="1"/>
      <p:bldP spid="56" grpId="0" animBg="1"/>
      <p:bldP spid="56" grpId="1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Logical</a:t>
            </a:r>
            <a:r>
              <a:rPr lang="es-AR" dirty="0" smtClean="0"/>
              <a:t> </a:t>
            </a:r>
            <a:r>
              <a:rPr lang="es-AR" dirty="0" err="1" smtClean="0"/>
              <a:t>indexing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44450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737128"/>
              </p:ext>
            </p:extLst>
          </p:nvPr>
        </p:nvGraphicFramePr>
        <p:xfrm>
          <a:off x="900407" y="1412776"/>
          <a:ext cx="7416009" cy="47571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034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13222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74098"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Variables</a:t>
                      </a:r>
                      <a:endParaRPr lang="es-A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Resultado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2374"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-</a:t>
                      </a:r>
                      <a:endParaRPr lang="es-A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[-1 0 2 6] &gt;= 0 </a:t>
                      </a:r>
                      <a:endParaRPr lang="es-A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[0 1 1 1]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2374"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-</a:t>
                      </a:r>
                      <a:endParaRPr lang="es-A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[1 2 3] &gt;[0 3 4]</a:t>
                      </a:r>
                      <a:endParaRPr lang="es-A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[1 0 0]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64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000" dirty="0" smtClean="0"/>
                        <a:t>a=[1 2 3] ,</a:t>
                      </a:r>
                      <a:r>
                        <a:rPr lang="es-AR" sz="2000" baseline="0" dirty="0" smtClean="0"/>
                        <a:t> </a:t>
                      </a:r>
                      <a:r>
                        <a:rPr lang="es-AR" sz="2000" dirty="0" smtClean="0"/>
                        <a:t>c=[1 0 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A=a(c)</a:t>
                      </a:r>
                      <a:endParaRPr lang="es-AR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[1 3]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32374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2000" dirty="0" smtClean="0"/>
                        <a:t>X=[-1 3 -2 4 5 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X(X&gt;0)</a:t>
                      </a:r>
                      <a:endParaRPr lang="es-A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[3 4 5 6]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32374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X(X&gt;3.1)=[6 7 8]</a:t>
                      </a:r>
                      <a:endParaRPr lang="es-A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[-1</a:t>
                      </a:r>
                      <a:r>
                        <a:rPr lang="es-AR" sz="2000" baseline="0" dirty="0" smtClean="0"/>
                        <a:t> 3 -2 6 7 8</a:t>
                      </a:r>
                      <a:r>
                        <a:rPr lang="es-AR" sz="2000" dirty="0" smtClean="0"/>
                        <a:t>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32374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X(X&lt;0)=X(X&lt;0)+5</a:t>
                      </a:r>
                      <a:endParaRPr lang="es-A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[4 3 3 4 5 6]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2374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2000" dirty="0" smtClean="0"/>
                        <a:t>B=[1 2 3; 4 5 6]</a:t>
                      </a:r>
                      <a:endParaRPr lang="es-AR" sz="2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B(B&gt;2) </a:t>
                      </a:r>
                      <a:endParaRPr lang="es-A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[4 5 3 6]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532374">
                <a:tc v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B(B&gt;4)=0 </a:t>
                      </a:r>
                      <a:endParaRPr lang="es-A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2000" dirty="0" smtClean="0"/>
                        <a:t>[1 2 3;4 0 0]</a:t>
                      </a:r>
                      <a:endParaRPr lang="es-A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3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Logical</a:t>
            </a:r>
            <a:r>
              <a:rPr lang="es-AR" dirty="0" smtClean="0"/>
              <a:t> </a:t>
            </a:r>
            <a:r>
              <a:rPr lang="es-AR" dirty="0" err="1" smtClean="0"/>
              <a:t>indexing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930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Operaciones con </a:t>
            </a:r>
            <a:r>
              <a:rPr lang="es-AR" dirty="0" err="1" smtClean="0"/>
              <a:t>word</a:t>
            </a:r>
            <a:r>
              <a:rPr lang="es-AR" dirty="0" smtClean="0"/>
              <a:t> y </a:t>
            </a:r>
            <a:r>
              <a:rPr lang="es-AR" dirty="0" err="1" smtClean="0"/>
              <a:t>excel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684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Operaciones con </a:t>
            </a:r>
            <a:r>
              <a:rPr lang="es-AR" dirty="0" err="1" smtClean="0"/>
              <a:t>word</a:t>
            </a:r>
            <a:r>
              <a:rPr lang="es-AR" dirty="0" smtClean="0"/>
              <a:t> y </a:t>
            </a:r>
            <a:r>
              <a:rPr lang="es-AR" dirty="0" err="1" smtClean="0"/>
              <a:t>excel</a:t>
            </a:r>
            <a:endParaRPr lang="es-AR" dirty="0"/>
          </a:p>
        </p:txBody>
      </p:sp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323528" y="1100628"/>
            <a:ext cx="8424936" cy="5496724"/>
          </a:xfrm>
        </p:spPr>
        <p:txBody>
          <a:bodyPr>
            <a:normAutofit/>
          </a:bodyPr>
          <a:lstStyle/>
          <a:p>
            <a:pPr marL="0" indent="0" algn="just"/>
            <a:r>
              <a:rPr lang="es-AR" sz="2800" b="0" dirty="0" smtClean="0"/>
              <a:t>Para poder usar estas funciones en </a:t>
            </a:r>
            <a:r>
              <a:rPr lang="es-AR" sz="2800" b="0" dirty="0" err="1" smtClean="0"/>
              <a:t>Octave</a:t>
            </a:r>
            <a:r>
              <a:rPr lang="es-AR" sz="2800" b="0" dirty="0" smtClean="0"/>
              <a:t> (Matlab ya las incluye) se debe descargar el paquete de funciones io-2.6.4.tar.gz e instalar y cargar sus funciones. Para eso se debe: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AR" sz="2800" b="0" dirty="0" smtClean="0"/>
              <a:t>Descargar de internet dicho paquete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AR" sz="2800" b="0" dirty="0" smtClean="0"/>
              <a:t>Guardarlo en el directorio de trabajo de </a:t>
            </a:r>
            <a:r>
              <a:rPr lang="es-AR" sz="2800" b="0" dirty="0" err="1" smtClean="0"/>
              <a:t>Octave</a:t>
            </a:r>
            <a:endParaRPr lang="es-AR" sz="2800" b="0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s-AR" sz="2800" b="0" dirty="0" smtClean="0"/>
              <a:t>Escribir “</a:t>
            </a:r>
            <a:r>
              <a:rPr lang="es-AR" sz="2800" b="0" dirty="0" err="1" smtClean="0"/>
              <a:t>pkg</a:t>
            </a:r>
            <a:r>
              <a:rPr lang="es-AR" sz="2800" b="0" dirty="0" smtClean="0"/>
              <a:t> </a:t>
            </a:r>
            <a:r>
              <a:rPr lang="es-AR" sz="2800" b="0" dirty="0" err="1"/>
              <a:t>install</a:t>
            </a:r>
            <a:r>
              <a:rPr lang="es-AR" sz="2800" b="0" dirty="0"/>
              <a:t> </a:t>
            </a:r>
            <a:r>
              <a:rPr lang="es-AR" sz="2800" b="0" dirty="0" smtClean="0"/>
              <a:t>io-2.6.4.tar.gz” en la consola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AR" sz="2800" b="0" dirty="0" smtClean="0"/>
              <a:t>Escribir “</a:t>
            </a:r>
            <a:r>
              <a:rPr lang="es-AR" sz="2800" b="0" dirty="0" err="1" smtClean="0"/>
              <a:t>pkg</a:t>
            </a:r>
            <a:r>
              <a:rPr lang="es-AR" sz="2800" b="0" dirty="0" smtClean="0"/>
              <a:t> load </a:t>
            </a:r>
            <a:r>
              <a:rPr lang="es-AR" sz="2800" b="0" dirty="0" err="1" smtClean="0"/>
              <a:t>io</a:t>
            </a:r>
            <a:r>
              <a:rPr lang="es-AR" sz="2800" b="0" dirty="0" smtClean="0"/>
              <a:t>” en la consola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AR" sz="2800" b="0" dirty="0" smtClean="0"/>
              <a:t>El paquete de funciones esta listo para usar</a:t>
            </a:r>
          </a:p>
          <a:p>
            <a:pPr marL="514350" indent="-514350" algn="just">
              <a:buFont typeface="+mj-lt"/>
              <a:buAutoNum type="arabicPeriod"/>
            </a:pP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37659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Matlab / </a:t>
            </a:r>
            <a:r>
              <a:rPr lang="es-AR" dirty="0" err="1" smtClean="0"/>
              <a:t>Octave</a:t>
            </a:r>
            <a:endParaRPr lang="es-AR" dirty="0" smtClean="0"/>
          </a:p>
          <a:p>
            <a:pPr algn="ctr"/>
            <a:endParaRPr lang="es-AR" dirty="0"/>
          </a:p>
          <a:p>
            <a:pPr algn="ctr"/>
            <a:r>
              <a:rPr lang="es-AR" dirty="0" smtClean="0"/>
              <a:t>importar información de </a:t>
            </a:r>
            <a:r>
              <a:rPr lang="es-AR" dirty="0" err="1" smtClean="0"/>
              <a:t>excel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5432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64268"/>
              </p:ext>
            </p:extLst>
          </p:nvPr>
        </p:nvGraphicFramePr>
        <p:xfrm>
          <a:off x="611560" y="548680"/>
          <a:ext cx="7920004" cy="176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186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396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73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1689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474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7636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30886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60040">
                <a:tc rowSpan="5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Puntajes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Intentos</a:t>
                      </a:r>
                      <a:endParaRPr lang="es-AR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Participantes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Chavo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Quico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Chilindrina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Doña Florinda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Don Ramón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" name="2 Rectángulo"/>
          <p:cNvSpPr/>
          <p:nvPr/>
        </p:nvSpPr>
        <p:spPr>
          <a:xfrm>
            <a:off x="2805968" y="2852936"/>
            <a:ext cx="3638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[</a:t>
            </a:r>
            <a:r>
              <a:rPr lang="es-AR" dirty="0" err="1"/>
              <a:t>num,txt,raw</a:t>
            </a:r>
            <a:r>
              <a:rPr lang="es-AR" dirty="0"/>
              <a:t>]=</a:t>
            </a:r>
            <a:r>
              <a:rPr lang="es-AR" dirty="0" err="1"/>
              <a:t>xlsread</a:t>
            </a:r>
            <a:r>
              <a:rPr lang="es-AR" dirty="0"/>
              <a:t>('Bowling.xlsx')</a:t>
            </a:r>
          </a:p>
        </p:txBody>
      </p:sp>
      <p:sp>
        <p:nvSpPr>
          <p:cNvPr id="5" name="4 Rectángulo"/>
          <p:cNvSpPr/>
          <p:nvPr/>
        </p:nvSpPr>
        <p:spPr>
          <a:xfrm>
            <a:off x="642521" y="548680"/>
            <a:ext cx="7889041" cy="172819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5 Rectángulo"/>
          <p:cNvSpPr/>
          <p:nvPr/>
        </p:nvSpPr>
        <p:spPr>
          <a:xfrm>
            <a:off x="2805968" y="2852936"/>
            <a:ext cx="3782256" cy="3693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Rectángulo"/>
          <p:cNvSpPr/>
          <p:nvPr/>
        </p:nvSpPr>
        <p:spPr>
          <a:xfrm>
            <a:off x="1893582" y="1196752"/>
            <a:ext cx="6637981" cy="1080120"/>
          </a:xfrm>
          <a:prstGeom prst="rect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9" name="8 Conector recto"/>
          <p:cNvCxnSpPr/>
          <p:nvPr/>
        </p:nvCxnSpPr>
        <p:spPr>
          <a:xfrm>
            <a:off x="2973257" y="3144689"/>
            <a:ext cx="432048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27 Grupo"/>
          <p:cNvGrpSpPr/>
          <p:nvPr/>
        </p:nvGrpSpPr>
        <p:grpSpPr>
          <a:xfrm>
            <a:off x="611560" y="548680"/>
            <a:ext cx="7920880" cy="1728192"/>
            <a:chOff x="1732726" y="548680"/>
            <a:chExt cx="7920880" cy="1728192"/>
          </a:xfrm>
        </p:grpSpPr>
        <p:cxnSp>
          <p:nvCxnSpPr>
            <p:cNvPr id="14" name="13 Conector angular"/>
            <p:cNvCxnSpPr/>
            <p:nvPr/>
          </p:nvCxnSpPr>
          <p:spPr>
            <a:xfrm flipV="1">
              <a:off x="2942295" y="1196752"/>
              <a:ext cx="6710435" cy="1080120"/>
            </a:xfrm>
            <a:prstGeom prst="bentConnector3">
              <a:avLst>
                <a:gd name="adj1" fmla="val 1025"/>
              </a:avLst>
            </a:prstGeom>
            <a:ln w="508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angular"/>
            <p:cNvCxnSpPr/>
            <p:nvPr/>
          </p:nvCxnSpPr>
          <p:spPr>
            <a:xfrm flipV="1">
              <a:off x="1732726" y="548680"/>
              <a:ext cx="7889042" cy="1728192"/>
            </a:xfrm>
            <a:prstGeom prst="bentConnector3">
              <a:avLst>
                <a:gd name="adj1" fmla="val 79"/>
              </a:avLst>
            </a:prstGeom>
            <a:ln w="508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21 Conector recto"/>
            <p:cNvCxnSpPr/>
            <p:nvPr/>
          </p:nvCxnSpPr>
          <p:spPr>
            <a:xfrm>
              <a:off x="1763688" y="2276872"/>
              <a:ext cx="1178607" cy="0"/>
            </a:xfrm>
            <a:prstGeom prst="line">
              <a:avLst/>
            </a:prstGeom>
            <a:ln w="508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24 Conector recto"/>
            <p:cNvCxnSpPr/>
            <p:nvPr/>
          </p:nvCxnSpPr>
          <p:spPr>
            <a:xfrm>
              <a:off x="9653606" y="548680"/>
              <a:ext cx="0" cy="648072"/>
            </a:xfrm>
            <a:prstGeom prst="line">
              <a:avLst/>
            </a:prstGeom>
            <a:ln w="508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29 Conector recto"/>
          <p:cNvCxnSpPr/>
          <p:nvPr/>
        </p:nvCxnSpPr>
        <p:spPr>
          <a:xfrm>
            <a:off x="3405305" y="3140968"/>
            <a:ext cx="288032" cy="0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"/>
          <p:cNvCxnSpPr/>
          <p:nvPr/>
        </p:nvCxnSpPr>
        <p:spPr>
          <a:xfrm>
            <a:off x="3765345" y="3140968"/>
            <a:ext cx="3600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36 Rectángulo"/>
          <p:cNvSpPr/>
          <p:nvPr/>
        </p:nvSpPr>
        <p:spPr>
          <a:xfrm>
            <a:off x="3045711" y="3356992"/>
            <a:ext cx="32544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s-AR" dirty="0"/>
              <a:t>[~,~,</a:t>
            </a:r>
            <a:r>
              <a:rPr lang="es-AR" dirty="0" err="1"/>
              <a:t>raw</a:t>
            </a:r>
            <a:r>
              <a:rPr lang="es-AR" dirty="0"/>
              <a:t>]=</a:t>
            </a:r>
            <a:r>
              <a:rPr lang="es-AR" dirty="0" err="1"/>
              <a:t>xlsread</a:t>
            </a:r>
            <a:r>
              <a:rPr lang="es-AR" dirty="0"/>
              <a:t>('Bowling.xlsx</a:t>
            </a:r>
            <a:r>
              <a:rPr lang="es-AR" dirty="0" smtClean="0"/>
              <a:t>')</a:t>
            </a:r>
            <a:endParaRPr lang="es-AR" dirty="0">
              <a:solidFill>
                <a:srgbClr val="000000"/>
              </a:solidFill>
            </a:endParaRPr>
          </a:p>
        </p:txBody>
      </p:sp>
      <p:sp>
        <p:nvSpPr>
          <p:cNvPr id="38" name="37 Rectángulo"/>
          <p:cNvSpPr/>
          <p:nvPr/>
        </p:nvSpPr>
        <p:spPr>
          <a:xfrm>
            <a:off x="2320871" y="3861048"/>
            <a:ext cx="4556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[</a:t>
            </a:r>
            <a:r>
              <a:rPr lang="es-AR" dirty="0" err="1"/>
              <a:t>num,txt,raw</a:t>
            </a:r>
            <a:r>
              <a:rPr lang="es-AR" dirty="0"/>
              <a:t>]=</a:t>
            </a:r>
            <a:r>
              <a:rPr lang="es-AR" dirty="0" err="1"/>
              <a:t>xlsread</a:t>
            </a:r>
            <a:r>
              <a:rPr lang="es-AR" dirty="0"/>
              <a:t>('Bowling.xlsx',2,</a:t>
            </a:r>
            <a:r>
              <a:rPr lang="es-AR" dirty="0" smtClean="0"/>
              <a:t>'E7:I10')</a:t>
            </a:r>
            <a:endParaRPr lang="es-AR" dirty="0"/>
          </a:p>
        </p:txBody>
      </p:sp>
      <p:graphicFrame>
        <p:nvGraphicFramePr>
          <p:cNvPr id="39" name="3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844649"/>
              </p:ext>
            </p:extLst>
          </p:nvPr>
        </p:nvGraphicFramePr>
        <p:xfrm>
          <a:off x="179512" y="4365104"/>
          <a:ext cx="8856984" cy="2315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6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16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18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661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808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57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24784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02231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60366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1245179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74537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76613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sz="1800" b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800" b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AR" sz="1800" b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dirty="0" smtClean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9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Puntajes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s-AR" b="1" dirty="0" smtClean="0">
                          <a:solidFill>
                            <a:schemeClr val="bg1"/>
                          </a:solidFill>
                        </a:rPr>
                        <a:t>Intentos</a:t>
                      </a:r>
                      <a:endParaRPr lang="es-A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 gridSpan="9">
                  <a:txBody>
                    <a:bodyPr/>
                    <a:lstStyle/>
                    <a:p>
                      <a:pPr algn="ctr"/>
                      <a:r>
                        <a:rPr lang="es-AR" sz="1800" b="1" dirty="0" smtClean="0">
                          <a:solidFill>
                            <a:schemeClr val="bg1"/>
                          </a:solidFill>
                        </a:rPr>
                        <a:t>Participantes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9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Chavo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Quico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Chilindrina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Doña Florinda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Don Ramón</a:t>
                      </a:r>
                      <a:endParaRPr lang="es-A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5595"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 smtClean="0"/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4010"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18" name="17 Rectángulo"/>
          <p:cNvSpPr/>
          <p:nvPr/>
        </p:nvSpPr>
        <p:spPr>
          <a:xfrm>
            <a:off x="3455980" y="5444172"/>
            <a:ext cx="5580515" cy="1224136"/>
          </a:xfrm>
          <a:prstGeom prst="rect">
            <a:avLst/>
          </a:prstGeom>
          <a:noFill/>
          <a:ln w="508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3450834" y="5157192"/>
            <a:ext cx="5585662" cy="288032"/>
          </a:xfrm>
          <a:prstGeom prst="rect">
            <a:avLst/>
          </a:prstGeom>
          <a:noFill/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3450834" y="5157192"/>
            <a:ext cx="5585662" cy="152312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1" name="20 Conector recto"/>
          <p:cNvCxnSpPr/>
          <p:nvPr/>
        </p:nvCxnSpPr>
        <p:spPr>
          <a:xfrm>
            <a:off x="2478726" y="4152801"/>
            <a:ext cx="432048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>
            <a:off x="2915816" y="4152801"/>
            <a:ext cx="345473" cy="0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3270814" y="4149080"/>
            <a:ext cx="36004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30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5" grpId="2" animBg="1"/>
      <p:bldP spid="5" grpId="3" animBg="1"/>
      <p:bldP spid="6" grpId="0" animBg="1"/>
      <p:bldP spid="6" grpId="1" animBg="1"/>
      <p:bldP spid="7" grpId="0" animBg="1"/>
      <p:bldP spid="7" grpId="1" animBg="1"/>
      <p:bldP spid="37" grpId="0"/>
      <p:bldP spid="37" grpId="1"/>
      <p:bldP spid="38" grpId="0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SCILAB</a:t>
            </a:r>
          </a:p>
          <a:p>
            <a:pPr algn="ctr"/>
            <a:endParaRPr lang="es-AR" dirty="0"/>
          </a:p>
          <a:p>
            <a:pPr algn="ctr"/>
            <a:r>
              <a:rPr lang="es-AR" dirty="0" smtClean="0"/>
              <a:t>importar información de </a:t>
            </a:r>
            <a:r>
              <a:rPr lang="es-AR" dirty="0" err="1" smtClean="0"/>
              <a:t>excel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99596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211739"/>
              </p:ext>
            </p:extLst>
          </p:nvPr>
        </p:nvGraphicFramePr>
        <p:xfrm>
          <a:off x="1763688" y="548680"/>
          <a:ext cx="5575555" cy="176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353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2957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37667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5411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6271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60040">
                <a:tc rowSpan="5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Puntajes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Intentos</a:t>
                      </a:r>
                      <a:endParaRPr lang="es-AR" dirty="0"/>
                    </a:p>
                  </a:txBody>
                  <a:tcPr anchor="ctr"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s-AR" sz="1800" dirty="0" smtClean="0"/>
                        <a:t>Participantes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Micho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Tito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Negro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Gordo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Cabezón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" name="1 Rectángulo"/>
          <p:cNvSpPr/>
          <p:nvPr/>
        </p:nvSpPr>
        <p:spPr>
          <a:xfrm>
            <a:off x="0" y="2464644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/>
              <a:t>[</a:t>
            </a:r>
            <a:r>
              <a:rPr lang="es-AR" dirty="0" err="1"/>
              <a:t>fd,SST,Sheetnames,Sheetpos</a:t>
            </a:r>
            <a:r>
              <a:rPr lang="es-AR" dirty="0"/>
              <a:t>] = </a:t>
            </a:r>
            <a:r>
              <a:rPr lang="es-AR" dirty="0" err="1"/>
              <a:t>xls_open</a:t>
            </a:r>
            <a:r>
              <a:rPr lang="es-AR" dirty="0"/>
              <a:t>("Bowling.xls")</a:t>
            </a:r>
          </a:p>
        </p:txBody>
      </p:sp>
      <p:sp>
        <p:nvSpPr>
          <p:cNvPr id="19" name="18 Rectángulo"/>
          <p:cNvSpPr/>
          <p:nvPr/>
        </p:nvSpPr>
        <p:spPr>
          <a:xfrm>
            <a:off x="1997968" y="2915652"/>
            <a:ext cx="5454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err="1" smtClean="0"/>
              <a:t>fd</a:t>
            </a:r>
            <a:r>
              <a:rPr lang="es-AR" dirty="0" smtClean="0"/>
              <a:t>: Identificador del archivo dentro de </a:t>
            </a:r>
            <a:r>
              <a:rPr lang="es-AR" dirty="0" err="1" smtClean="0"/>
              <a:t>scilab</a:t>
            </a:r>
            <a:endParaRPr lang="es-AR" dirty="0"/>
          </a:p>
        </p:txBody>
      </p:sp>
      <p:sp>
        <p:nvSpPr>
          <p:cNvPr id="20" name="19 Rectángulo"/>
          <p:cNvSpPr/>
          <p:nvPr/>
        </p:nvSpPr>
        <p:spPr>
          <a:xfrm>
            <a:off x="1979712" y="3347700"/>
            <a:ext cx="5454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smtClean="0"/>
              <a:t>SST: Texto en cada celda</a:t>
            </a:r>
            <a:endParaRPr lang="es-AR" dirty="0"/>
          </a:p>
        </p:txBody>
      </p:sp>
      <p:sp>
        <p:nvSpPr>
          <p:cNvPr id="21" name="20 Rectángulo"/>
          <p:cNvSpPr/>
          <p:nvPr/>
        </p:nvSpPr>
        <p:spPr>
          <a:xfrm>
            <a:off x="1997968" y="3789040"/>
            <a:ext cx="5454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err="1" smtClean="0"/>
              <a:t>Sheetnames</a:t>
            </a:r>
            <a:r>
              <a:rPr lang="es-AR" dirty="0" smtClean="0"/>
              <a:t>: Nombre de cada hoja de cálculo</a:t>
            </a:r>
            <a:endParaRPr lang="es-AR" dirty="0"/>
          </a:p>
        </p:txBody>
      </p:sp>
      <p:sp>
        <p:nvSpPr>
          <p:cNvPr id="23" name="22 Rectángulo"/>
          <p:cNvSpPr/>
          <p:nvPr/>
        </p:nvSpPr>
        <p:spPr>
          <a:xfrm>
            <a:off x="1979712" y="4211796"/>
            <a:ext cx="5454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err="1" smtClean="0"/>
              <a:t>Sheetpos</a:t>
            </a:r>
            <a:r>
              <a:rPr lang="es-AR" dirty="0"/>
              <a:t>:</a:t>
            </a:r>
            <a:r>
              <a:rPr lang="es-AR" dirty="0" smtClean="0"/>
              <a:t> </a:t>
            </a:r>
            <a:r>
              <a:rPr lang="es-AR" dirty="0" err="1" smtClean="0"/>
              <a:t>Sheet</a:t>
            </a:r>
            <a:r>
              <a:rPr lang="es-AR" dirty="0" smtClean="0"/>
              <a:t> position</a:t>
            </a:r>
            <a:endParaRPr lang="es-AR" dirty="0"/>
          </a:p>
        </p:txBody>
      </p:sp>
      <p:sp>
        <p:nvSpPr>
          <p:cNvPr id="8" name="7 Rectángulo"/>
          <p:cNvSpPr/>
          <p:nvPr/>
        </p:nvSpPr>
        <p:spPr>
          <a:xfrm>
            <a:off x="2719860" y="4725144"/>
            <a:ext cx="4137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[</a:t>
            </a:r>
            <a:r>
              <a:rPr lang="es-AR" dirty="0" err="1"/>
              <a:t>Value,TextInd</a:t>
            </a:r>
            <a:r>
              <a:rPr lang="es-AR" dirty="0"/>
              <a:t>] = </a:t>
            </a:r>
            <a:r>
              <a:rPr lang="es-AR" dirty="0" err="1" smtClean="0"/>
              <a:t>xls_read</a:t>
            </a:r>
            <a:r>
              <a:rPr lang="es-AR" dirty="0" smtClean="0"/>
              <a:t>(</a:t>
            </a:r>
            <a:r>
              <a:rPr lang="es-AR" dirty="0" err="1" smtClean="0"/>
              <a:t>fd,Sheetpos</a:t>
            </a:r>
            <a:r>
              <a:rPr lang="es-AR" dirty="0" smtClean="0"/>
              <a:t>(1</a:t>
            </a:r>
            <a:r>
              <a:rPr lang="es-AR" dirty="0"/>
              <a:t>))</a:t>
            </a:r>
          </a:p>
        </p:txBody>
      </p:sp>
      <p:sp>
        <p:nvSpPr>
          <p:cNvPr id="26" name="25 Rectángulo"/>
          <p:cNvSpPr/>
          <p:nvPr/>
        </p:nvSpPr>
        <p:spPr>
          <a:xfrm>
            <a:off x="1979712" y="5147900"/>
            <a:ext cx="54543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err="1" smtClean="0"/>
              <a:t>Value</a:t>
            </a:r>
            <a:r>
              <a:rPr lang="es-AR" dirty="0" smtClean="0"/>
              <a:t>: Datos numéricos en la tabla</a:t>
            </a:r>
            <a:endParaRPr lang="es-AR" dirty="0"/>
          </a:p>
        </p:txBody>
      </p:sp>
      <p:sp>
        <p:nvSpPr>
          <p:cNvPr id="27" name="26 Rectángulo"/>
          <p:cNvSpPr/>
          <p:nvPr/>
        </p:nvSpPr>
        <p:spPr>
          <a:xfrm>
            <a:off x="0" y="5579948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err="1" smtClean="0"/>
              <a:t>TextInd</a:t>
            </a:r>
            <a:r>
              <a:rPr lang="es-AR" dirty="0" smtClean="0"/>
              <a:t>: Indicador de en que celda se encuentra cada texto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7993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16024" y="260648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dirty="0"/>
              <a:t>Value  = </a:t>
            </a:r>
          </a:p>
          <a:p>
            <a:endParaRPr lang="fi-FI" dirty="0"/>
          </a:p>
          <a:p>
            <a:r>
              <a:rPr lang="fi-FI" dirty="0"/>
              <a:t>   Nan   Nan   Nan   Nan   Nan   Nan   Nan   Nan   Nan   Nan    Nan   Nan   Nan</a:t>
            </a:r>
          </a:p>
          <a:p>
            <a:r>
              <a:rPr lang="fi-FI" dirty="0"/>
              <a:t>   Nan   Nan   Nan   Nan   Nan   Nan   Nan   Nan   Nan   Nan    Nan   Nan   Nan</a:t>
            </a:r>
          </a:p>
          <a:p>
            <a:r>
              <a:rPr lang="fi-FI" dirty="0"/>
              <a:t>   Nan   Nan   Nan   Nan   Nan   Nan   Nan   Nan   Nan   Nan    Nan   Nan   Nan</a:t>
            </a:r>
          </a:p>
          <a:p>
            <a:r>
              <a:rPr lang="fi-FI" dirty="0"/>
              <a:t>   Nan   Nan   Nan   Nan   Nan   Nan   Nan   Nan   Nan   Nan    Nan   Nan   Nan</a:t>
            </a:r>
          </a:p>
          <a:p>
            <a:r>
              <a:rPr lang="fi-FI" dirty="0"/>
              <a:t>   Nan   Nan   Nan   Nan   Nan   Nan   Nan   </a:t>
            </a:r>
            <a:r>
              <a:rPr lang="fi-FI" dirty="0" smtClean="0"/>
              <a:t>  1.      50</a:t>
            </a:r>
            <a:r>
              <a:rPr lang="fi-FI" dirty="0"/>
              <a:t>.   </a:t>
            </a:r>
            <a:r>
              <a:rPr lang="fi-FI" dirty="0" smtClean="0"/>
              <a:t>  90</a:t>
            </a:r>
            <a:r>
              <a:rPr lang="fi-FI" dirty="0"/>
              <a:t>.    </a:t>
            </a:r>
            <a:r>
              <a:rPr lang="fi-FI" dirty="0" smtClean="0"/>
              <a:t> 10</a:t>
            </a:r>
            <a:r>
              <a:rPr lang="fi-FI" dirty="0"/>
              <a:t>.   </a:t>
            </a:r>
            <a:r>
              <a:rPr lang="fi-FI" dirty="0" smtClean="0"/>
              <a:t>  40</a:t>
            </a:r>
            <a:r>
              <a:rPr lang="fi-FI" dirty="0"/>
              <a:t>.   </a:t>
            </a:r>
            <a:r>
              <a:rPr lang="fi-FI" dirty="0" smtClean="0"/>
              <a:t>  90</a:t>
            </a:r>
            <a:r>
              <a:rPr lang="fi-FI" dirty="0"/>
              <a:t>.</a:t>
            </a:r>
          </a:p>
          <a:p>
            <a:r>
              <a:rPr lang="fi-FI" dirty="0"/>
              <a:t>   Nan   Nan   Nan   Nan   Nan   Nan   Nan   </a:t>
            </a:r>
            <a:r>
              <a:rPr lang="fi-FI" dirty="0" smtClean="0"/>
              <a:t>  2.      60.    100</a:t>
            </a:r>
            <a:r>
              <a:rPr lang="fi-FI" dirty="0"/>
              <a:t>.   </a:t>
            </a:r>
            <a:r>
              <a:rPr lang="fi-FI" dirty="0" smtClean="0"/>
              <a:t> 20</a:t>
            </a:r>
            <a:r>
              <a:rPr lang="fi-FI" dirty="0"/>
              <a:t>.   </a:t>
            </a:r>
            <a:r>
              <a:rPr lang="fi-FI" dirty="0" smtClean="0"/>
              <a:t>  50</a:t>
            </a:r>
            <a:r>
              <a:rPr lang="fi-FI" dirty="0"/>
              <a:t>.   </a:t>
            </a:r>
            <a:r>
              <a:rPr lang="fi-FI" dirty="0" smtClean="0"/>
              <a:t>  10</a:t>
            </a:r>
            <a:r>
              <a:rPr lang="fi-FI" dirty="0"/>
              <a:t>.</a:t>
            </a:r>
          </a:p>
          <a:p>
            <a:r>
              <a:rPr lang="fi-FI" dirty="0"/>
              <a:t>   Nan   Nan   Nan   Nan   Nan   Nan   Nan   </a:t>
            </a:r>
            <a:r>
              <a:rPr lang="fi-FI" dirty="0" smtClean="0"/>
              <a:t>  3</a:t>
            </a:r>
            <a:r>
              <a:rPr lang="fi-FI" dirty="0"/>
              <a:t>.    </a:t>
            </a:r>
            <a:r>
              <a:rPr lang="fi-FI" dirty="0" smtClean="0"/>
              <a:t>  70</a:t>
            </a:r>
            <a:r>
              <a:rPr lang="fi-FI" dirty="0"/>
              <a:t>.   </a:t>
            </a:r>
            <a:r>
              <a:rPr lang="fi-FI" dirty="0" smtClean="0"/>
              <a:t> 100</a:t>
            </a:r>
            <a:r>
              <a:rPr lang="fi-FI" dirty="0"/>
              <a:t>.   </a:t>
            </a:r>
            <a:r>
              <a:rPr lang="fi-FI" dirty="0" smtClean="0"/>
              <a:t> 30</a:t>
            </a:r>
            <a:r>
              <a:rPr lang="fi-FI" dirty="0"/>
              <a:t>.   </a:t>
            </a:r>
            <a:r>
              <a:rPr lang="fi-FI" dirty="0" smtClean="0"/>
              <a:t>  60</a:t>
            </a:r>
            <a:r>
              <a:rPr lang="fi-FI" dirty="0"/>
              <a:t>.   </a:t>
            </a:r>
            <a:r>
              <a:rPr lang="fi-FI" dirty="0" smtClean="0"/>
              <a:t>  40</a:t>
            </a:r>
            <a:r>
              <a:rPr lang="fi-FI" dirty="0"/>
              <a:t>.</a:t>
            </a:r>
            <a:endParaRPr lang="es-AR" dirty="0"/>
          </a:p>
        </p:txBody>
      </p:sp>
      <p:sp>
        <p:nvSpPr>
          <p:cNvPr id="3" name="2 Rectángulo"/>
          <p:cNvSpPr/>
          <p:nvPr/>
        </p:nvSpPr>
        <p:spPr>
          <a:xfrm>
            <a:off x="216024" y="2996952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/>
              <a:t>TextInd</a:t>
            </a:r>
            <a:r>
              <a:rPr lang="es-AR" dirty="0"/>
              <a:t>  = </a:t>
            </a:r>
          </a:p>
          <a:p>
            <a:endParaRPr lang="es-AR" dirty="0"/>
          </a:p>
          <a:p>
            <a:r>
              <a:rPr lang="es-AR" dirty="0"/>
              <a:t>   </a:t>
            </a:r>
            <a:r>
              <a:rPr lang="es-AR" dirty="0" smtClean="0"/>
              <a:t>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0</a:t>
            </a:r>
            <a:r>
              <a:rPr lang="es-AR" dirty="0"/>
              <a:t>.    </a:t>
            </a:r>
            <a:r>
              <a:rPr lang="es-AR" dirty="0" smtClean="0"/>
              <a:t>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</a:t>
            </a:r>
          </a:p>
          <a:p>
            <a:r>
              <a:rPr lang="es-AR" dirty="0"/>
              <a:t>   </a:t>
            </a:r>
            <a:r>
              <a:rPr lang="es-AR" dirty="0" smtClean="0"/>
              <a:t>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0</a:t>
            </a:r>
            <a:r>
              <a:rPr lang="es-AR" dirty="0"/>
              <a:t>.    </a:t>
            </a:r>
            <a:r>
              <a:rPr lang="es-AR" dirty="0" smtClean="0"/>
              <a:t>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</a:t>
            </a:r>
          </a:p>
          <a:p>
            <a:r>
              <a:rPr lang="es-AR" dirty="0"/>
              <a:t>   </a:t>
            </a:r>
            <a:r>
              <a:rPr lang="es-AR" dirty="0" smtClean="0"/>
              <a:t>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</a:t>
            </a:r>
            <a:r>
              <a:rPr lang="es-AR" dirty="0"/>
              <a:t> </a:t>
            </a:r>
            <a:r>
              <a:rPr lang="es-AR" dirty="0" smtClean="0"/>
              <a:t> 8.        7.      6.        0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</a:t>
            </a:r>
          </a:p>
          <a:p>
            <a:r>
              <a:rPr lang="es-AR" dirty="0"/>
              <a:t>   </a:t>
            </a:r>
            <a:r>
              <a:rPr lang="es-AR" dirty="0" smtClean="0"/>
              <a:t>  0</a:t>
            </a:r>
            <a:r>
              <a:rPr lang="es-AR" dirty="0"/>
              <a:t>. </a:t>
            </a:r>
            <a:r>
              <a:rPr lang="es-AR" dirty="0" smtClean="0"/>
              <a:t>  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</a:t>
            </a:r>
            <a:r>
              <a:rPr lang="es-AR" dirty="0"/>
              <a:t>1.    </a:t>
            </a:r>
            <a:r>
              <a:rPr lang="es-AR" dirty="0" smtClean="0"/>
              <a:t>    2</a:t>
            </a:r>
            <a:r>
              <a:rPr lang="es-AR" dirty="0"/>
              <a:t>.   </a:t>
            </a:r>
            <a:r>
              <a:rPr lang="es-AR" dirty="0" smtClean="0"/>
              <a:t>   3</a:t>
            </a:r>
            <a:r>
              <a:rPr lang="es-AR" dirty="0"/>
              <a:t>.   </a:t>
            </a:r>
            <a:r>
              <a:rPr lang="es-AR" dirty="0" smtClean="0"/>
              <a:t>    4</a:t>
            </a:r>
            <a:r>
              <a:rPr lang="es-AR" dirty="0"/>
              <a:t>.   </a:t>
            </a:r>
            <a:r>
              <a:rPr lang="es-AR" dirty="0" smtClean="0"/>
              <a:t>   5</a:t>
            </a:r>
            <a:r>
              <a:rPr lang="es-AR" dirty="0"/>
              <a:t>.</a:t>
            </a:r>
          </a:p>
          <a:p>
            <a:r>
              <a:rPr lang="es-AR" dirty="0"/>
              <a:t>   </a:t>
            </a:r>
            <a:r>
              <a:rPr lang="es-AR" dirty="0" smtClean="0"/>
              <a:t>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</a:t>
            </a:r>
          </a:p>
          <a:p>
            <a:r>
              <a:rPr lang="es-AR" dirty="0"/>
              <a:t>   </a:t>
            </a:r>
            <a:r>
              <a:rPr lang="es-AR" dirty="0" smtClean="0"/>
              <a:t>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</a:t>
            </a:r>
            <a:r>
              <a:rPr lang="es-AR" dirty="0"/>
              <a:t>0. 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</a:t>
            </a:r>
          </a:p>
          <a:p>
            <a:r>
              <a:rPr lang="es-AR" dirty="0"/>
              <a:t>   </a:t>
            </a:r>
            <a:r>
              <a:rPr lang="es-AR" dirty="0" smtClean="0"/>
              <a:t>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 </a:t>
            </a:r>
            <a:r>
              <a:rPr lang="es-AR" dirty="0" smtClean="0"/>
              <a:t>  0</a:t>
            </a:r>
            <a:r>
              <a:rPr lang="es-AR" dirty="0"/>
              <a:t>.    </a:t>
            </a:r>
            <a:r>
              <a:rPr lang="es-AR" dirty="0" smtClean="0"/>
              <a:t>    0</a:t>
            </a:r>
            <a:r>
              <a:rPr lang="es-AR" dirty="0"/>
              <a:t>.   </a:t>
            </a:r>
            <a:r>
              <a:rPr lang="es-AR" dirty="0" smtClean="0"/>
              <a:t>   0.       0</a:t>
            </a:r>
            <a:r>
              <a:rPr lang="es-AR" dirty="0"/>
              <a:t>.   </a:t>
            </a:r>
            <a:r>
              <a:rPr lang="es-AR" dirty="0" smtClean="0"/>
              <a:t>   0</a:t>
            </a:r>
            <a:r>
              <a:rPr lang="es-AR" dirty="0"/>
              <a:t>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4669241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/>
              <a:t> 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4851031" y="1916831"/>
            <a:ext cx="3537393" cy="929139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4427985" y="4109593"/>
            <a:ext cx="3960440" cy="576064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Rectángulo"/>
          <p:cNvSpPr/>
          <p:nvPr/>
        </p:nvSpPr>
        <p:spPr>
          <a:xfrm>
            <a:off x="216024" y="5733256"/>
            <a:ext cx="975657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SST =</a:t>
            </a:r>
          </a:p>
          <a:p>
            <a:endParaRPr lang="es-ES" sz="1700" dirty="0"/>
          </a:p>
          <a:p>
            <a:r>
              <a:rPr lang="es-ES" sz="1600" dirty="0" smtClean="0"/>
              <a:t>"Chavo" "Quico" "Chilindrina" "Doña Florinda" "Don Ramón" "Participantes" "Intentos" "Puntajes"</a:t>
            </a:r>
            <a:endParaRPr lang="es-AR" sz="1600" dirty="0"/>
          </a:p>
        </p:txBody>
      </p:sp>
      <p:sp>
        <p:nvSpPr>
          <p:cNvPr id="15" name="14 Rectángulo"/>
          <p:cNvSpPr/>
          <p:nvPr/>
        </p:nvSpPr>
        <p:spPr>
          <a:xfrm>
            <a:off x="288032" y="6309320"/>
            <a:ext cx="755576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5697125" y="4437112"/>
            <a:ext cx="216024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Rectángulo"/>
          <p:cNvSpPr/>
          <p:nvPr/>
        </p:nvSpPr>
        <p:spPr>
          <a:xfrm>
            <a:off x="1052326" y="6309319"/>
            <a:ext cx="747366" cy="21602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Rectángulo"/>
          <p:cNvSpPr/>
          <p:nvPr/>
        </p:nvSpPr>
        <p:spPr>
          <a:xfrm>
            <a:off x="6372200" y="4437112"/>
            <a:ext cx="216024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1799692" y="6309284"/>
            <a:ext cx="1161178" cy="2160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Rectángulo"/>
          <p:cNvSpPr/>
          <p:nvPr/>
        </p:nvSpPr>
        <p:spPr>
          <a:xfrm>
            <a:off x="6948264" y="4437112"/>
            <a:ext cx="216024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2960870" y="6309251"/>
            <a:ext cx="1467114" cy="2160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21 Rectángulo"/>
          <p:cNvSpPr/>
          <p:nvPr/>
        </p:nvSpPr>
        <p:spPr>
          <a:xfrm>
            <a:off x="7560331" y="4437112"/>
            <a:ext cx="252029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Rectángulo"/>
          <p:cNvSpPr/>
          <p:nvPr/>
        </p:nvSpPr>
        <p:spPr>
          <a:xfrm>
            <a:off x="4436985" y="6309251"/>
            <a:ext cx="1287143" cy="2160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Rectángulo"/>
          <p:cNvSpPr/>
          <p:nvPr/>
        </p:nvSpPr>
        <p:spPr>
          <a:xfrm>
            <a:off x="8082390" y="4437112"/>
            <a:ext cx="306034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5722292" y="6309251"/>
            <a:ext cx="1369988" cy="2160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25 Rectángulo"/>
          <p:cNvSpPr/>
          <p:nvPr/>
        </p:nvSpPr>
        <p:spPr>
          <a:xfrm>
            <a:off x="5698248" y="4181602"/>
            <a:ext cx="214901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Rectángulo"/>
          <p:cNvSpPr/>
          <p:nvPr/>
        </p:nvSpPr>
        <p:spPr>
          <a:xfrm>
            <a:off x="7100998" y="6312855"/>
            <a:ext cx="927386" cy="2124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Rectángulo"/>
          <p:cNvSpPr/>
          <p:nvPr/>
        </p:nvSpPr>
        <p:spPr>
          <a:xfrm>
            <a:off x="5103058" y="4181601"/>
            <a:ext cx="243027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Rectángulo"/>
          <p:cNvSpPr/>
          <p:nvPr/>
        </p:nvSpPr>
        <p:spPr>
          <a:xfrm>
            <a:off x="8028384" y="6309251"/>
            <a:ext cx="936104" cy="2160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0" name="29 Rectángulo"/>
          <p:cNvSpPr/>
          <p:nvPr/>
        </p:nvSpPr>
        <p:spPr>
          <a:xfrm>
            <a:off x="4400981" y="4181600"/>
            <a:ext cx="243027" cy="2160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aphicFrame>
        <p:nvGraphicFramePr>
          <p:cNvPr id="31" name="5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759908"/>
              </p:ext>
            </p:extLst>
          </p:nvPr>
        </p:nvGraphicFramePr>
        <p:xfrm>
          <a:off x="2051720" y="2381400"/>
          <a:ext cx="4392488" cy="219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9248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800" u="none" strike="noStrike" dirty="0" err="1">
                          <a:effectLst/>
                        </a:rPr>
                        <a:t>Maximum</a:t>
                      </a:r>
                      <a:r>
                        <a:rPr lang="es-AR" sz="2800" u="none" strike="noStrike" dirty="0">
                          <a:effectLst/>
                        </a:rPr>
                        <a:t>=</a:t>
                      </a:r>
                      <a:r>
                        <a:rPr lang="es-AR" sz="2800" u="none" strike="noStrike" dirty="0" err="1">
                          <a:effectLst/>
                        </a:rPr>
                        <a:t>max</a:t>
                      </a:r>
                      <a:r>
                        <a:rPr lang="es-AR" sz="2800" u="none" strike="noStrike" dirty="0">
                          <a:effectLst/>
                        </a:rPr>
                        <a:t>(</a:t>
                      </a:r>
                      <a:r>
                        <a:rPr lang="es-AR" sz="2800" u="none" strike="noStrike" dirty="0" err="1">
                          <a:effectLst/>
                        </a:rPr>
                        <a:t>TextInd</a:t>
                      </a:r>
                      <a:r>
                        <a:rPr lang="es-AR" sz="2800" u="none" strike="noStrike" dirty="0">
                          <a:effectLst/>
                        </a:rPr>
                        <a:t>);</a:t>
                      </a:r>
                      <a:endParaRPr lang="es-A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800" u="none" strike="noStrike" dirty="0" err="1" smtClean="0">
                          <a:effectLst/>
                        </a:rPr>
                        <a:t>for</a:t>
                      </a:r>
                      <a:r>
                        <a:rPr lang="es-AR" sz="2800" u="none" strike="noStrike" dirty="0" smtClean="0">
                          <a:effectLst/>
                        </a:rPr>
                        <a:t> </a:t>
                      </a:r>
                      <a:r>
                        <a:rPr lang="es-AR" sz="2800" u="none" strike="noStrike" dirty="0">
                          <a:effectLst/>
                        </a:rPr>
                        <a:t>i=1:Maximum</a:t>
                      </a:r>
                      <a:endParaRPr lang="es-A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800" u="none" strike="noStrike" dirty="0" smtClean="0">
                          <a:effectLst/>
                        </a:rPr>
                        <a:t>     [</a:t>
                      </a:r>
                      <a:r>
                        <a:rPr lang="es-AR" sz="2800" u="none" strike="noStrike" dirty="0" err="1">
                          <a:effectLst/>
                        </a:rPr>
                        <a:t>x,y</a:t>
                      </a:r>
                      <a:r>
                        <a:rPr lang="es-AR" sz="2800" u="none" strike="noStrike" dirty="0">
                          <a:effectLst/>
                        </a:rPr>
                        <a:t>]=</a:t>
                      </a:r>
                      <a:r>
                        <a:rPr lang="es-AR" sz="2800" u="none" strike="noStrike" dirty="0" err="1">
                          <a:effectLst/>
                        </a:rPr>
                        <a:t>find</a:t>
                      </a:r>
                      <a:r>
                        <a:rPr lang="es-AR" sz="2800" u="none" strike="noStrike" dirty="0">
                          <a:effectLst/>
                        </a:rPr>
                        <a:t>(</a:t>
                      </a:r>
                      <a:r>
                        <a:rPr lang="es-AR" sz="2800" u="none" strike="noStrike" dirty="0" err="1">
                          <a:effectLst/>
                        </a:rPr>
                        <a:t>TextInd</a:t>
                      </a:r>
                      <a:r>
                        <a:rPr lang="es-AR" sz="2800" u="none" strike="noStrike" dirty="0">
                          <a:effectLst/>
                        </a:rPr>
                        <a:t>==i);</a:t>
                      </a:r>
                      <a:endParaRPr lang="es-A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7520">
                <a:tc>
                  <a:txBody>
                    <a:bodyPr/>
                    <a:lstStyle/>
                    <a:p>
                      <a:pPr algn="l" fontAlgn="b"/>
                      <a:r>
                        <a:rPr lang="es-AR" sz="2800" u="none" strike="noStrike" dirty="0" err="1" smtClean="0">
                          <a:effectLst/>
                        </a:rPr>
                        <a:t>text</a:t>
                      </a:r>
                      <a:r>
                        <a:rPr lang="es-AR" sz="2800" u="none" strike="noStrike" dirty="0" smtClean="0">
                          <a:effectLst/>
                        </a:rPr>
                        <a:t>(</a:t>
                      </a:r>
                      <a:r>
                        <a:rPr lang="es-AR" sz="2800" u="none" strike="noStrike" dirty="0" err="1" smtClean="0">
                          <a:effectLst/>
                        </a:rPr>
                        <a:t>x,y</a:t>
                      </a:r>
                      <a:r>
                        <a:rPr lang="es-AR" sz="2800" u="none" strike="noStrike" dirty="0">
                          <a:effectLst/>
                        </a:rPr>
                        <a:t>)=SST(</a:t>
                      </a:r>
                      <a:r>
                        <a:rPr lang="es-AR" sz="2800" u="none" strike="noStrike" dirty="0" err="1">
                          <a:effectLst/>
                        </a:rPr>
                        <a:t>TextInd</a:t>
                      </a:r>
                      <a:r>
                        <a:rPr lang="es-AR" sz="2800" u="none" strike="noStrike" dirty="0">
                          <a:effectLst/>
                        </a:rPr>
                        <a:t>(</a:t>
                      </a:r>
                      <a:r>
                        <a:rPr lang="es-AR" sz="2800" u="none" strike="noStrike" dirty="0" err="1">
                          <a:effectLst/>
                        </a:rPr>
                        <a:t>x,y</a:t>
                      </a:r>
                      <a:r>
                        <a:rPr lang="es-AR" sz="2800" u="none" strike="noStrike" dirty="0">
                          <a:effectLst/>
                        </a:rPr>
                        <a:t>));</a:t>
                      </a:r>
                      <a:endParaRPr lang="es-A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800" u="none" strike="noStrike" dirty="0" err="1">
                          <a:effectLst/>
                        </a:rPr>
                        <a:t>end</a:t>
                      </a:r>
                      <a:endParaRPr lang="es-AR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06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 animBg="1"/>
      <p:bldP spid="12" grpId="1" animBg="1"/>
      <p:bldP spid="13" grpId="0" animBg="1"/>
      <p:bldP spid="13" grpId="1" animBg="1"/>
      <p:bldP spid="14" grpId="0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Matlab / </a:t>
            </a:r>
            <a:r>
              <a:rPr lang="es-AR" dirty="0" err="1" smtClean="0"/>
              <a:t>Octave</a:t>
            </a:r>
            <a:endParaRPr lang="es-AR" dirty="0" smtClean="0"/>
          </a:p>
          <a:p>
            <a:pPr algn="ctr"/>
            <a:endParaRPr lang="es-AR" dirty="0"/>
          </a:p>
          <a:p>
            <a:pPr algn="ctr"/>
            <a:r>
              <a:rPr lang="es-AR" dirty="0" smtClean="0"/>
              <a:t>exportar información a </a:t>
            </a:r>
            <a:r>
              <a:rPr lang="es-AR" dirty="0" err="1" smtClean="0"/>
              <a:t>excel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7164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1845568" y="2843644"/>
            <a:ext cx="5382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>
                <a:solidFill>
                  <a:prstClr val="black"/>
                </a:solidFill>
              </a:rPr>
              <a:t>xlswrite</a:t>
            </a:r>
            <a:r>
              <a:rPr lang="es-ES" dirty="0" smtClean="0">
                <a:solidFill>
                  <a:prstClr val="black"/>
                </a:solidFill>
              </a:rPr>
              <a:t>(‘</a:t>
            </a:r>
            <a:r>
              <a:rPr lang="es-ES" dirty="0" err="1" smtClean="0">
                <a:solidFill>
                  <a:prstClr val="black"/>
                </a:solidFill>
              </a:rPr>
              <a:t>Sucesión’',A</a:t>
            </a:r>
            <a:r>
              <a:rPr lang="es-ES" dirty="0" smtClean="0">
                <a:solidFill>
                  <a:prstClr val="black"/>
                </a:solidFill>
              </a:rPr>
              <a:t>)</a:t>
            </a:r>
            <a:endParaRPr lang="es-AR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686010"/>
              </p:ext>
            </p:extLst>
          </p:nvPr>
        </p:nvGraphicFramePr>
        <p:xfrm>
          <a:off x="2941136" y="664096"/>
          <a:ext cx="2855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786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08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4498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10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11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12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13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14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559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6 CuadroTexto"/>
          <p:cNvSpPr txBox="1"/>
          <p:nvPr/>
        </p:nvSpPr>
        <p:spPr>
          <a:xfrm>
            <a:off x="3775510" y="259432"/>
            <a:ext cx="1084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Matriz A</a:t>
            </a:r>
            <a:endParaRPr lang="es-AR" dirty="0"/>
          </a:p>
        </p:txBody>
      </p:sp>
      <p:sp>
        <p:nvSpPr>
          <p:cNvPr id="8" name="7 Rectángulo"/>
          <p:cNvSpPr/>
          <p:nvPr/>
        </p:nvSpPr>
        <p:spPr>
          <a:xfrm>
            <a:off x="1827312" y="3347700"/>
            <a:ext cx="5382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>
                <a:solidFill>
                  <a:prstClr val="black"/>
                </a:solidFill>
              </a:rPr>
              <a:t>xlswrite</a:t>
            </a:r>
            <a:r>
              <a:rPr lang="es-ES" dirty="0" smtClean="0">
                <a:solidFill>
                  <a:prstClr val="black"/>
                </a:solidFill>
              </a:rPr>
              <a:t>(‘Sucesión’',A,'Hoja1‘)</a:t>
            </a:r>
            <a:endParaRPr lang="es-AR" dirty="0"/>
          </a:p>
        </p:txBody>
      </p:sp>
      <p:sp>
        <p:nvSpPr>
          <p:cNvPr id="9" name="8 Rectángulo"/>
          <p:cNvSpPr/>
          <p:nvPr/>
        </p:nvSpPr>
        <p:spPr>
          <a:xfrm>
            <a:off x="1835696" y="3861048"/>
            <a:ext cx="5382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>
                <a:solidFill>
                  <a:prstClr val="black"/>
                </a:solidFill>
              </a:rPr>
              <a:t>xlswrite</a:t>
            </a:r>
            <a:r>
              <a:rPr lang="es-ES" dirty="0" smtClean="0">
                <a:solidFill>
                  <a:prstClr val="black"/>
                </a:solidFill>
              </a:rPr>
              <a:t>(‘Sucesión’',A,'Hoja1‘,’G10:M14’)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1901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8" grpId="1"/>
      <p:bldP spid="9" grpId="0"/>
      <p:bldP spid="9" grpId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err="1" smtClean="0"/>
              <a:t>scilab</a:t>
            </a:r>
            <a:endParaRPr lang="es-AR" dirty="0" smtClean="0"/>
          </a:p>
          <a:p>
            <a:pPr algn="ctr"/>
            <a:endParaRPr lang="es-AR" dirty="0"/>
          </a:p>
          <a:p>
            <a:pPr algn="ctr"/>
            <a:r>
              <a:rPr lang="es-AR" dirty="0" smtClean="0"/>
              <a:t>exportar información a </a:t>
            </a:r>
            <a:r>
              <a:rPr lang="es-AR" dirty="0" err="1" smtClean="0"/>
              <a:t>excel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1714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>
            <a:off x="1845568" y="2708920"/>
            <a:ext cx="5382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err="1" smtClean="0"/>
              <a:t>csvWrite</a:t>
            </a:r>
            <a:r>
              <a:rPr lang="es-AR" dirty="0" smtClean="0"/>
              <a:t>(A, “Resultados.csv");</a:t>
            </a:r>
            <a:endParaRPr lang="es-AR" dirty="0"/>
          </a:p>
        </p:txBody>
      </p:sp>
      <p:graphicFrame>
        <p:nvGraphicFramePr>
          <p:cNvPr id="10" name="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970385"/>
              </p:ext>
            </p:extLst>
          </p:nvPr>
        </p:nvGraphicFramePr>
        <p:xfrm>
          <a:off x="2941136" y="664096"/>
          <a:ext cx="2855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0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7867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083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4498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10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11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12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13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14</a:t>
                      </a:r>
                      <a:endParaRPr lang="es-AR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559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401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31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33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34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="0" dirty="0" smtClean="0">
                          <a:solidFill>
                            <a:schemeClr val="tx1"/>
                          </a:solidFill>
                        </a:rPr>
                        <a:t>35</a:t>
                      </a:r>
                      <a:endParaRPr lang="es-AR" b="0" dirty="0">
                        <a:solidFill>
                          <a:schemeClr val="tx1"/>
                        </a:solidFill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775510" y="259432"/>
            <a:ext cx="115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Matriz A</a:t>
            </a:r>
            <a:endParaRPr lang="es-AR" dirty="0"/>
          </a:p>
        </p:txBody>
      </p:sp>
      <p:sp>
        <p:nvSpPr>
          <p:cNvPr id="12" name="11 Rectángulo"/>
          <p:cNvSpPr/>
          <p:nvPr/>
        </p:nvSpPr>
        <p:spPr>
          <a:xfrm>
            <a:off x="1853952" y="4787860"/>
            <a:ext cx="5382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dirty="0" err="1" smtClean="0"/>
              <a:t>csvWrite</a:t>
            </a:r>
            <a:r>
              <a:rPr lang="es-AR" dirty="0" smtClean="0"/>
              <a:t>(A, “Resultados.csv“,” “);</a:t>
            </a:r>
            <a:endParaRPr lang="es-AR" dirty="0"/>
          </a:p>
        </p:txBody>
      </p: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130635"/>
              </p:ext>
            </p:extLst>
          </p:nvPr>
        </p:nvGraphicFramePr>
        <p:xfrm>
          <a:off x="3275856" y="3093154"/>
          <a:ext cx="3621360" cy="1571625"/>
        </p:xfrm>
        <a:graphic>
          <a:graphicData uri="http://schemas.openxmlformats.org/drawingml/2006/table">
            <a:tbl>
              <a:tblPr/>
              <a:tblGrid>
                <a:gridCol w="36213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1,2,3,4,5,6,7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8,9,10,11,12,13,14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15,16,17,18,19,20,21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22,23,24,25,26,27,28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29,30,31,32,33,34,35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311783"/>
              </p:ext>
            </p:extLst>
          </p:nvPr>
        </p:nvGraphicFramePr>
        <p:xfrm>
          <a:off x="3335288" y="5140796"/>
          <a:ext cx="3036912" cy="1571625"/>
        </p:xfrm>
        <a:graphic>
          <a:graphicData uri="http://schemas.openxmlformats.org/drawingml/2006/table">
            <a:tbl>
              <a:tblPr/>
              <a:tblGrid>
                <a:gridCol w="30369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1 2 3 4 5 6 7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8 9 10 11 12 13 14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15 16 17 18 19 20 21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22 23 24 25 26 27 28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A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29 30 31 32 33 34 35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2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Matlab / </a:t>
            </a:r>
            <a:r>
              <a:rPr lang="es-AR" dirty="0" err="1" smtClean="0"/>
              <a:t>Octave</a:t>
            </a:r>
            <a:r>
              <a:rPr lang="es-AR" dirty="0" smtClean="0"/>
              <a:t> /</a:t>
            </a:r>
            <a:r>
              <a:rPr lang="es-AR" dirty="0" err="1" smtClean="0"/>
              <a:t>scilab</a:t>
            </a:r>
            <a:endParaRPr lang="es-AR" dirty="0" smtClean="0"/>
          </a:p>
          <a:p>
            <a:pPr algn="ctr"/>
            <a:endParaRPr lang="es-AR" dirty="0"/>
          </a:p>
          <a:p>
            <a:pPr algn="ctr"/>
            <a:r>
              <a:rPr lang="es-AR" dirty="0" smtClean="0"/>
              <a:t>exportar información a </a:t>
            </a:r>
            <a:r>
              <a:rPr lang="es-AR" dirty="0" err="1" smtClean="0"/>
              <a:t>word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4495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609856"/>
              </p:ext>
            </p:extLst>
          </p:nvPr>
        </p:nvGraphicFramePr>
        <p:xfrm>
          <a:off x="35496" y="260648"/>
          <a:ext cx="9059852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39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338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0040"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Comando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Función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Scilab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Octave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Interactuar con un archivo de </a:t>
                      </a:r>
                      <a:r>
                        <a:rPr lang="es-AR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id=</a:t>
                      </a:r>
                      <a:r>
                        <a:rPr lang="es-AR" dirty="0" err="1" smtClean="0"/>
                        <a:t>fopen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id=</a:t>
                      </a:r>
                      <a:r>
                        <a:rPr lang="es-AR" dirty="0" err="1" smtClean="0"/>
                        <a:t>mopen</a:t>
                      </a:r>
                      <a:r>
                        <a:rPr lang="es-AR" dirty="0" smtClean="0"/>
                        <a:t>(id)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id=</a:t>
                      </a:r>
                      <a:r>
                        <a:rPr lang="es-AR" dirty="0" err="1" smtClean="0"/>
                        <a:t>fopen</a:t>
                      </a:r>
                      <a:r>
                        <a:rPr lang="es-AR" dirty="0" smtClean="0"/>
                        <a:t>(id)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Desligarse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del archivo de </a:t>
                      </a:r>
                      <a:r>
                        <a:rPr lang="es-AR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fclose</a:t>
                      </a:r>
                      <a:r>
                        <a:rPr lang="es-AR" dirty="0" smtClean="0"/>
                        <a:t>(id)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mclose</a:t>
                      </a:r>
                      <a:r>
                        <a:rPr lang="es-AR" dirty="0" smtClean="0"/>
                        <a:t>(id)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fclose</a:t>
                      </a:r>
                      <a:r>
                        <a:rPr lang="es-AR" dirty="0" smtClean="0"/>
                        <a:t>(id)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Escribir un </a:t>
                      </a:r>
                      <a:r>
                        <a:rPr lang="es-AR" dirty="0" err="1" smtClean="0"/>
                        <a:t>string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fprintf</a:t>
                      </a:r>
                      <a:r>
                        <a:rPr lang="es-AR" dirty="0" smtClean="0"/>
                        <a:t>(id,””)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mtlb_printf</a:t>
                      </a:r>
                      <a:r>
                        <a:rPr lang="es-AR" dirty="0" smtClean="0"/>
                        <a:t>(id,””)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fprintf</a:t>
                      </a:r>
                      <a:r>
                        <a:rPr lang="es-AR" dirty="0" smtClean="0"/>
                        <a:t>(id,””)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Obtiene</a:t>
                      </a:r>
                      <a:r>
                        <a:rPr lang="es-AR" baseline="0" dirty="0" smtClean="0"/>
                        <a:t> texto de un archivo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fgets</a:t>
                      </a:r>
                      <a:r>
                        <a:rPr lang="es-AR" dirty="0" smtClean="0"/>
                        <a:t>(</a:t>
                      </a:r>
                      <a:r>
                        <a:rPr lang="es-AR" dirty="0" err="1" smtClean="0"/>
                        <a:t>id,integer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mgetl</a:t>
                      </a:r>
                      <a:r>
                        <a:rPr lang="es-AR" dirty="0" smtClean="0"/>
                        <a:t>(</a:t>
                      </a:r>
                      <a:r>
                        <a:rPr lang="es-AR" dirty="0" err="1" smtClean="0"/>
                        <a:t>id,integer</a:t>
                      </a:r>
                      <a:r>
                        <a:rPr lang="es-AR" dirty="0" smtClean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fgets</a:t>
                      </a:r>
                      <a:r>
                        <a:rPr lang="es-AR" dirty="0" smtClean="0"/>
                        <a:t>(</a:t>
                      </a:r>
                      <a:r>
                        <a:rPr lang="es-AR" dirty="0" err="1" smtClean="0"/>
                        <a:t>id,integer</a:t>
                      </a:r>
                      <a:r>
                        <a:rPr lang="es-AR" dirty="0" smtClean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64708"/>
              </p:ext>
            </p:extLst>
          </p:nvPr>
        </p:nvGraphicFramePr>
        <p:xfrm>
          <a:off x="611560" y="2708920"/>
          <a:ext cx="8085027" cy="394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5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4510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Argumento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Descripción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Observaciones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“r”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dirty="0" smtClean="0"/>
                        <a:t>Abre solo</a:t>
                      </a:r>
                      <a:r>
                        <a:rPr lang="es-AR" baseline="0" dirty="0" smtClean="0"/>
                        <a:t> para lectura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“w”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dirty="0" smtClean="0"/>
                        <a:t>Abre el archivo para escribir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dirty="0" smtClean="0"/>
                        <a:t>Contenido previo del archivo</a:t>
                      </a:r>
                      <a:r>
                        <a:rPr lang="es-AR" baseline="0" dirty="0" smtClean="0"/>
                        <a:t> es descartado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“a”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dirty="0" smtClean="0"/>
                        <a:t>Abre para empezar a escribir</a:t>
                      </a:r>
                      <a:r>
                        <a:rPr lang="es-AR" baseline="0" dirty="0" smtClean="0"/>
                        <a:t> al final del archivo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“r+”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dirty="0" smtClean="0"/>
                        <a:t>Abre</a:t>
                      </a:r>
                      <a:r>
                        <a:rPr lang="es-AR" baseline="0" dirty="0" smtClean="0"/>
                        <a:t> un archivo para leer y escribir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“w+”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dirty="0" smtClean="0"/>
                        <a:t>Abre un archivo para leer</a:t>
                      </a:r>
                      <a:r>
                        <a:rPr lang="es-AR" baseline="0" dirty="0" smtClean="0"/>
                        <a:t> y escribir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Contenido previo del archivo</a:t>
                      </a:r>
                      <a:r>
                        <a:rPr lang="es-AR" baseline="0" dirty="0" smtClean="0"/>
                        <a:t> es descartado</a:t>
                      </a:r>
                      <a:endParaRPr lang="es-A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“a+”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Abre para empezar a escribir o leer</a:t>
                      </a:r>
                      <a:r>
                        <a:rPr lang="es-AR" baseline="0" dirty="0" smtClean="0"/>
                        <a:t> al final del archivo</a:t>
                      </a:r>
                      <a:endParaRPr lang="es-A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343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de sistemas de ecuaciones y cálculo diferencial e integral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21147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315225"/>
              </p:ext>
            </p:extLst>
          </p:nvPr>
        </p:nvGraphicFramePr>
        <p:xfrm>
          <a:off x="107504" y="798696"/>
          <a:ext cx="8928992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650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60040"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Descripción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Comando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44016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Scilab</a:t>
                      </a:r>
                      <a:endParaRPr lang="es-AR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Octave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Sustituir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variable simbólica por un número</a:t>
                      </a:r>
                      <a:endParaRPr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subs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subs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3076804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Resolver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sistemas de ecuaciones lineales</a:t>
                      </a:r>
                      <a:endParaRPr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mldivide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linsolve</a:t>
                      </a: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r>
                        <a:rPr lang="es-AR" sz="18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s-AR" sz="1800" kern="1200" baseline="30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mldivide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Resolver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integral definida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mtClean="0"/>
                        <a:t>int()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intg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int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Resolver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integral indefinida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int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int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Calcular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derivada de una función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diff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numderivative</a:t>
                      </a:r>
                      <a:r>
                        <a:rPr lang="es-AR" dirty="0" smtClean="0"/>
                        <a:t>()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AR" baseline="30000" dirty="0" smtClean="0"/>
                        <a:t>1</a:t>
                      </a:r>
                      <a:endParaRPr lang="es-AR" baseline="30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diff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Resolver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sistema de ecuación diferenciales por el método de </a:t>
                      </a:r>
                      <a:r>
                        <a:rPr lang="es-AR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euler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ode45()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ode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ode45()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Resolver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sistemas de ecuaciones no lineales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fsolve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A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s-AR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Solving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a </a:t>
                      </a:r>
                      <a:r>
                        <a:rPr lang="es-AR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system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lang="es-AR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differencial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AR" sz="18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equations</a:t>
                      </a:r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dsolve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-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dsolve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10001874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1 CuadroTexto"/>
              <p:cNvSpPr txBox="1"/>
              <p:nvPr/>
            </p:nvSpPr>
            <p:spPr>
              <a:xfrm>
                <a:off x="251520" y="5877272"/>
                <a:ext cx="8784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AR" baseline="30000" dirty="0" smtClean="0"/>
                  <a:t>1</a:t>
                </a:r>
                <a:r>
                  <a:rPr lang="es-AR" dirty="0" smtClean="0"/>
                  <a:t> </a:t>
                </a:r>
                <a:r>
                  <a:rPr lang="es-AR" dirty="0"/>
                  <a:t>Resuelve el sistema</a:t>
                </a:r>
                <a14:m>
                  <m:oMath xmlns:m="http://schemas.openxmlformats.org/officeDocument/2006/math">
                    <m:r>
                      <a:rPr lang="es-AR" i="1" dirty="0">
                        <a:latin typeface="Cambria Math"/>
                      </a:rPr>
                      <m:t> </m:t>
                    </m:r>
                    <m:r>
                      <a:rPr lang="es-AR" i="1" dirty="0" err="1">
                        <a:latin typeface="Cambria Math"/>
                      </a:rPr>
                      <m:t>𝐴</m:t>
                    </m:r>
                    <m:r>
                      <a:rPr lang="es-AR" i="1" dirty="0" err="1">
                        <a:latin typeface="Cambria Math"/>
                      </a:rPr>
                      <m:t>.</m:t>
                    </m:r>
                    <m:r>
                      <a:rPr lang="es-AR" i="1" dirty="0" err="1">
                        <a:latin typeface="Cambria Math"/>
                      </a:rPr>
                      <m:t>𝑥</m:t>
                    </m:r>
                    <m:r>
                      <a:rPr lang="es-AR" i="1" dirty="0" err="1">
                        <a:latin typeface="Cambria Math"/>
                      </a:rPr>
                      <m:t>+</m:t>
                    </m:r>
                    <m:r>
                      <a:rPr lang="es-AR" i="1" dirty="0" err="1">
                        <a:latin typeface="Cambria Math"/>
                      </a:rPr>
                      <m:t>𝑏</m:t>
                    </m:r>
                    <m:r>
                      <a:rPr lang="es-AR" i="1" dirty="0">
                        <a:latin typeface="Cambria Math"/>
                      </a:rPr>
                      <m:t>=0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2" name="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5877272"/>
                <a:ext cx="8784976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4 CuadroTexto"/>
          <p:cNvSpPr txBox="1"/>
          <p:nvPr/>
        </p:nvSpPr>
        <p:spPr>
          <a:xfrm>
            <a:off x="251520" y="6300028"/>
            <a:ext cx="878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aseline="30000" dirty="0" smtClean="0"/>
              <a:t>2</a:t>
            </a:r>
            <a:r>
              <a:rPr lang="es-AR" dirty="0" smtClean="0"/>
              <a:t> </a:t>
            </a:r>
            <a:r>
              <a:rPr lang="es-AR" dirty="0"/>
              <a:t>Se obtiene un resultado numérico, no la expresión de la </a:t>
            </a:r>
            <a:r>
              <a:rPr lang="es-AR" dirty="0" smtClean="0"/>
              <a:t>derivada</a:t>
            </a:r>
            <a:endParaRPr lang="es-AR" dirty="0"/>
          </a:p>
        </p:txBody>
      </p:sp>
      <p:sp>
        <p:nvSpPr>
          <p:cNvPr id="3" name="2 CuadroTexto"/>
          <p:cNvSpPr txBox="1"/>
          <p:nvPr/>
        </p:nvSpPr>
        <p:spPr>
          <a:xfrm>
            <a:off x="539552" y="507589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 smtClean="0"/>
              <a:t>mldivide</a:t>
            </a:r>
            <a:r>
              <a:rPr lang="es-AR" dirty="0" smtClean="0"/>
              <a:t>(</a:t>
            </a:r>
            <a:r>
              <a:rPr lang="es-AR" dirty="0" err="1" smtClean="0"/>
              <a:t>A,b</a:t>
            </a:r>
            <a:r>
              <a:rPr lang="es-AR" dirty="0" smtClean="0"/>
              <a:t>)</a:t>
            </a:r>
            <a:endParaRPr lang="es-AR" dirty="0"/>
          </a:p>
        </p:txBody>
      </p:sp>
      <p:cxnSp>
        <p:nvCxnSpPr>
          <p:cNvPr id="7" name="6 Conector recto de flecha"/>
          <p:cNvCxnSpPr>
            <a:stCxn id="3" idx="3"/>
            <a:endCxn id="8" idx="1"/>
          </p:cNvCxnSpPr>
          <p:nvPr/>
        </p:nvCxnSpPr>
        <p:spPr>
          <a:xfrm>
            <a:off x="2195736" y="5260558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3059832" y="5075892"/>
                <a:ext cx="2880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dirty="0" smtClean="0"/>
                  <a:t>Resuelve sistema </a:t>
                </a:r>
                <a14:m>
                  <m:oMath xmlns:m="http://schemas.openxmlformats.org/officeDocument/2006/math">
                    <m:r>
                      <a:rPr lang="es-AR" i="1" dirty="0" smtClean="0">
                        <a:latin typeface="Cambria Math"/>
                      </a:rPr>
                      <m:t>𝐴</m:t>
                    </m:r>
                    <m:r>
                      <a:rPr lang="es-AR" i="1" dirty="0" smtClean="0">
                        <a:latin typeface="Cambria Math"/>
                      </a:rPr>
                      <m:t>.</m:t>
                    </m:r>
                    <m:r>
                      <a:rPr lang="es-AR" i="1" dirty="0" smtClean="0">
                        <a:latin typeface="Cambria Math"/>
                      </a:rPr>
                      <m:t>𝑥</m:t>
                    </m:r>
                    <m:r>
                      <a:rPr lang="es-AR" i="1" dirty="0" smtClean="0">
                        <a:latin typeface="Cambria Math"/>
                      </a:rPr>
                      <m:t>=</m:t>
                    </m:r>
                    <m:r>
                      <a:rPr lang="es-AR" i="1" dirty="0" smtClean="0">
                        <a:latin typeface="Cambria Math"/>
                      </a:rPr>
                      <m:t>𝑏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5075892"/>
                <a:ext cx="2880320" cy="369332"/>
              </a:xfrm>
              <a:prstGeom prst="rect">
                <a:avLst/>
              </a:prstGeom>
              <a:blipFill>
                <a:blip r:embed="rId3"/>
                <a:stretch>
                  <a:fillRect l="-1271" t="-10000" b="-2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10 CuadroTexto"/>
          <p:cNvSpPr txBox="1"/>
          <p:nvPr/>
        </p:nvSpPr>
        <p:spPr>
          <a:xfrm>
            <a:off x="683568" y="550794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err="1" smtClean="0"/>
              <a:t>linsolve</a:t>
            </a:r>
            <a:r>
              <a:rPr lang="es-AR" dirty="0" smtClean="0"/>
              <a:t>(</a:t>
            </a:r>
            <a:r>
              <a:rPr lang="es-AR" dirty="0" err="1" smtClean="0"/>
              <a:t>A,b</a:t>
            </a:r>
            <a:r>
              <a:rPr lang="es-AR" dirty="0" smtClean="0"/>
              <a:t>)</a:t>
            </a:r>
            <a:endParaRPr lang="es-AR" dirty="0"/>
          </a:p>
        </p:txBody>
      </p:sp>
      <p:cxnSp>
        <p:nvCxnSpPr>
          <p:cNvPr id="12" name="11 Conector recto de flecha"/>
          <p:cNvCxnSpPr>
            <a:stCxn id="11" idx="3"/>
            <a:endCxn id="13" idx="1"/>
          </p:cNvCxnSpPr>
          <p:nvPr/>
        </p:nvCxnSpPr>
        <p:spPr>
          <a:xfrm>
            <a:off x="2195736" y="569260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3059832" y="5507940"/>
                <a:ext cx="24482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AR" dirty="0" smtClean="0"/>
                  <a:t>Resuelve </a:t>
                </a:r>
                <a14:m>
                  <m:oMath xmlns:m="http://schemas.openxmlformats.org/officeDocument/2006/math">
                    <m:r>
                      <a:rPr lang="es-AR" i="1" dirty="0" smtClean="0">
                        <a:latin typeface="Cambria Math"/>
                      </a:rPr>
                      <m:t>𝐴</m:t>
                    </m:r>
                    <m:r>
                      <a:rPr lang="es-AR" i="1" dirty="0" smtClean="0">
                        <a:latin typeface="Cambria Math"/>
                      </a:rPr>
                      <m:t>.</m:t>
                    </m:r>
                    <m:r>
                      <a:rPr lang="es-AR" i="1" dirty="0" smtClean="0">
                        <a:latin typeface="Cambria Math"/>
                      </a:rPr>
                      <m:t>𝑥</m:t>
                    </m:r>
                    <m:r>
                      <a:rPr lang="es-AR" i="1" dirty="0" smtClean="0">
                        <a:latin typeface="Cambria Math"/>
                      </a:rPr>
                      <m:t>+</m:t>
                    </m:r>
                    <m:r>
                      <a:rPr lang="es-AR" i="1" dirty="0" smtClean="0">
                        <a:latin typeface="Cambria Math"/>
                      </a:rPr>
                      <m:t>𝑏</m:t>
                    </m:r>
                    <m:r>
                      <a:rPr lang="es-AR" i="1" dirty="0" smtClean="0">
                        <a:latin typeface="Cambria Math"/>
                      </a:rPr>
                      <m:t>=0</m:t>
                    </m:r>
                  </m:oMath>
                </a14:m>
                <a:endParaRPr lang="es-A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5507940"/>
                <a:ext cx="2448272" cy="369332"/>
              </a:xfrm>
              <a:prstGeom prst="rect">
                <a:avLst/>
              </a:prstGeom>
              <a:blipFill>
                <a:blip r:embed="rId4"/>
                <a:stretch>
                  <a:fillRect l="-995" t="-10000" b="-2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15 Conector recto de flecha"/>
          <p:cNvCxnSpPr>
            <a:stCxn id="13" idx="3"/>
            <a:endCxn id="17" idx="1"/>
          </p:cNvCxnSpPr>
          <p:nvPr/>
        </p:nvCxnSpPr>
        <p:spPr>
          <a:xfrm>
            <a:off x="5508104" y="5692606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CuadroTexto"/>
              <p:cNvSpPr txBox="1"/>
              <p:nvPr/>
            </p:nvSpPr>
            <p:spPr>
              <a:xfrm>
                <a:off x="6228184" y="5507940"/>
                <a:ext cx="2592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s-AR" i="1" dirty="0" smtClean="0">
                        <a:latin typeface="Cambria Math"/>
                      </a:rPr>
                      <m:t>𝐴</m:t>
                    </m:r>
                    <m:r>
                      <a:rPr lang="es-AR" i="1" dirty="0" smtClean="0">
                        <a:latin typeface="Cambria Math"/>
                      </a:rPr>
                      <m:t>.</m:t>
                    </m:r>
                    <m:r>
                      <a:rPr lang="es-AR" i="1" dirty="0" smtClean="0">
                        <a:latin typeface="Cambria Math"/>
                      </a:rPr>
                      <m:t>𝑥</m:t>
                    </m:r>
                    <m:r>
                      <a:rPr lang="es-AR" i="1" dirty="0" smtClean="0">
                        <a:latin typeface="Cambria Math"/>
                      </a:rPr>
                      <m:t>=</m:t>
                    </m:r>
                    <m:r>
                      <a:rPr lang="es-AR" i="1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s-AR" dirty="0" smtClean="0"/>
                  <a:t> </a:t>
                </a:r>
                <a:r>
                  <a:rPr lang="es-AR" dirty="0" smtClean="0">
                    <a:latin typeface="Calibri"/>
                    <a:cs typeface="Calibri"/>
                  </a:rPr>
                  <a:t>→ </a:t>
                </a:r>
                <a:r>
                  <a:rPr lang="es-AR" dirty="0" err="1" smtClean="0">
                    <a:latin typeface="Calibri"/>
                    <a:cs typeface="Calibri"/>
                  </a:rPr>
                  <a:t>linsolve</a:t>
                </a:r>
                <a:r>
                  <a:rPr lang="es-AR" dirty="0" smtClean="0">
                    <a:latin typeface="Calibri"/>
                    <a:cs typeface="Calibri"/>
                  </a:rPr>
                  <a:t>(A,-b)</a:t>
                </a:r>
                <a:endParaRPr lang="es-AR" dirty="0"/>
              </a:p>
            </p:txBody>
          </p:sp>
        </mc:Choice>
        <mc:Fallback xmlns=""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8184" y="5507940"/>
                <a:ext cx="2592288" cy="369332"/>
              </a:xfrm>
              <a:prstGeom prst="rect">
                <a:avLst/>
              </a:prstGeom>
              <a:blipFill>
                <a:blip r:embed="rId5"/>
                <a:stretch>
                  <a:fillRect t="-10000" r="-706" b="-2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42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Integrales definidas e indefinidas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7569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Integrales definidas e indefinidas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22960" y="1100628"/>
            <a:ext cx="7520940" cy="4416604"/>
          </a:xfrm>
        </p:spPr>
        <p:txBody>
          <a:bodyPr>
            <a:noAutofit/>
          </a:bodyPr>
          <a:lstStyle/>
          <a:p>
            <a:pPr marL="0" indent="0" algn="just">
              <a:lnSpc>
                <a:spcPct val="90000"/>
              </a:lnSpc>
            </a:pPr>
            <a:r>
              <a:rPr lang="es-AR" sz="1900" b="0" dirty="0" smtClean="0"/>
              <a:t>El cálculo de integrales en </a:t>
            </a:r>
            <a:r>
              <a:rPr lang="es-AR" sz="1900" b="0" dirty="0" err="1" smtClean="0"/>
              <a:t>Scilab</a:t>
            </a:r>
            <a:r>
              <a:rPr lang="es-AR" sz="1900" b="0" dirty="0" smtClean="0"/>
              <a:t>: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 smtClean="0"/>
              <a:t>requiere </a:t>
            </a:r>
            <a:r>
              <a:rPr lang="es-AR" sz="1900" b="0" dirty="0"/>
              <a:t>que el usuario cree una función por medio de un </a:t>
            </a:r>
            <a:r>
              <a:rPr lang="es-AR" sz="1900" b="0" dirty="0" smtClean="0"/>
              <a:t>script, para luego aplicar el comando </a:t>
            </a:r>
            <a:r>
              <a:rPr lang="es-AR" sz="1900" b="0" dirty="0"/>
              <a:t>“</a:t>
            </a:r>
            <a:r>
              <a:rPr lang="es-AR" sz="1900" b="0" dirty="0" err="1" smtClean="0"/>
              <a:t>intg</a:t>
            </a:r>
            <a:r>
              <a:rPr lang="es-AR" sz="1900" b="0" dirty="0" smtClean="0"/>
              <a:t>” en ella.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 smtClean="0"/>
              <a:t>solo se pueden calcular integrales definidas.</a:t>
            </a:r>
          </a:p>
          <a:p>
            <a:pPr marL="0" indent="0" algn="just">
              <a:lnSpc>
                <a:spcPct val="90000"/>
              </a:lnSpc>
            </a:pPr>
            <a:endParaRPr lang="es-AR" sz="1900" b="0" dirty="0"/>
          </a:p>
          <a:p>
            <a:pPr marL="0" indent="0" algn="just">
              <a:lnSpc>
                <a:spcPct val="90000"/>
              </a:lnSpc>
            </a:pPr>
            <a:r>
              <a:rPr lang="es-AR" sz="1900" b="0" dirty="0" smtClean="0"/>
              <a:t>El cálculo de integrales en </a:t>
            </a:r>
            <a:r>
              <a:rPr lang="es-AR" sz="1900" b="0" dirty="0" err="1" smtClean="0"/>
              <a:t>matlab</a:t>
            </a:r>
            <a:r>
              <a:rPr lang="es-AR" sz="1900" b="0" dirty="0" smtClean="0"/>
              <a:t> </a:t>
            </a:r>
            <a:r>
              <a:rPr lang="es-AR" sz="1900" b="0" dirty="0"/>
              <a:t>y </a:t>
            </a:r>
            <a:r>
              <a:rPr lang="es-AR" sz="1900" b="0" dirty="0" err="1" smtClean="0"/>
              <a:t>octave</a:t>
            </a:r>
            <a:r>
              <a:rPr lang="es-AR" sz="1900" b="0" dirty="0" smtClean="0"/>
              <a:t>: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 smtClean="0"/>
              <a:t>requiere </a:t>
            </a:r>
            <a:r>
              <a:rPr lang="es-AR" sz="1900" b="0" dirty="0"/>
              <a:t>que se defina una función usando variables </a:t>
            </a:r>
            <a:r>
              <a:rPr lang="es-AR" sz="1900" b="0" dirty="0" smtClean="0"/>
              <a:t>simbólicas para luego aplicar en ella el </a:t>
            </a:r>
            <a:r>
              <a:rPr lang="es-AR" sz="1900" b="0" dirty="0"/>
              <a:t>comando “</a:t>
            </a:r>
            <a:r>
              <a:rPr lang="es-AR" sz="1900" b="0" dirty="0" err="1"/>
              <a:t>int</a:t>
            </a:r>
            <a:r>
              <a:rPr lang="es-AR" sz="1900" b="0" dirty="0"/>
              <a:t>”. </a:t>
            </a:r>
            <a:endParaRPr lang="es-AR" sz="1900" b="0" dirty="0" smtClean="0"/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s</a:t>
            </a:r>
            <a:r>
              <a:rPr lang="es-AR" sz="1900" b="0" dirty="0" smtClean="0"/>
              <a:t>e pueden calcular integrales definidas e indefinidas</a:t>
            </a:r>
            <a:endParaRPr lang="es-AR" sz="1900" b="0" dirty="0"/>
          </a:p>
          <a:p>
            <a:pPr marL="0" indent="0" algn="just">
              <a:lnSpc>
                <a:spcPct val="90000"/>
              </a:lnSpc>
            </a:pPr>
            <a:endParaRPr lang="es-AR" sz="1900" b="0" dirty="0" smtClean="0"/>
          </a:p>
          <a:p>
            <a:pPr marL="0" indent="0" algn="just">
              <a:lnSpc>
                <a:spcPct val="90000"/>
              </a:lnSpc>
            </a:pPr>
            <a:r>
              <a:rPr lang="es-AR" sz="1900" b="0" dirty="0" smtClean="0"/>
              <a:t>Los límites </a:t>
            </a:r>
            <a:r>
              <a:rPr lang="es-AR" sz="1900" b="0" dirty="0"/>
              <a:t>de la integral </a:t>
            </a:r>
            <a:r>
              <a:rPr lang="es-AR" sz="1900" b="0" dirty="0" smtClean="0"/>
              <a:t>en los tres programas deben </a:t>
            </a:r>
            <a:r>
              <a:rPr lang="es-AR" sz="1900" b="0" dirty="0"/>
              <a:t>ser introducidos como argumentos para obtener el valor numérico de la integral.</a:t>
            </a:r>
          </a:p>
        </p:txBody>
      </p:sp>
    </p:spTree>
    <p:extLst>
      <p:ext uri="{BB962C8B-B14F-4D97-AF65-F5344CB8AC3E}">
        <p14:creationId xmlns:p14="http://schemas.microsoft.com/office/powerpoint/2010/main" val="205817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derivadas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8419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AR" dirty="0" smtClean="0"/>
              <a:t>Derivadas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351309"/>
            <a:ext cx="8291264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90000"/>
              </a:lnSpc>
            </a:pPr>
            <a:r>
              <a:rPr lang="es-AR" sz="1900" b="0" dirty="0"/>
              <a:t>Al igual que con las integrales, </a:t>
            </a:r>
            <a:r>
              <a:rPr lang="es-AR" sz="1900" b="0" dirty="0" err="1"/>
              <a:t>Scilab</a:t>
            </a:r>
            <a:r>
              <a:rPr lang="es-AR" sz="1900" b="0" dirty="0"/>
              <a:t> calcula </a:t>
            </a:r>
            <a:r>
              <a:rPr lang="es-AR" sz="1900" b="0" dirty="0" err="1"/>
              <a:t>numericamente</a:t>
            </a:r>
            <a:r>
              <a:rPr lang="es-AR" sz="1900" b="0" dirty="0"/>
              <a:t> la derivada de una función algebraica. Primero el usuario debe crear una función por medio de un script y luego aplicarle el comando “</a:t>
            </a:r>
            <a:r>
              <a:rPr lang="es-AR" sz="1900" b="0" dirty="0" err="1"/>
              <a:t>numderivative</a:t>
            </a:r>
            <a:r>
              <a:rPr lang="es-AR" sz="1900" b="0" dirty="0"/>
              <a:t>”. </a:t>
            </a:r>
            <a:endParaRPr lang="es-AR" sz="1900" b="0" dirty="0" smtClean="0"/>
          </a:p>
          <a:p>
            <a:pPr marL="0" indent="0" algn="just">
              <a:lnSpc>
                <a:spcPct val="90000"/>
              </a:lnSpc>
            </a:pPr>
            <a:endParaRPr lang="es-AR" sz="1900" b="0" dirty="0"/>
          </a:p>
          <a:p>
            <a:pPr marL="0" indent="0" algn="just">
              <a:lnSpc>
                <a:spcPct val="90000"/>
              </a:lnSpc>
            </a:pPr>
            <a:r>
              <a:rPr lang="es-AR" sz="1900" b="0" dirty="0"/>
              <a:t>En cambio, </a:t>
            </a:r>
            <a:r>
              <a:rPr lang="es-AR" sz="1900" b="0" dirty="0" err="1"/>
              <a:t>matlab</a:t>
            </a:r>
            <a:r>
              <a:rPr lang="es-AR" sz="1900" b="0" dirty="0"/>
              <a:t> y </a:t>
            </a:r>
            <a:r>
              <a:rPr lang="es-AR" sz="1900" b="0" dirty="0" err="1"/>
              <a:t>octave</a:t>
            </a:r>
            <a:r>
              <a:rPr lang="es-AR" sz="1900" b="0" dirty="0"/>
              <a:t> usan variables simbólicas para definir la función y usar el comando “</a:t>
            </a:r>
            <a:r>
              <a:rPr lang="es-AR" sz="1900" b="0" dirty="0" err="1"/>
              <a:t>diff</a:t>
            </a:r>
            <a:r>
              <a:rPr lang="es-AR" sz="1900" b="0" dirty="0"/>
              <a:t>”. Finalmente, se reemplaza las variables simbólicas por números. </a:t>
            </a:r>
            <a:endParaRPr lang="es-AR" sz="1900" b="0" dirty="0" smtClean="0"/>
          </a:p>
          <a:p>
            <a:pPr marL="0" indent="0" algn="just">
              <a:lnSpc>
                <a:spcPct val="90000"/>
              </a:lnSpc>
            </a:pPr>
            <a:endParaRPr lang="es-AR" sz="1900" b="0" dirty="0"/>
          </a:p>
          <a:p>
            <a:pPr marL="0" indent="0" algn="just">
              <a:lnSpc>
                <a:spcPct val="90000"/>
              </a:lnSpc>
            </a:pPr>
            <a:r>
              <a:rPr lang="es-AR" sz="1900" b="0" dirty="0"/>
              <a:t>Si se usa el comando ‘</a:t>
            </a:r>
            <a:r>
              <a:rPr lang="es-AR" sz="1900" b="0" dirty="0" err="1"/>
              <a:t>diff</a:t>
            </a:r>
            <a:r>
              <a:rPr lang="es-AR" sz="1900" b="0" dirty="0"/>
              <a:t>(</a:t>
            </a:r>
            <a:r>
              <a:rPr lang="es-AR" sz="1900" b="0" dirty="0" err="1"/>
              <a:t>v,N</a:t>
            </a:r>
            <a:r>
              <a:rPr lang="es-AR" sz="1900" b="0" dirty="0"/>
              <a:t>)’ con v definido como vector se obtienen la diferencia de orden 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CuadroTexto"/>
              <p:cNvSpPr txBox="1"/>
              <p:nvPr/>
            </p:nvSpPr>
            <p:spPr>
              <a:xfrm>
                <a:off x="5868144" y="4634552"/>
                <a:ext cx="11278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  <m:r>
                            <a:rPr lang="es-AR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8144" y="4634552"/>
                <a:ext cx="1127873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CuadroTexto"/>
              <p:cNvSpPr txBox="1"/>
              <p:nvPr/>
            </p:nvSpPr>
            <p:spPr>
              <a:xfrm>
                <a:off x="5524139" y="5138608"/>
                <a:ext cx="1815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  <m:r>
                            <a:rPr lang="es-AR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−2.</m:t>
                      </m:r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139" y="5138608"/>
                <a:ext cx="1815882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5013263" y="5714672"/>
                <a:ext cx="29431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  <m:r>
                            <a:rPr lang="es-AR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−3.</m:t>
                      </m:r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+3.</m:t>
                      </m:r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263" y="5714672"/>
                <a:ext cx="2943113" cy="369332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CuadroTexto"/>
          <p:cNvSpPr txBox="1"/>
          <p:nvPr/>
        </p:nvSpPr>
        <p:spPr>
          <a:xfrm>
            <a:off x="1439652" y="4706560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Primer orden</a:t>
            </a:r>
            <a:endParaRPr lang="es-AR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3851920" y="4891226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1259632" y="521061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Segundo orden</a:t>
            </a:r>
            <a:endParaRPr lang="es-AR" dirty="0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3851920" y="5395282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1439652" y="5723964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Tercer orden</a:t>
            </a:r>
            <a:endParaRPr lang="es-AR" dirty="0"/>
          </a:p>
        </p:txBody>
      </p:sp>
      <p:cxnSp>
        <p:nvCxnSpPr>
          <p:cNvPr id="13" name="12 Conector recto de flecha"/>
          <p:cNvCxnSpPr/>
          <p:nvPr/>
        </p:nvCxnSpPr>
        <p:spPr>
          <a:xfrm>
            <a:off x="3851920" y="5908630"/>
            <a:ext cx="8640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07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817112" y="1730402"/>
            <a:ext cx="7643320" cy="1482573"/>
          </a:xfrm>
          <a:prstGeom prst="rect">
            <a:avLst/>
          </a:prstGeom>
        </p:spPr>
        <p:txBody>
          <a:bodyPr vert="horz" lIns="91440" tIns="45720" rIns="91440" bIns="9144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de ecuaciones diferenciales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3742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260648"/>
            <a:ext cx="9144000" cy="80615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Introducción a la resolución de ecuaciones diferenciales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CuadroTexto"/>
              <p:cNvSpPr txBox="1"/>
              <p:nvPr/>
            </p:nvSpPr>
            <p:spPr>
              <a:xfrm>
                <a:off x="2805822" y="1412776"/>
                <a:ext cx="1164871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𝑎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822" y="1412776"/>
                <a:ext cx="1164871" cy="61824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2657993" y="2168898"/>
                <a:ext cx="1798249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𝐶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AR" i="1">
                              <a:latin typeface="Cambria Math"/>
                            </a:rPr>
                            <m:t>:   </m:t>
                          </m:r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s-AR" i="1">
                              <a:latin typeface="Cambria Math"/>
                            </a:rPr>
                            <m:t>=</m:t>
                          </m:r>
                          <m:r>
                            <a:rPr lang="es-AR" i="1">
                              <a:latin typeface="Cambria Math"/>
                            </a:rPr>
                            <m:t>𝑜</m:t>
                          </m:r>
                          <m:r>
                            <a:rPr lang="es-AR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993" y="2168898"/>
                <a:ext cx="1798249" cy="396006"/>
              </a:xfrm>
              <a:prstGeom prst="rect">
                <a:avLst/>
              </a:prstGeom>
              <a:blipFill rotWithShape="1">
                <a:blip r:embed="rId3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6 Conector recto de flecha"/>
          <p:cNvCxnSpPr/>
          <p:nvPr/>
        </p:nvCxnSpPr>
        <p:spPr>
          <a:xfrm>
            <a:off x="4619877" y="2022766"/>
            <a:ext cx="109405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2 CuadroTexto"/>
              <p:cNvSpPr txBox="1"/>
              <p:nvPr/>
            </p:nvSpPr>
            <p:spPr>
              <a:xfrm>
                <a:off x="5837706" y="1806742"/>
                <a:ext cx="1254574" cy="3981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(</m:t>
                          </m:r>
                          <m:r>
                            <a:rPr lang="es-AR" i="1">
                              <a:latin typeface="Cambria Math"/>
                            </a:rPr>
                            <m:t>𝑡</m:t>
                          </m:r>
                          <m:r>
                            <a:rPr lang="es-AR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s-AR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s-AR" i="1">
                              <a:latin typeface="Cambria Math"/>
                            </a:rPr>
                            <m:t>𝑎</m:t>
                          </m:r>
                          <m:r>
                            <a:rPr lang="es-AR" i="1">
                              <a:latin typeface="Cambria Math"/>
                            </a:rPr>
                            <m:t>.</m:t>
                          </m:r>
                          <m:r>
                            <a:rPr lang="es-AR" i="1">
                              <a:latin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3" name="1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706" y="1806742"/>
                <a:ext cx="1254574" cy="398122"/>
              </a:xfrm>
              <a:prstGeom prst="rect">
                <a:avLst/>
              </a:prstGeom>
              <a:blipFill rotWithShape="1">
                <a:blip r:embed="rId4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CuadroTexto"/>
              <p:cNvSpPr txBox="1"/>
              <p:nvPr/>
            </p:nvSpPr>
            <p:spPr>
              <a:xfrm>
                <a:off x="1839509" y="2996952"/>
                <a:ext cx="1386854" cy="64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b="0" i="1" smtClean="0">
                              <a:latin typeface="Cambria Math"/>
                            </a:rPr>
                            <m:t>𝑦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𝑑</m:t>
                          </m:r>
                          <m:sSup>
                            <m:sSup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13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509" y="2996952"/>
                <a:ext cx="1386854" cy="64812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4 CuadroTexto"/>
              <p:cNvSpPr txBox="1"/>
              <p:nvPr/>
            </p:nvSpPr>
            <p:spPr>
              <a:xfrm>
                <a:off x="1691680" y="3753074"/>
                <a:ext cx="1920269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𝐶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1:   </m:t>
                          </m:r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s-AR" i="1">
                              <a:latin typeface="Cambria Math"/>
                            </a:rPr>
                            <m:t>=</m:t>
                          </m:r>
                          <m:r>
                            <a:rPr lang="es-AR" i="1">
                              <a:latin typeface="Cambria Math"/>
                            </a:rPr>
                            <m:t>𝑜</m:t>
                          </m:r>
                          <m:r>
                            <a:rPr lang="es-AR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1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3753074"/>
                <a:ext cx="1920269" cy="396006"/>
              </a:xfrm>
              <a:prstGeom prst="rect">
                <a:avLst/>
              </a:prstGeom>
              <a:blipFill rotWithShape="1">
                <a:blip r:embed="rId6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15 Conector recto de flecha"/>
          <p:cNvCxnSpPr/>
          <p:nvPr/>
        </p:nvCxnSpPr>
        <p:spPr>
          <a:xfrm>
            <a:off x="3935203" y="3936400"/>
            <a:ext cx="109405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CuadroTexto"/>
              <p:cNvSpPr txBox="1"/>
              <p:nvPr/>
            </p:nvSpPr>
            <p:spPr>
              <a:xfrm>
                <a:off x="5225040" y="3573016"/>
                <a:ext cx="2011256" cy="6447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AR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𝑎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s-AR" i="1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s-AR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.</m:t>
                              </m:r>
                              <m:r>
                                <a:rPr lang="es-AR" i="1">
                                  <a:latin typeface="Cambria Math"/>
                                </a:rPr>
                                <m:t>𝑡</m:t>
                              </m:r>
                            </m:sup>
                          </m:sSup>
                        </m:num>
                        <m:den>
                          <m:r>
                            <a:rPr lang="es-AR" i="1">
                              <a:latin typeface="Cambria Math"/>
                            </a:rPr>
                            <m:t>2</m:t>
                          </m:r>
                          <m:r>
                            <a:rPr lang="es-AR" i="1"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1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040" y="3573016"/>
                <a:ext cx="2011256" cy="64472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CuadroTexto"/>
              <p:cNvSpPr txBox="1"/>
              <p:nvPr/>
            </p:nvSpPr>
            <p:spPr>
              <a:xfrm>
                <a:off x="1691680" y="4113114"/>
                <a:ext cx="2064283" cy="6915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𝐶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𝐵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2:   </m:t>
                          </m:r>
                          <m:f>
                            <m:fPr>
                              <m:ctrlPr>
                                <a:rPr lang="es-AR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AR" b="0" i="1" smtClean="0">
                                  <a:latin typeface="Cambria Math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es-AR" b="0" i="1" smtClean="0">
                                  <a:latin typeface="Cambria Math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(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s-AR" i="1">
                              <a:latin typeface="Cambria Math"/>
                            </a:rPr>
                            <m:t>=</m:t>
                          </m:r>
                          <m:r>
                            <a:rPr lang="es-AR" i="1">
                              <a:latin typeface="Cambria Math"/>
                            </a:rPr>
                            <m:t>𝑜</m:t>
                          </m:r>
                          <m:r>
                            <a:rPr lang="es-AR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1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113114"/>
                <a:ext cx="2064283" cy="69153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1 Rectángulo"/>
          <p:cNvSpPr/>
          <p:nvPr/>
        </p:nvSpPr>
        <p:spPr>
          <a:xfrm>
            <a:off x="1715626" y="3753074"/>
            <a:ext cx="1920269" cy="396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Rectángulo"/>
          <p:cNvSpPr/>
          <p:nvPr/>
        </p:nvSpPr>
        <p:spPr>
          <a:xfrm>
            <a:off x="1715627" y="4149080"/>
            <a:ext cx="1920269" cy="65557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CuadroTexto"/>
          <p:cNvSpPr txBox="1"/>
          <p:nvPr/>
        </p:nvSpPr>
        <p:spPr>
          <a:xfrm>
            <a:off x="539552" y="377974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i="1" u="sng" dirty="0" err="1" smtClean="0"/>
              <a:t>Dirichlet</a:t>
            </a:r>
            <a:endParaRPr lang="es-AR" b="1" i="1" u="sng" dirty="0"/>
          </a:p>
        </p:txBody>
      </p:sp>
      <p:sp>
        <p:nvSpPr>
          <p:cNvPr id="20" name="19 CuadroTexto"/>
          <p:cNvSpPr txBox="1"/>
          <p:nvPr/>
        </p:nvSpPr>
        <p:spPr>
          <a:xfrm>
            <a:off x="433166" y="42177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i="1" u="sng" dirty="0" smtClean="0"/>
              <a:t>Neumann</a:t>
            </a:r>
            <a:endParaRPr lang="es-AR" b="1" i="1" u="sng" dirty="0"/>
          </a:p>
        </p:txBody>
      </p:sp>
    </p:spTree>
    <p:extLst>
      <p:ext uri="{BB962C8B-B14F-4D97-AF65-F5344CB8AC3E}">
        <p14:creationId xmlns:p14="http://schemas.microsoft.com/office/powerpoint/2010/main" val="110242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19" grpId="0" animBg="1"/>
      <p:bldP spid="3" grpId="0"/>
      <p:bldP spid="3" grpId="1"/>
      <p:bldP spid="20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Introducción a la resolución numérica de ecuaciones diferenciales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01731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AR" dirty="0"/>
              <a:t>Introducción a la resolución numérica de ecuaciones diferenciales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CuadroTexto"/>
              <p:cNvSpPr txBox="1"/>
              <p:nvPr/>
            </p:nvSpPr>
            <p:spPr>
              <a:xfrm>
                <a:off x="1691680" y="2132856"/>
                <a:ext cx="1460400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+</m:t>
                      </m:r>
                      <m:r>
                        <a:rPr lang="es-AR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2132856"/>
                <a:ext cx="1460400" cy="61824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6 CuadroTexto"/>
              <p:cNvSpPr txBox="1"/>
              <p:nvPr/>
            </p:nvSpPr>
            <p:spPr>
              <a:xfrm>
                <a:off x="1303774" y="2852936"/>
                <a:ext cx="1756058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𝐶𝐼</m:t>
                          </m:r>
                          <m:r>
                            <a:rPr lang="es-AR" i="1">
                              <a:latin typeface="Cambria Math"/>
                            </a:rPr>
                            <m:t>:   </m:t>
                          </m:r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(</m:t>
                          </m:r>
                          <m:r>
                            <a:rPr lang="es-AR" i="1">
                              <a:latin typeface="Cambria Math"/>
                            </a:rPr>
                            <m:t>𝑥</m:t>
                          </m:r>
                          <m:r>
                            <a:rPr lang="es-AR" i="1">
                              <a:latin typeface="Cambria Math"/>
                            </a:rPr>
                            <m:t>=</m:t>
                          </m:r>
                          <m:r>
                            <a:rPr lang="es-AR" i="1">
                              <a:latin typeface="Cambria Math"/>
                            </a:rPr>
                            <m:t>𝑜</m:t>
                          </m:r>
                          <m:r>
                            <a:rPr lang="es-AR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7" name="6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3774" y="2852936"/>
                <a:ext cx="1756058" cy="396006"/>
              </a:xfrm>
              <a:prstGeom prst="rect">
                <a:avLst/>
              </a:prstGeom>
              <a:blipFill rotWithShape="1"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9 Conector recto de flecha"/>
          <p:cNvCxnSpPr/>
          <p:nvPr/>
        </p:nvCxnSpPr>
        <p:spPr>
          <a:xfrm>
            <a:off x="3419872" y="2724599"/>
            <a:ext cx="120389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11 CuadroTexto"/>
              <p:cNvSpPr txBox="1"/>
              <p:nvPr/>
            </p:nvSpPr>
            <p:spPr>
              <a:xfrm>
                <a:off x="5348357" y="1813608"/>
                <a:ext cx="2205604" cy="5666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s-AR" b="0" i="1" smtClean="0">
                                  <a:latin typeface="Cambria Math"/>
                                </a:rPr>
                                <m:t>+1</m:t>
                              </m:r>
                            </m:sub>
                          </m:sSub>
                          <m:r>
                            <a:rPr lang="es-AR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AR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AR" b="0" i="1" smtClean="0">
                              <a:latin typeface="Cambria Math"/>
                              <a:ea typeface="Cambria Math"/>
                            </a:rPr>
                            <m:t>∆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s-A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2" name="1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8357" y="1813608"/>
                <a:ext cx="2205604" cy="5666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7 CuadroTexto"/>
              <p:cNvSpPr txBox="1"/>
              <p:nvPr/>
            </p:nvSpPr>
            <p:spPr>
              <a:xfrm>
                <a:off x="5060325" y="2514962"/>
                <a:ext cx="27520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𝑖</m:t>
                          </m:r>
                          <m:r>
                            <a:rPr lang="es-AR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s-AR" i="1">
                          <a:latin typeface="Cambria Math"/>
                        </a:rPr>
                        <m:t>𝑥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s-A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8" name="7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325" y="2514962"/>
                <a:ext cx="2752035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8 CuadroTexto"/>
              <p:cNvSpPr txBox="1"/>
              <p:nvPr/>
            </p:nvSpPr>
            <p:spPr>
              <a:xfrm>
                <a:off x="5060325" y="3163034"/>
                <a:ext cx="27119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i="1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s-AR" i="1">
                          <a:latin typeface="Cambria Math"/>
                        </a:rPr>
                        <m:t>𝑥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d>
                        <m:d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s-AR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s-AR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AR" b="0" i="1" smtClean="0">
                                      <a:latin typeface="Cambria Math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s-A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s-AR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s-AR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AR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s-AR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9" name="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0325" y="3163034"/>
                <a:ext cx="271196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2 Cerrar llave"/>
          <p:cNvSpPr/>
          <p:nvPr/>
        </p:nvSpPr>
        <p:spPr>
          <a:xfrm>
            <a:off x="3152080" y="2132856"/>
            <a:ext cx="195784" cy="11834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Cerrar llave"/>
          <p:cNvSpPr/>
          <p:nvPr/>
        </p:nvSpPr>
        <p:spPr>
          <a:xfrm rot="10800000">
            <a:off x="4649036" y="1772816"/>
            <a:ext cx="499027" cy="190356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755576" y="4648114"/>
            <a:ext cx="7704856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12 Cerrar llave"/>
          <p:cNvSpPr/>
          <p:nvPr/>
        </p:nvSpPr>
        <p:spPr>
          <a:xfrm rot="16200000">
            <a:off x="3163964" y="4215383"/>
            <a:ext cx="273718" cy="5917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Rectángulo"/>
              <p:cNvSpPr/>
              <p:nvPr/>
            </p:nvSpPr>
            <p:spPr>
              <a:xfrm>
                <a:off x="3047901" y="4005064"/>
                <a:ext cx="5058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s-AR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01" y="4005064"/>
                <a:ext cx="505844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Rectángulo"/>
              <p:cNvSpPr/>
              <p:nvPr/>
            </p:nvSpPr>
            <p:spPr>
              <a:xfrm>
                <a:off x="740621" y="4945645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1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21" y="4945645"/>
                <a:ext cx="365806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4 Rectángulo"/>
              <p:cNvSpPr/>
              <p:nvPr/>
            </p:nvSpPr>
            <p:spPr>
              <a:xfrm>
                <a:off x="1475656" y="4945645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1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4945645"/>
                <a:ext cx="365806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Rectángulo"/>
              <p:cNvSpPr/>
              <p:nvPr/>
            </p:nvSpPr>
            <p:spPr>
              <a:xfrm>
                <a:off x="2170630" y="4945645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1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630" y="4945645"/>
                <a:ext cx="365806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Rectángulo"/>
              <p:cNvSpPr/>
              <p:nvPr/>
            </p:nvSpPr>
            <p:spPr>
              <a:xfrm>
                <a:off x="2822048" y="4950169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1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048" y="4950169"/>
                <a:ext cx="365806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Rectángulo"/>
              <p:cNvSpPr/>
              <p:nvPr/>
            </p:nvSpPr>
            <p:spPr>
              <a:xfrm>
                <a:off x="3491880" y="4952856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1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4952856"/>
                <a:ext cx="365806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8 Rectángulo"/>
              <p:cNvSpPr/>
              <p:nvPr/>
            </p:nvSpPr>
            <p:spPr>
              <a:xfrm>
                <a:off x="4211960" y="4963730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1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4963730"/>
                <a:ext cx="365806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19 Rectángulo"/>
              <p:cNvSpPr/>
              <p:nvPr/>
            </p:nvSpPr>
            <p:spPr>
              <a:xfrm>
                <a:off x="4860032" y="4964103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1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4964103"/>
                <a:ext cx="365806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20 Rectángulo"/>
              <p:cNvSpPr/>
              <p:nvPr/>
            </p:nvSpPr>
            <p:spPr>
              <a:xfrm>
                <a:off x="5508104" y="4964103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1" name="2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4964103"/>
                <a:ext cx="365806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21 Rectángulo"/>
              <p:cNvSpPr/>
              <p:nvPr/>
            </p:nvSpPr>
            <p:spPr>
              <a:xfrm>
                <a:off x="6156176" y="4952856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2" name="2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4952856"/>
                <a:ext cx="365806" cy="369332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Rectángulo"/>
              <p:cNvSpPr/>
              <p:nvPr/>
            </p:nvSpPr>
            <p:spPr>
              <a:xfrm>
                <a:off x="6868219" y="4952856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9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3" name="2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219" y="4952856"/>
                <a:ext cx="365806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Rectángulo"/>
              <p:cNvSpPr/>
              <p:nvPr/>
            </p:nvSpPr>
            <p:spPr>
              <a:xfrm>
                <a:off x="7452320" y="4945645"/>
                <a:ext cx="4940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4" name="2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20" y="4945645"/>
                <a:ext cx="494046" cy="369332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Rectángulo"/>
              <p:cNvSpPr/>
              <p:nvPr/>
            </p:nvSpPr>
            <p:spPr>
              <a:xfrm>
                <a:off x="8244408" y="4427820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2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408" y="4427820"/>
                <a:ext cx="367985" cy="369332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25 Conector recto de flecha"/>
          <p:cNvCxnSpPr>
            <a:stCxn id="7" idx="2"/>
            <a:endCxn id="27" idx="0"/>
          </p:cNvCxnSpPr>
          <p:nvPr/>
        </p:nvCxnSpPr>
        <p:spPr>
          <a:xfrm flipH="1">
            <a:off x="1012055" y="3248942"/>
            <a:ext cx="1169748" cy="11161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26 Rectángulo"/>
              <p:cNvSpPr/>
              <p:nvPr/>
            </p:nvSpPr>
            <p:spPr>
              <a:xfrm>
                <a:off x="611560" y="4365104"/>
                <a:ext cx="8009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𝑦</m:t>
                      </m:r>
                      <m:r>
                        <a:rPr lang="es-AR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7" name="2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365104"/>
                <a:ext cx="800989" cy="369332"/>
              </a:xfrm>
              <a:prstGeom prst="rect">
                <a:avLst/>
              </a:prstGeom>
              <a:blipFill rotWithShape="1">
                <a:blip r:embed="rId2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8357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AR" dirty="0"/>
              <a:t>Introducción a la resolución numérica de ecuaciones diferenciales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755576" y="4903919"/>
            <a:ext cx="7704856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12 Cerrar llave"/>
          <p:cNvSpPr/>
          <p:nvPr/>
        </p:nvSpPr>
        <p:spPr>
          <a:xfrm rot="16200000">
            <a:off x="3163964" y="4471188"/>
            <a:ext cx="273718" cy="5917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3 Rectángulo"/>
              <p:cNvSpPr/>
              <p:nvPr/>
            </p:nvSpPr>
            <p:spPr>
              <a:xfrm>
                <a:off x="3047901" y="4260869"/>
                <a:ext cx="5058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i="1">
                          <a:latin typeface="Cambria Math"/>
                          <a:ea typeface="Cambria Math"/>
                        </a:rPr>
                        <m:t>∆</m:t>
                      </m:r>
                      <m:r>
                        <a:rPr lang="es-AR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4" name="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01" y="4260869"/>
                <a:ext cx="505844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3 Rectángulo"/>
              <p:cNvSpPr/>
              <p:nvPr/>
            </p:nvSpPr>
            <p:spPr>
              <a:xfrm>
                <a:off x="740621" y="5201450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4" name="1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621" y="5201450"/>
                <a:ext cx="36580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4 Rectángulo"/>
              <p:cNvSpPr/>
              <p:nvPr/>
            </p:nvSpPr>
            <p:spPr>
              <a:xfrm>
                <a:off x="1475656" y="5201450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5" name="1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201450"/>
                <a:ext cx="365806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5 Rectángulo"/>
              <p:cNvSpPr/>
              <p:nvPr/>
            </p:nvSpPr>
            <p:spPr>
              <a:xfrm>
                <a:off x="2170630" y="5201450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6" name="15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630" y="5201450"/>
                <a:ext cx="365806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6 Rectángulo"/>
              <p:cNvSpPr/>
              <p:nvPr/>
            </p:nvSpPr>
            <p:spPr>
              <a:xfrm>
                <a:off x="2822048" y="5205974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3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7" name="1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048" y="5205974"/>
                <a:ext cx="365806" cy="369332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 Rectángulo"/>
              <p:cNvSpPr/>
              <p:nvPr/>
            </p:nvSpPr>
            <p:spPr>
              <a:xfrm>
                <a:off x="3491880" y="5208661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8" name="17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5208661"/>
                <a:ext cx="365806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8 Rectángulo"/>
              <p:cNvSpPr/>
              <p:nvPr/>
            </p:nvSpPr>
            <p:spPr>
              <a:xfrm>
                <a:off x="4211960" y="5219535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19" name="18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5219535"/>
                <a:ext cx="365806" cy="369332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19 Rectángulo"/>
              <p:cNvSpPr/>
              <p:nvPr/>
            </p:nvSpPr>
            <p:spPr>
              <a:xfrm>
                <a:off x="4860032" y="5219908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6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0" name="19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5219908"/>
                <a:ext cx="365806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20 Rectángulo"/>
              <p:cNvSpPr/>
              <p:nvPr/>
            </p:nvSpPr>
            <p:spPr>
              <a:xfrm>
                <a:off x="5508104" y="5219908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1" name="20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5219908"/>
                <a:ext cx="365806" cy="369332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21 Rectángulo"/>
              <p:cNvSpPr/>
              <p:nvPr/>
            </p:nvSpPr>
            <p:spPr>
              <a:xfrm>
                <a:off x="6156176" y="5208661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8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2" name="21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5208661"/>
                <a:ext cx="365806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22 Rectángulo"/>
              <p:cNvSpPr/>
              <p:nvPr/>
            </p:nvSpPr>
            <p:spPr>
              <a:xfrm>
                <a:off x="6868219" y="5208661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9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3" name="2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219" y="5208661"/>
                <a:ext cx="365806" cy="369332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23 Rectángulo"/>
              <p:cNvSpPr/>
              <p:nvPr/>
            </p:nvSpPr>
            <p:spPr>
              <a:xfrm>
                <a:off x="7452320" y="5201450"/>
                <a:ext cx="4940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4" name="2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2320" y="5201450"/>
                <a:ext cx="494046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Rectángulo"/>
              <p:cNvSpPr/>
              <p:nvPr/>
            </p:nvSpPr>
            <p:spPr>
              <a:xfrm>
                <a:off x="8236463" y="4653136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5" name="2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6463" y="4653136"/>
                <a:ext cx="367985" cy="369332"/>
              </a:xfrm>
              <a:prstGeom prst="rect">
                <a:avLst/>
              </a:prstGeom>
              <a:blipFill rotWithShape="1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26 Rectángulo"/>
              <p:cNvSpPr/>
              <p:nvPr/>
            </p:nvSpPr>
            <p:spPr>
              <a:xfrm>
                <a:off x="611560" y="4620909"/>
                <a:ext cx="8009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𝑦</m:t>
                      </m:r>
                      <m:r>
                        <a:rPr lang="es-AR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7" name="26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620909"/>
                <a:ext cx="800989" cy="369332"/>
              </a:xfrm>
              <a:prstGeom prst="rect">
                <a:avLst/>
              </a:prstGeom>
              <a:blipFill rotWithShape="1">
                <a:blip r:embed="rId1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28 CuadroTexto"/>
              <p:cNvSpPr txBox="1"/>
              <p:nvPr/>
            </p:nvSpPr>
            <p:spPr>
              <a:xfrm>
                <a:off x="3664663" y="1514610"/>
                <a:ext cx="1460400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𝑑𝑦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AR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29" name="28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663" y="1514610"/>
                <a:ext cx="1460400" cy="618246"/>
              </a:xfrm>
              <a:prstGeom prst="rect">
                <a:avLst/>
              </a:prstGeom>
              <a:blipFill rotWithShape="1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29 CuadroTexto"/>
              <p:cNvSpPr txBox="1"/>
              <p:nvPr/>
            </p:nvSpPr>
            <p:spPr>
              <a:xfrm>
                <a:off x="3448487" y="3080765"/>
                <a:ext cx="1876989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𝐶𝐼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1</m:t>
                          </m:r>
                          <m:r>
                            <a:rPr lang="es-AR" i="1">
                              <a:latin typeface="Cambria Math"/>
                            </a:rPr>
                            <m:t>:   </m:t>
                          </m:r>
                          <m:r>
                            <a:rPr lang="es-AR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(</m:t>
                          </m:r>
                          <m:r>
                            <a:rPr lang="es-AR" i="1">
                              <a:latin typeface="Cambria Math"/>
                            </a:rPr>
                            <m:t>𝑥</m:t>
                          </m:r>
                          <m:r>
                            <a:rPr lang="es-AR" i="1">
                              <a:latin typeface="Cambria Math"/>
                            </a:rPr>
                            <m:t>=</m:t>
                          </m:r>
                          <m:r>
                            <a:rPr lang="es-AR" i="1">
                              <a:latin typeface="Cambria Math"/>
                            </a:rPr>
                            <m:t>𝑜</m:t>
                          </m:r>
                          <m:r>
                            <a:rPr lang="es-AR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0" name="29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8487" y="3080765"/>
                <a:ext cx="1876989" cy="396006"/>
              </a:xfrm>
              <a:prstGeom prst="rect">
                <a:avLst/>
              </a:prstGeom>
              <a:blipFill rotWithShape="1">
                <a:blip r:embed="rId1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31 CuadroTexto"/>
              <p:cNvSpPr txBox="1"/>
              <p:nvPr/>
            </p:nvSpPr>
            <p:spPr>
              <a:xfrm>
                <a:off x="3664663" y="2276872"/>
                <a:ext cx="1545103" cy="618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AR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AR" b="0" i="1" smtClean="0">
                              <a:latin typeface="Cambria Math"/>
                            </a:rPr>
                            <m:t>𝑑𝑧</m:t>
                          </m:r>
                        </m:num>
                        <m:den>
                          <m:r>
                            <a:rPr lang="es-AR" b="0" i="1" smtClean="0">
                              <a:latin typeface="Cambria Math"/>
                            </a:rPr>
                            <m:t>𝑑𝑥</m:t>
                          </m:r>
                        </m:den>
                      </m:f>
                      <m:r>
                        <a:rPr lang="es-AR" b="0" i="1" smtClean="0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𝑧</m:t>
                      </m:r>
                      <m:r>
                        <a:rPr lang="es-AR" b="0" i="1" smtClean="0">
                          <a:latin typeface="Cambria Math"/>
                        </a:rPr>
                        <m:t>.</m:t>
                      </m:r>
                      <m:r>
                        <a:rPr lang="es-AR" b="0" i="1" smtClean="0">
                          <a:latin typeface="Cambria Math"/>
                        </a:rPr>
                        <m:t>𝑥</m:t>
                      </m:r>
                      <m:r>
                        <a:rPr lang="es-AR" b="0" i="1" smtClean="0">
                          <a:latin typeface="Cambria Math"/>
                        </a:rPr>
                        <m:t>+</m:t>
                      </m:r>
                      <m:r>
                        <a:rPr lang="es-AR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2" name="31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663" y="2276872"/>
                <a:ext cx="1545103" cy="618246"/>
              </a:xfrm>
              <a:prstGeom prst="rect">
                <a:avLst/>
              </a:prstGeom>
              <a:blipFill rotWithShape="1"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32 CuadroTexto"/>
              <p:cNvSpPr txBox="1"/>
              <p:nvPr/>
            </p:nvSpPr>
            <p:spPr>
              <a:xfrm>
                <a:off x="3480300" y="3609058"/>
                <a:ext cx="1860702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AR" i="1">
                              <a:latin typeface="Cambria Math"/>
                            </a:rPr>
                            <m:t>𝐶𝐼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2</m:t>
                          </m:r>
                          <m:r>
                            <a:rPr lang="es-AR" i="1">
                              <a:latin typeface="Cambria Math"/>
                            </a:rPr>
                            <m:t>:   </m:t>
                          </m:r>
                          <m:r>
                            <a:rPr lang="es-AR" b="0" i="1" smtClean="0"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es-AR" i="1">
                              <a:latin typeface="Cambria Math"/>
                            </a:rPr>
                            <m:t>(</m:t>
                          </m:r>
                          <m:r>
                            <a:rPr lang="es-AR" i="1">
                              <a:latin typeface="Cambria Math"/>
                            </a:rPr>
                            <m:t>𝑥</m:t>
                          </m:r>
                          <m:r>
                            <a:rPr lang="es-AR" i="1">
                              <a:latin typeface="Cambria Math"/>
                            </a:rPr>
                            <m:t>=</m:t>
                          </m:r>
                          <m:r>
                            <a:rPr lang="es-AR" i="1">
                              <a:latin typeface="Cambria Math"/>
                            </a:rPr>
                            <m:t>𝑜</m:t>
                          </m:r>
                          <m:r>
                            <a:rPr lang="es-AR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3" name="32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300" y="3609058"/>
                <a:ext cx="1860702" cy="396006"/>
              </a:xfrm>
              <a:prstGeom prst="rect">
                <a:avLst/>
              </a:prstGeom>
              <a:blipFill rotWithShape="1">
                <a:blip r:embed="rId21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33 Rectángulo"/>
              <p:cNvSpPr/>
              <p:nvPr/>
            </p:nvSpPr>
            <p:spPr>
              <a:xfrm>
                <a:off x="611560" y="4365104"/>
                <a:ext cx="78335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b="0" i="1" smtClean="0">
                          <a:latin typeface="Cambria Math"/>
                        </a:rPr>
                        <m:t>𝑧</m:t>
                      </m:r>
                      <m:r>
                        <a:rPr lang="es-AR" i="1">
                          <a:latin typeface="Cambria Math"/>
                        </a:rPr>
                        <m:t>=</m:t>
                      </m:r>
                      <m:r>
                        <a:rPr lang="es-AR" b="0" i="1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s-AR" dirty="0"/>
              </a:p>
            </p:txBody>
          </p:sp>
        </mc:Choice>
        <mc:Fallback xmlns="">
          <p:sp>
            <p:nvSpPr>
              <p:cNvPr id="34" name="3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365104"/>
                <a:ext cx="783356" cy="3693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2 Marcador de contenido"/>
          <p:cNvSpPr>
            <a:spLocks noGrp="1"/>
          </p:cNvSpPr>
          <p:nvPr>
            <p:ph idx="1"/>
          </p:nvPr>
        </p:nvSpPr>
        <p:spPr>
          <a:xfrm>
            <a:off x="822960" y="5733256"/>
            <a:ext cx="7520940" cy="1131577"/>
          </a:xfrm>
        </p:spPr>
        <p:txBody>
          <a:bodyPr>
            <a:normAutofit fontScale="92500" lnSpcReduction="20000"/>
          </a:bodyPr>
          <a:lstStyle/>
          <a:p>
            <a:pPr marL="0" lvl="5" indent="0" algn="just">
              <a:buNone/>
            </a:pPr>
            <a:r>
              <a:rPr lang="es-AR" sz="2000" dirty="0" smtClean="0"/>
              <a:t>Tanto Matlab y </a:t>
            </a:r>
            <a:r>
              <a:rPr lang="es-AR" sz="2000" dirty="0" err="1" smtClean="0"/>
              <a:t>Octave</a:t>
            </a:r>
            <a:r>
              <a:rPr lang="es-AR" sz="2000" dirty="0" smtClean="0"/>
              <a:t> como </a:t>
            </a:r>
            <a:r>
              <a:rPr lang="es-AR" sz="2000" dirty="0" err="1" smtClean="0"/>
              <a:t>Scilab</a:t>
            </a:r>
            <a:r>
              <a:rPr lang="es-AR" sz="2000" dirty="0" smtClean="0"/>
              <a:t> permiten al usuario crear su propio sistemas de ecuaciones en un script aparte y luego aplicar el comando “</a:t>
            </a:r>
            <a:r>
              <a:rPr lang="es-AR" sz="2000" dirty="0" err="1" smtClean="0"/>
              <a:t>ode</a:t>
            </a:r>
            <a:r>
              <a:rPr lang="es-AR" sz="2000" dirty="0" smtClean="0"/>
              <a:t>” (</a:t>
            </a:r>
            <a:r>
              <a:rPr lang="es-AR" sz="2000" dirty="0" err="1" smtClean="0"/>
              <a:t>Scilab</a:t>
            </a:r>
            <a:r>
              <a:rPr lang="es-AR" sz="2000" dirty="0" smtClean="0"/>
              <a:t>) u “ode45” (</a:t>
            </a:r>
            <a:r>
              <a:rPr lang="es-AR" sz="2000" dirty="0" err="1" smtClean="0"/>
              <a:t>Matlay</a:t>
            </a:r>
            <a:r>
              <a:rPr lang="es-AR" sz="2000" dirty="0" smtClean="0"/>
              <a:t> y </a:t>
            </a:r>
            <a:r>
              <a:rPr lang="es-AR" sz="2000" dirty="0" err="1" smtClean="0"/>
              <a:t>Octave</a:t>
            </a:r>
            <a:r>
              <a:rPr lang="es-AR" sz="2000" dirty="0" smtClean="0"/>
              <a:t>) para obtener la solución.</a:t>
            </a:r>
            <a:endParaRPr lang="es-AR" sz="2000" dirty="0"/>
          </a:p>
        </p:txBody>
      </p:sp>
    </p:spTree>
    <p:extLst>
      <p:ext uri="{BB962C8B-B14F-4D97-AF65-F5344CB8AC3E}">
        <p14:creationId xmlns:p14="http://schemas.microsoft.com/office/powerpoint/2010/main" val="3129229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numérica de ecuaciones diferenciales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6117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Matlab / </a:t>
            </a:r>
            <a:r>
              <a:rPr lang="es-AR" dirty="0" err="1" smtClean="0"/>
              <a:t>octave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4210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365760"/>
            <a:ext cx="9144000" cy="548640"/>
          </a:xfrm>
        </p:spPr>
        <p:txBody>
          <a:bodyPr/>
          <a:lstStyle/>
          <a:p>
            <a:pPr algn="ctr"/>
            <a:r>
              <a:rPr lang="es-AR" dirty="0" smtClean="0"/>
              <a:t>Resolución numérica de ecuaciones diferenciales</a:t>
            </a: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 smtClean="0"/>
                  <a:t>El usuario debe definir la ecuación diferencial como una función</a:t>
                </a:r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s-ES" sz="1900" b="0" dirty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/>
                  <a:t>Se puede utilizar una única variable </a:t>
                </a:r>
                <a:r>
                  <a:rPr lang="es-ES" sz="1900" b="0" dirty="0" smtClean="0"/>
                  <a:t>independiente (para este ejercicio es la variable </a:t>
                </a:r>
                <a14:m>
                  <m:oMath xmlns:m="http://schemas.openxmlformats.org/officeDocument/2006/math">
                    <m:r>
                      <a:rPr lang="es-AR" sz="19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900" b="0" dirty="0" smtClean="0"/>
                  <a:t>)</a:t>
                </a:r>
                <a:endParaRPr lang="es-ES" sz="1900" b="0" dirty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s-ES" sz="1900" b="0" dirty="0" smtClean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 smtClean="0"/>
                  <a:t>Se define una variable dependiente (</a:t>
                </a:r>
                <a14:m>
                  <m:oMath xmlns:m="http://schemas.openxmlformats.org/officeDocument/2006/math">
                    <m:r>
                      <a:rPr lang="es-ES" sz="19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s-ES" sz="1900" b="0" dirty="0" smtClean="0"/>
                  <a:t>) en Matlab que representa la variable matemática </a:t>
                </a:r>
                <a14:m>
                  <m:oMath xmlns:m="http://schemas.openxmlformats.org/officeDocument/2006/math">
                    <m:r>
                      <a:rPr lang="es-ES" sz="1900" b="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s-ES" sz="1900" b="0" dirty="0" smtClean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s-ES" sz="1900" b="0" dirty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 smtClean="0"/>
                  <a:t>Se </a:t>
                </a:r>
                <a:r>
                  <a:rPr lang="es-ES" sz="1900" b="0" dirty="0"/>
                  <a:t>usa el comando “ode45”</a:t>
                </a:r>
              </a:p>
              <a:p>
                <a:pPr marL="0" indent="0" algn="just">
                  <a:lnSpc>
                    <a:spcPct val="90000"/>
                  </a:lnSpc>
                </a:pPr>
                <a:endParaRPr lang="es-ES" sz="1900" b="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7" t="-1704" r="-7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3 Grupo"/>
          <p:cNvGrpSpPr/>
          <p:nvPr/>
        </p:nvGrpSpPr>
        <p:grpSpPr>
          <a:xfrm>
            <a:off x="899592" y="5085184"/>
            <a:ext cx="1936749" cy="1047230"/>
            <a:chOff x="7092280" y="908720"/>
            <a:chExt cx="1936749" cy="10472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4 CuadroTexto"/>
                <p:cNvSpPr txBox="1"/>
                <p:nvPr/>
              </p:nvSpPr>
              <p:spPr>
                <a:xfrm>
                  <a:off x="7092280" y="908720"/>
                  <a:ext cx="1936749" cy="618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/>
                              </a:rPr>
                              <m:t>𝑑𝑦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/>
                              </a:rPr>
                              <m:t>𝑑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s-AR" b="0" i="1" smtClean="0">
                            <a:latin typeface="Cambria Math"/>
                          </a:rPr>
                          <m:t>=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−2∗</m:t>
                        </m:r>
                        <m:sSup>
                          <m:sSupPr>
                            <m:ctrlPr>
                              <a:rPr lang="es-AR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s-AR" b="0" i="1" smtClean="0">
                                <a:latin typeface="Cambria Math"/>
                              </a:rPr>
                              <m:t>𝑧</m:t>
                            </m:r>
                          </m:e>
                          <m:sup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s-AR" b="0" i="1" smtClean="0">
                            <a:latin typeface="Cambria Math"/>
                          </a:rPr>
                          <m:t>+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AR" b="0" dirty="0" smtClean="0"/>
                </a:p>
              </p:txBody>
            </p:sp>
          </mc:Choice>
          <mc:Fallback xmlns="">
            <p:sp>
              <p:nvSpPr>
                <p:cNvPr id="5" name="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280" y="908720"/>
                  <a:ext cx="1936749" cy="61824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5 CuadroTexto"/>
            <p:cNvSpPr txBox="1"/>
            <p:nvPr/>
          </p:nvSpPr>
          <p:spPr>
            <a:xfrm>
              <a:off x="7092280" y="158661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s-AR" b="0" dirty="0" smtClean="0"/>
            </a:p>
          </p:txBody>
        </p:sp>
      </p:grpSp>
      <p:sp>
        <p:nvSpPr>
          <p:cNvPr id="7" name="6 Elipse"/>
          <p:cNvSpPr/>
          <p:nvPr/>
        </p:nvSpPr>
        <p:spPr>
          <a:xfrm>
            <a:off x="2517201" y="5329321"/>
            <a:ext cx="233012" cy="1949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Elipse"/>
          <p:cNvSpPr/>
          <p:nvPr/>
        </p:nvSpPr>
        <p:spPr>
          <a:xfrm>
            <a:off x="2037969" y="5331866"/>
            <a:ext cx="233012" cy="1949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Rectángulo"/>
          <p:cNvSpPr/>
          <p:nvPr/>
        </p:nvSpPr>
        <p:spPr>
          <a:xfrm>
            <a:off x="3738681" y="4725144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2400" dirty="0"/>
              <a:t>function </a:t>
            </a:r>
            <a:r>
              <a:rPr lang="pl-PL" sz="2400" dirty="0" smtClean="0"/>
              <a:t>dzdt=</a:t>
            </a:r>
            <a:r>
              <a:rPr lang="es-AR" sz="2400" dirty="0" smtClean="0"/>
              <a:t>diferencial1</a:t>
            </a:r>
            <a:r>
              <a:rPr lang="pl-PL" sz="2400" dirty="0" smtClean="0"/>
              <a:t>(t,z</a:t>
            </a:r>
            <a:r>
              <a:rPr lang="pl-PL" sz="2400" dirty="0"/>
              <a:t>)</a:t>
            </a:r>
          </a:p>
          <a:p>
            <a:endParaRPr lang="es-AR" sz="2400" dirty="0" smtClean="0"/>
          </a:p>
          <a:p>
            <a:r>
              <a:rPr lang="pl-PL" sz="2400" dirty="0" smtClean="0"/>
              <a:t>  </a:t>
            </a:r>
            <a:r>
              <a:rPr lang="pl-PL" sz="2400" dirty="0"/>
              <a:t>dzdt = </a:t>
            </a:r>
            <a:r>
              <a:rPr lang="es-AR" sz="2400" dirty="0" smtClean="0"/>
              <a:t>-2*</a:t>
            </a:r>
            <a:r>
              <a:rPr lang="pl-PL" sz="2400" dirty="0" smtClean="0"/>
              <a:t>z(2)</a:t>
            </a:r>
            <a:r>
              <a:rPr lang="es-AR" sz="2400" dirty="0" smtClean="0"/>
              <a:t>^2</a:t>
            </a:r>
            <a:r>
              <a:rPr lang="pl-PL" sz="2400" dirty="0" smtClean="0"/>
              <a:t>+t</a:t>
            </a:r>
            <a:endParaRPr lang="pl-PL" sz="2400" dirty="0"/>
          </a:p>
          <a:p>
            <a:endParaRPr lang="es-AR" sz="2400" dirty="0" smtClean="0"/>
          </a:p>
          <a:p>
            <a:r>
              <a:rPr lang="pl-PL" sz="2400" dirty="0" smtClean="0"/>
              <a:t>end</a:t>
            </a:r>
            <a:endParaRPr lang="pl-PL" sz="2400" dirty="0"/>
          </a:p>
        </p:txBody>
      </p:sp>
      <p:sp>
        <p:nvSpPr>
          <p:cNvPr id="13" name="12 Elipse"/>
          <p:cNvSpPr/>
          <p:nvPr/>
        </p:nvSpPr>
        <p:spPr>
          <a:xfrm>
            <a:off x="6247738" y="5523301"/>
            <a:ext cx="233012" cy="3426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71" name="70 Grupo"/>
          <p:cNvGrpSpPr/>
          <p:nvPr/>
        </p:nvGrpSpPr>
        <p:grpSpPr>
          <a:xfrm>
            <a:off x="2633707" y="5104340"/>
            <a:ext cx="3730537" cy="418961"/>
            <a:chOff x="2657026" y="4616255"/>
            <a:chExt cx="3880235" cy="125675"/>
          </a:xfrm>
        </p:grpSpPr>
        <p:cxnSp>
          <p:nvCxnSpPr>
            <p:cNvPr id="18" name="17 Conector recto"/>
            <p:cNvCxnSpPr>
              <a:stCxn id="7" idx="0"/>
            </p:cNvCxnSpPr>
            <p:nvPr/>
          </p:nvCxnSpPr>
          <p:spPr>
            <a:xfrm flipV="1">
              <a:off x="2657026" y="4616255"/>
              <a:ext cx="0" cy="67487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angular"/>
            <p:cNvCxnSpPr>
              <a:endCxn id="13" idx="0"/>
            </p:cNvCxnSpPr>
            <p:nvPr/>
          </p:nvCxnSpPr>
          <p:spPr>
            <a:xfrm>
              <a:off x="2657026" y="4616255"/>
              <a:ext cx="3880235" cy="125675"/>
            </a:xfrm>
            <a:prstGeom prst="bent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69 Grupo"/>
          <p:cNvGrpSpPr/>
          <p:nvPr/>
        </p:nvGrpSpPr>
        <p:grpSpPr>
          <a:xfrm>
            <a:off x="2154475" y="4560954"/>
            <a:ext cx="3497971" cy="948871"/>
            <a:chOff x="2381227" y="4296391"/>
            <a:chExt cx="5115681" cy="239280"/>
          </a:xfrm>
        </p:grpSpPr>
        <p:cxnSp>
          <p:nvCxnSpPr>
            <p:cNvPr id="52" name="51 Conector recto"/>
            <p:cNvCxnSpPr>
              <a:stCxn id="8" idx="0"/>
            </p:cNvCxnSpPr>
            <p:nvPr/>
          </p:nvCxnSpPr>
          <p:spPr>
            <a:xfrm flipV="1">
              <a:off x="2381227" y="4296391"/>
              <a:ext cx="0" cy="19440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52 Conector angular"/>
            <p:cNvCxnSpPr>
              <a:endCxn id="75" idx="0"/>
            </p:cNvCxnSpPr>
            <p:nvPr/>
          </p:nvCxnSpPr>
          <p:spPr>
            <a:xfrm>
              <a:off x="4547762" y="4471655"/>
              <a:ext cx="2949146" cy="64016"/>
            </a:xfrm>
            <a:prstGeom prst="bentConnector2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72 Rectángulo"/>
          <p:cNvSpPr/>
          <p:nvPr/>
        </p:nvSpPr>
        <p:spPr>
          <a:xfrm>
            <a:off x="1522619" y="5237584"/>
            <a:ext cx="1313722" cy="351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5" name="74 Rectángulo"/>
          <p:cNvSpPr/>
          <p:nvPr/>
        </p:nvSpPr>
        <p:spPr>
          <a:xfrm>
            <a:off x="4824141" y="5509820"/>
            <a:ext cx="1656609" cy="344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7 Elipse"/>
          <p:cNvSpPr/>
          <p:nvPr/>
        </p:nvSpPr>
        <p:spPr>
          <a:xfrm>
            <a:off x="5219465" y="5527071"/>
            <a:ext cx="665723" cy="3332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72 Rectángulo"/>
          <p:cNvSpPr/>
          <p:nvPr/>
        </p:nvSpPr>
        <p:spPr>
          <a:xfrm>
            <a:off x="3973193" y="5514732"/>
            <a:ext cx="616436" cy="339989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72 Rectángulo"/>
          <p:cNvSpPr/>
          <p:nvPr/>
        </p:nvSpPr>
        <p:spPr>
          <a:xfrm>
            <a:off x="960980" y="5104343"/>
            <a:ext cx="362167" cy="599088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8" name="51 Conector recto"/>
          <p:cNvCxnSpPr/>
          <p:nvPr/>
        </p:nvCxnSpPr>
        <p:spPr>
          <a:xfrm flipH="1">
            <a:off x="2154475" y="4560949"/>
            <a:ext cx="148142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51 Conector recto"/>
          <p:cNvCxnSpPr/>
          <p:nvPr/>
        </p:nvCxnSpPr>
        <p:spPr>
          <a:xfrm>
            <a:off x="3635896" y="4560949"/>
            <a:ext cx="0" cy="6893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69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 animBg="1"/>
      <p:bldP spid="73" grpId="0" animBg="1"/>
      <p:bldP spid="73" grpId="1" animBg="1"/>
      <p:bldP spid="73" grpId="2" animBg="1"/>
      <p:bldP spid="75" grpId="0" animBg="1"/>
      <p:bldP spid="75" grpId="1" animBg="1"/>
      <p:bldP spid="75" grpId="2" animBg="1"/>
      <p:bldP spid="31" grpId="0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34533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Llamado del </a:t>
            </a:r>
            <a:r>
              <a:rPr lang="es-AR" sz="1900" b="0" dirty="0" smtClean="0"/>
              <a:t>comando </a:t>
            </a:r>
            <a:r>
              <a:rPr lang="es-AR" sz="1900" b="0" dirty="0"/>
              <a:t>“ode45”</a:t>
            </a:r>
            <a:r>
              <a:rPr lang="es-AR" sz="1900" b="0" dirty="0" smtClean="0"/>
              <a:t> </a:t>
            </a:r>
            <a:r>
              <a:rPr lang="es-AR" sz="1900" b="0" dirty="0"/>
              <a:t>y definición de condiciones iniciales y de contorno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s-AR" sz="1900" b="0" dirty="0"/>
          </a:p>
        </p:txBody>
      </p:sp>
      <p:sp>
        <p:nvSpPr>
          <p:cNvPr id="5" name="4 Abrir llave"/>
          <p:cNvSpPr/>
          <p:nvPr/>
        </p:nvSpPr>
        <p:spPr>
          <a:xfrm rot="16200000">
            <a:off x="7598393" y="2802724"/>
            <a:ext cx="289774" cy="24617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Abrir llave"/>
          <p:cNvSpPr/>
          <p:nvPr/>
        </p:nvSpPr>
        <p:spPr>
          <a:xfrm rot="16200000">
            <a:off x="6530729" y="2209924"/>
            <a:ext cx="332030" cy="144016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angular"/>
          <p:cNvCxnSpPr>
            <a:stCxn id="9" idx="1"/>
            <a:endCxn id="45" idx="1"/>
          </p:cNvCxnSpPr>
          <p:nvPr/>
        </p:nvCxnSpPr>
        <p:spPr>
          <a:xfrm rot="16200000" flipH="1">
            <a:off x="6166350" y="3626412"/>
            <a:ext cx="1642193" cy="58140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Abrir llave"/>
          <p:cNvSpPr/>
          <p:nvPr/>
        </p:nvSpPr>
        <p:spPr>
          <a:xfrm rot="16200000">
            <a:off x="4441990" y="1758812"/>
            <a:ext cx="332030" cy="2376262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6" name="25 Conector angular"/>
          <p:cNvCxnSpPr>
            <a:stCxn id="14" idx="1"/>
            <a:endCxn id="46" idx="1"/>
          </p:cNvCxnSpPr>
          <p:nvPr/>
        </p:nvCxnSpPr>
        <p:spPr>
          <a:xfrm rot="16200000" flipH="1">
            <a:off x="4032170" y="3688792"/>
            <a:ext cx="2663836" cy="151216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CuadroTexto"/>
          <p:cNvSpPr txBox="1"/>
          <p:nvPr/>
        </p:nvSpPr>
        <p:spPr>
          <a:xfrm>
            <a:off x="6912768" y="3142709"/>
            <a:ext cx="1763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Condición inicial de las variables dependientes</a:t>
            </a:r>
            <a:endParaRPr lang="es-AR" dirty="0"/>
          </a:p>
        </p:txBody>
      </p:sp>
      <p:sp>
        <p:nvSpPr>
          <p:cNvPr id="45" name="44 CuadroTexto"/>
          <p:cNvSpPr txBox="1"/>
          <p:nvPr/>
        </p:nvSpPr>
        <p:spPr>
          <a:xfrm>
            <a:off x="7278149" y="4415046"/>
            <a:ext cx="226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Valores de la variable independiente</a:t>
            </a:r>
            <a:endParaRPr lang="es-AR" dirty="0"/>
          </a:p>
        </p:txBody>
      </p:sp>
      <p:sp>
        <p:nvSpPr>
          <p:cNvPr id="46" name="45 CuadroTexto"/>
          <p:cNvSpPr txBox="1"/>
          <p:nvPr/>
        </p:nvSpPr>
        <p:spPr>
          <a:xfrm>
            <a:off x="6120172" y="5453628"/>
            <a:ext cx="280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Nombre del sistema de ecuaciones</a:t>
            </a:r>
            <a:endParaRPr lang="es-AR" dirty="0"/>
          </a:p>
        </p:txBody>
      </p:sp>
      <p:sp>
        <p:nvSpPr>
          <p:cNvPr id="48" name="47 Abrir llave"/>
          <p:cNvSpPr/>
          <p:nvPr/>
        </p:nvSpPr>
        <p:spPr>
          <a:xfrm rot="16200000">
            <a:off x="1165625" y="2586903"/>
            <a:ext cx="332031" cy="72007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0" name="49 Conector recto de flecha"/>
          <p:cNvCxnSpPr>
            <a:stCxn id="48" idx="1"/>
          </p:cNvCxnSpPr>
          <p:nvPr/>
        </p:nvCxnSpPr>
        <p:spPr>
          <a:xfrm>
            <a:off x="1331641" y="3112958"/>
            <a:ext cx="18002" cy="7434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CuadroTexto"/>
          <p:cNvSpPr txBox="1"/>
          <p:nvPr/>
        </p:nvSpPr>
        <p:spPr>
          <a:xfrm>
            <a:off x="-36512" y="3861048"/>
            <a:ext cx="4465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t: Valores de la variable independiente</a:t>
            </a:r>
          </a:p>
          <a:p>
            <a:pPr algn="ctr"/>
            <a:endParaRPr lang="es-AR" dirty="0" smtClean="0"/>
          </a:p>
          <a:p>
            <a:pPr algn="ctr"/>
            <a:r>
              <a:rPr lang="es-AR" dirty="0" smtClean="0"/>
              <a:t>y: Valores de las variables independientes</a:t>
            </a:r>
            <a:endParaRPr lang="es-AR" dirty="0"/>
          </a:p>
        </p:txBody>
      </p:sp>
      <p:sp>
        <p:nvSpPr>
          <p:cNvPr id="7" name="6 Rectángulo"/>
          <p:cNvSpPr/>
          <p:nvPr/>
        </p:nvSpPr>
        <p:spPr>
          <a:xfrm>
            <a:off x="902297" y="2232506"/>
            <a:ext cx="72154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/>
              <a:t>[t,y] = ode45</a:t>
            </a:r>
            <a:r>
              <a:rPr lang="fr-FR" sz="3200" dirty="0" smtClean="0"/>
              <a:t>(@diferencial1,(</a:t>
            </a:r>
            <a:r>
              <a:rPr lang="fr-FR" sz="3200" dirty="0"/>
              <a:t>0:0.1:2</a:t>
            </a:r>
            <a:r>
              <a:rPr lang="fr-FR" sz="3200" dirty="0" smtClean="0"/>
              <a:t>),1)</a:t>
            </a:r>
            <a:endParaRPr lang="es-AR" sz="1600" dirty="0"/>
          </a:p>
        </p:txBody>
      </p:sp>
      <p:sp>
        <p:nvSpPr>
          <p:cNvPr id="22" name="1 Título"/>
          <p:cNvSpPr>
            <a:spLocks noGrp="1"/>
          </p:cNvSpPr>
          <p:nvPr>
            <p:ph type="title"/>
          </p:nvPr>
        </p:nvSpPr>
        <p:spPr>
          <a:xfrm>
            <a:off x="0" y="365760"/>
            <a:ext cx="9144000" cy="548640"/>
          </a:xfrm>
        </p:spPr>
        <p:txBody>
          <a:bodyPr/>
          <a:lstStyle/>
          <a:p>
            <a:pPr algn="ctr"/>
            <a:r>
              <a:rPr lang="es-AR" dirty="0" smtClean="0"/>
              <a:t>Resolución numérica de ecuaciones diferenciales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4779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  <p:bldP spid="41" grpId="0"/>
      <p:bldP spid="45" grpId="0"/>
      <p:bldP spid="46" grpId="0"/>
      <p:bldP spid="48" grpId="0" animBg="1"/>
      <p:bldP spid="5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 smtClean="0"/>
                  <a:t>El usuario debe definir el sistema de ecuaciones como una función</a:t>
                </a:r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s-ES" sz="1900" b="0" dirty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/>
                  <a:t>Se puede utilizar una única variable </a:t>
                </a:r>
                <a:r>
                  <a:rPr lang="es-ES" sz="1900" b="0" dirty="0" smtClean="0"/>
                  <a:t>independiente (para este ejercicio es la variable </a:t>
                </a:r>
                <a14:m>
                  <m:oMath xmlns:m="http://schemas.openxmlformats.org/officeDocument/2006/math">
                    <m:r>
                      <a:rPr lang="es-AR" sz="19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ES" sz="1900" b="0" dirty="0" smtClean="0"/>
                  <a:t>)</a:t>
                </a:r>
                <a:endParaRPr lang="es-ES" sz="1900" b="0" dirty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s-ES" sz="1900" b="0" dirty="0" smtClean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 smtClean="0"/>
                  <a:t>Se define una variable dependiente (</a:t>
                </a:r>
                <a14:m>
                  <m:oMath xmlns:m="http://schemas.openxmlformats.org/officeDocument/2006/math">
                    <m:r>
                      <a:rPr lang="es-ES" sz="19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sz="1900" b="0" i="1" dirty="0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s-ES" sz="19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sz="1900" b="0" i="1" dirty="0" smtClean="0">
                        <a:latin typeface="Cambria Math" panose="02040503050406030204" pitchFamily="18" charset="0"/>
                      </a:rPr>
                      <m:t>(1) </m:t>
                    </m:r>
                    <m:r>
                      <a:rPr lang="es-ES" sz="19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sz="1900" b="0" i="1" dirty="0" smtClean="0">
                        <a:latin typeface="Cambria Math" panose="02040503050406030204" pitchFamily="18" charset="0"/>
                      </a:rPr>
                      <m:t>(2)]</m:t>
                    </m:r>
                  </m:oMath>
                </a14:m>
                <a:r>
                  <a:rPr lang="es-ES" sz="1900" b="0" dirty="0" smtClean="0"/>
                  <a:t>) en Matlab que representa las variables matemáticas </a:t>
                </a:r>
                <a14:m>
                  <m:oMath xmlns:m="http://schemas.openxmlformats.org/officeDocument/2006/math">
                    <m:r>
                      <a:rPr lang="es-AR" sz="19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" sz="1900" b="0" dirty="0" smtClean="0"/>
                  <a:t> y </a:t>
                </a:r>
                <a14:m>
                  <m:oMath xmlns:m="http://schemas.openxmlformats.org/officeDocument/2006/math">
                    <m:r>
                      <a:rPr lang="es-ES" sz="1900" b="0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s-ES" sz="1900" b="0" dirty="0" smtClean="0"/>
                  <a:t>, respectivamente</a:t>
                </a:r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s-ES" sz="1900" b="0" dirty="0"/>
              </a:p>
              <a:p>
                <a:pPr algn="just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r>
                  <a:rPr lang="es-ES" sz="1900" b="0" dirty="0" smtClean="0"/>
                  <a:t>Se </a:t>
                </a:r>
                <a:r>
                  <a:rPr lang="es-ES" sz="1900" b="0" dirty="0"/>
                  <a:t>usa el comando “ode45”</a:t>
                </a:r>
              </a:p>
              <a:p>
                <a:pPr marL="0" indent="0" algn="just">
                  <a:lnSpc>
                    <a:spcPct val="90000"/>
                  </a:lnSpc>
                </a:pPr>
                <a:endParaRPr lang="es-ES" sz="1900" b="0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7" t="-1704" r="-72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3 Grupo"/>
          <p:cNvGrpSpPr/>
          <p:nvPr/>
        </p:nvGrpSpPr>
        <p:grpSpPr>
          <a:xfrm>
            <a:off x="899592" y="5085184"/>
            <a:ext cx="1305935" cy="1296144"/>
            <a:chOff x="7092280" y="908720"/>
            <a:chExt cx="1305935" cy="1296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4 CuadroTexto"/>
                <p:cNvSpPr txBox="1"/>
                <p:nvPr/>
              </p:nvSpPr>
              <p:spPr>
                <a:xfrm>
                  <a:off x="7092280" y="908720"/>
                  <a:ext cx="1305935" cy="618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/>
                              </a:rPr>
                              <m:t>𝑑𝑦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/>
                              </a:rPr>
                              <m:t>𝑑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s-AR" b="0" i="1" smtClean="0">
                            <a:latin typeface="Cambria Math"/>
                          </a:rPr>
                          <m:t>=</m:t>
                        </m:r>
                        <m:r>
                          <a:rPr lang="es-AR" b="0" i="1" smtClean="0">
                            <a:latin typeface="Cambria Math"/>
                          </a:rPr>
                          <m:t>𝑧</m:t>
                        </m:r>
                        <m:r>
                          <a:rPr lang="es-AR" b="0" i="1" smtClean="0">
                            <a:latin typeface="Cambria Math"/>
                          </a:rPr>
                          <m:t>+</m:t>
                        </m:r>
                        <m:r>
                          <a:rPr lang="es-A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s-AR" b="0" dirty="0" smtClean="0"/>
                </a:p>
              </p:txBody>
            </p:sp>
          </mc:Choice>
          <mc:Fallback xmlns="">
            <p:sp>
              <p:nvSpPr>
                <p:cNvPr id="5" name="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280" y="908720"/>
                  <a:ext cx="1305935" cy="61824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5 CuadroTexto"/>
                <p:cNvSpPr txBox="1"/>
                <p:nvPr/>
              </p:nvSpPr>
              <p:spPr>
                <a:xfrm>
                  <a:off x="7092280" y="1586618"/>
                  <a:ext cx="1109342" cy="618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/>
                              </a:rPr>
                              <m:t>𝑑𝑧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/>
                              </a:rPr>
                              <m:t>𝑑</m:t>
                            </m:r>
                            <m:r>
                              <a:rPr lang="es-A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s-AR" b="0" i="1" smtClean="0">
                            <a:latin typeface="Cambria Math"/>
                          </a:rPr>
                          <m:t>=−</m:t>
                        </m:r>
                        <m:r>
                          <a:rPr lang="es-AR" b="0" i="1" smtClean="0">
                            <a:latin typeface="Cambria Math"/>
                          </a:rPr>
                          <m:t>𝑦</m:t>
                        </m:r>
                      </m:oMath>
                    </m:oMathPara>
                  </a14:m>
                  <a:endParaRPr lang="es-AR" b="0" dirty="0" smtClean="0"/>
                </a:p>
              </p:txBody>
            </p:sp>
          </mc:Choice>
          <mc:Fallback xmlns="">
            <p:sp>
              <p:nvSpPr>
                <p:cNvPr id="6" name="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280" y="1586618"/>
                  <a:ext cx="1109342" cy="61824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" name="6 Elipse"/>
          <p:cNvSpPr/>
          <p:nvPr/>
        </p:nvSpPr>
        <p:spPr>
          <a:xfrm>
            <a:off x="1920226" y="5322299"/>
            <a:ext cx="233012" cy="1949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Elipse"/>
          <p:cNvSpPr/>
          <p:nvPr/>
        </p:nvSpPr>
        <p:spPr>
          <a:xfrm>
            <a:off x="1530676" y="5343390"/>
            <a:ext cx="233012" cy="1949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Elipse"/>
          <p:cNvSpPr/>
          <p:nvPr/>
        </p:nvSpPr>
        <p:spPr>
          <a:xfrm>
            <a:off x="1704202" y="6021288"/>
            <a:ext cx="233012" cy="266941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Rectángulo"/>
          <p:cNvSpPr/>
          <p:nvPr/>
        </p:nvSpPr>
        <p:spPr>
          <a:xfrm>
            <a:off x="3738681" y="4725144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l-PL" sz="2400" dirty="0"/>
              <a:t>function </a:t>
            </a:r>
            <a:r>
              <a:rPr lang="pl-PL" sz="2400" dirty="0" smtClean="0"/>
              <a:t>dzdt=</a:t>
            </a:r>
            <a:r>
              <a:rPr lang="es-AR" sz="2400" dirty="0" smtClean="0"/>
              <a:t>diferencial2</a:t>
            </a:r>
            <a:r>
              <a:rPr lang="pl-PL" sz="2400" dirty="0" smtClean="0"/>
              <a:t>(t,z</a:t>
            </a:r>
            <a:r>
              <a:rPr lang="pl-PL" sz="2400" dirty="0"/>
              <a:t>)</a:t>
            </a:r>
          </a:p>
          <a:p>
            <a:endParaRPr lang="es-AR" sz="2400" dirty="0" smtClean="0"/>
          </a:p>
          <a:p>
            <a:r>
              <a:rPr lang="pl-PL" sz="2400" dirty="0" smtClean="0"/>
              <a:t>  </a:t>
            </a:r>
            <a:r>
              <a:rPr lang="pl-PL" sz="2400" dirty="0"/>
              <a:t>dzdt = [z(2)+t; -z(1)]</a:t>
            </a:r>
          </a:p>
          <a:p>
            <a:endParaRPr lang="es-AR" sz="2400" dirty="0" smtClean="0"/>
          </a:p>
          <a:p>
            <a:r>
              <a:rPr lang="pl-PL" sz="2400" dirty="0" smtClean="0"/>
              <a:t>end</a:t>
            </a:r>
            <a:endParaRPr lang="pl-PL" sz="2400" dirty="0"/>
          </a:p>
        </p:txBody>
      </p:sp>
      <p:sp>
        <p:nvSpPr>
          <p:cNvPr id="13" name="12 Elipse"/>
          <p:cNvSpPr/>
          <p:nvPr/>
        </p:nvSpPr>
        <p:spPr>
          <a:xfrm>
            <a:off x="5667053" y="5507598"/>
            <a:ext cx="233012" cy="3426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71" name="70 Grupo"/>
          <p:cNvGrpSpPr/>
          <p:nvPr/>
        </p:nvGrpSpPr>
        <p:grpSpPr>
          <a:xfrm>
            <a:off x="2008934" y="5104340"/>
            <a:ext cx="3774625" cy="403256"/>
            <a:chOff x="2007182" y="4616255"/>
            <a:chExt cx="4538354" cy="120964"/>
          </a:xfrm>
        </p:grpSpPr>
        <p:cxnSp>
          <p:nvCxnSpPr>
            <p:cNvPr id="18" name="17 Conector recto"/>
            <p:cNvCxnSpPr/>
            <p:nvPr/>
          </p:nvCxnSpPr>
          <p:spPr>
            <a:xfrm flipH="1" flipV="1">
              <a:off x="2040604" y="4620200"/>
              <a:ext cx="4131" cy="5720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angular"/>
            <p:cNvCxnSpPr>
              <a:endCxn id="13" idx="0"/>
            </p:cNvCxnSpPr>
            <p:nvPr/>
          </p:nvCxnSpPr>
          <p:spPr>
            <a:xfrm>
              <a:off x="2007182" y="4616255"/>
              <a:ext cx="4538354" cy="120964"/>
            </a:xfrm>
            <a:prstGeom prst="bentConnector2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69 Grupo"/>
          <p:cNvGrpSpPr/>
          <p:nvPr/>
        </p:nvGrpSpPr>
        <p:grpSpPr>
          <a:xfrm>
            <a:off x="1646205" y="4560949"/>
            <a:ext cx="3599344" cy="958269"/>
            <a:chOff x="1637897" y="4296391"/>
            <a:chExt cx="5263936" cy="241650"/>
          </a:xfrm>
        </p:grpSpPr>
        <p:cxnSp>
          <p:nvCxnSpPr>
            <p:cNvPr id="52" name="51 Conector recto"/>
            <p:cNvCxnSpPr/>
            <p:nvPr/>
          </p:nvCxnSpPr>
          <p:spPr>
            <a:xfrm flipV="1">
              <a:off x="1637897" y="4296391"/>
              <a:ext cx="1" cy="193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52 Conector angular"/>
            <p:cNvCxnSpPr>
              <a:endCxn id="31" idx="0"/>
            </p:cNvCxnSpPr>
            <p:nvPr/>
          </p:nvCxnSpPr>
          <p:spPr>
            <a:xfrm>
              <a:off x="4547762" y="4471655"/>
              <a:ext cx="2354071" cy="66386"/>
            </a:xfrm>
            <a:prstGeom prst="bentConnector2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61 Conector angular"/>
          <p:cNvCxnSpPr>
            <a:stCxn id="9" idx="6"/>
            <a:endCxn id="29" idx="4"/>
          </p:cNvCxnSpPr>
          <p:nvPr/>
        </p:nvCxnSpPr>
        <p:spPr>
          <a:xfrm flipV="1">
            <a:off x="1937214" y="5852496"/>
            <a:ext cx="4330989" cy="302260"/>
          </a:xfrm>
          <a:prstGeom prst="bentConnector2">
            <a:avLst/>
          </a:prstGeom>
          <a:ln w="381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72 Rectángulo"/>
          <p:cNvSpPr/>
          <p:nvPr/>
        </p:nvSpPr>
        <p:spPr>
          <a:xfrm>
            <a:off x="1522619" y="5237584"/>
            <a:ext cx="705093" cy="3516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4" name="73 Rectángulo"/>
          <p:cNvSpPr/>
          <p:nvPr/>
        </p:nvSpPr>
        <p:spPr>
          <a:xfrm>
            <a:off x="1547665" y="5957663"/>
            <a:ext cx="489068" cy="3516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5" name="74 Rectángulo"/>
          <p:cNvSpPr/>
          <p:nvPr/>
        </p:nvSpPr>
        <p:spPr>
          <a:xfrm>
            <a:off x="4992102" y="5509820"/>
            <a:ext cx="804034" cy="3449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6" name="75 Rectángulo"/>
          <p:cNvSpPr/>
          <p:nvPr/>
        </p:nvSpPr>
        <p:spPr>
          <a:xfrm>
            <a:off x="5900065" y="5512494"/>
            <a:ext cx="736275" cy="3422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8 Elipse"/>
          <p:cNvSpPr/>
          <p:nvPr/>
        </p:nvSpPr>
        <p:spPr>
          <a:xfrm>
            <a:off x="5900065" y="5509820"/>
            <a:ext cx="736275" cy="342679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7 Elipse"/>
          <p:cNvSpPr/>
          <p:nvPr/>
        </p:nvSpPr>
        <p:spPr>
          <a:xfrm>
            <a:off x="4912687" y="5519220"/>
            <a:ext cx="665723" cy="3332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72 Rectángulo"/>
          <p:cNvSpPr/>
          <p:nvPr/>
        </p:nvSpPr>
        <p:spPr>
          <a:xfrm>
            <a:off x="3973193" y="5514732"/>
            <a:ext cx="616436" cy="339989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2" name="72 Rectángulo"/>
          <p:cNvSpPr/>
          <p:nvPr/>
        </p:nvSpPr>
        <p:spPr>
          <a:xfrm>
            <a:off x="960980" y="5104342"/>
            <a:ext cx="378717" cy="1276985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8" name="51 Conector recto"/>
          <p:cNvCxnSpPr/>
          <p:nvPr/>
        </p:nvCxnSpPr>
        <p:spPr>
          <a:xfrm flipH="1">
            <a:off x="1646205" y="4560949"/>
            <a:ext cx="198969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51 Conector recto"/>
          <p:cNvCxnSpPr/>
          <p:nvPr/>
        </p:nvCxnSpPr>
        <p:spPr>
          <a:xfrm>
            <a:off x="3635896" y="4560949"/>
            <a:ext cx="0" cy="68934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1 Título"/>
          <p:cNvSpPr>
            <a:spLocks noGrp="1"/>
          </p:cNvSpPr>
          <p:nvPr>
            <p:ph type="title"/>
          </p:nvPr>
        </p:nvSpPr>
        <p:spPr>
          <a:xfrm>
            <a:off x="0" y="365760"/>
            <a:ext cx="9144000" cy="548640"/>
          </a:xfrm>
        </p:spPr>
        <p:txBody>
          <a:bodyPr/>
          <a:lstStyle/>
          <a:p>
            <a:pPr algn="ctr"/>
            <a:r>
              <a:rPr lang="es-AR" dirty="0" smtClean="0"/>
              <a:t>Resolución numérica de ecuaciones diferenciales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1992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 animBg="1"/>
      <p:bldP spid="73" grpId="0" animBg="1"/>
      <p:bldP spid="73" grpId="1" animBg="1"/>
      <p:bldP spid="73" grpId="2" animBg="1"/>
      <p:bldP spid="74" grpId="0" animBg="1"/>
      <p:bldP spid="74" grpId="1" animBg="1"/>
      <p:bldP spid="74" grpId="2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29" grpId="0" animBg="1"/>
      <p:bldP spid="31" grpId="0" animBg="1"/>
      <p:bldP spid="41" grpId="0" animBg="1"/>
      <p:bldP spid="41" grpId="1" animBg="1"/>
      <p:bldP spid="41" grpId="2" animBg="1"/>
      <p:bldP spid="42" grpId="0" animBg="1"/>
      <p:bldP spid="42" grpId="1" animBg="1"/>
      <p:bldP spid="42" grpId="2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34533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Llamado del </a:t>
            </a:r>
            <a:r>
              <a:rPr lang="es-AR" sz="1900" b="0" dirty="0" smtClean="0"/>
              <a:t>comando “ode45” </a:t>
            </a:r>
            <a:r>
              <a:rPr lang="es-AR" sz="1900" b="0" dirty="0"/>
              <a:t>y definición de condiciones iniciales y de contorno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s-AR" sz="1900" b="0" dirty="0"/>
          </a:p>
        </p:txBody>
      </p:sp>
      <p:sp>
        <p:nvSpPr>
          <p:cNvPr id="5" name="4 Abrir llave"/>
          <p:cNvSpPr/>
          <p:nvPr/>
        </p:nvSpPr>
        <p:spPr>
          <a:xfrm rot="16200000">
            <a:off x="7837160" y="2563958"/>
            <a:ext cx="289774" cy="723711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Abrir llave"/>
          <p:cNvSpPr/>
          <p:nvPr/>
        </p:nvSpPr>
        <p:spPr>
          <a:xfrm rot="16200000">
            <a:off x="6530729" y="2209924"/>
            <a:ext cx="332030" cy="144016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angular"/>
          <p:cNvCxnSpPr>
            <a:stCxn id="9" idx="1"/>
            <a:endCxn id="45" idx="1"/>
          </p:cNvCxnSpPr>
          <p:nvPr/>
        </p:nvCxnSpPr>
        <p:spPr>
          <a:xfrm rot="16200000" flipH="1">
            <a:off x="6166350" y="3626412"/>
            <a:ext cx="1642193" cy="58140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Abrir llave"/>
          <p:cNvSpPr/>
          <p:nvPr/>
        </p:nvSpPr>
        <p:spPr>
          <a:xfrm rot="16200000">
            <a:off x="4441990" y="1758812"/>
            <a:ext cx="332030" cy="2376262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6" name="25 Conector angular"/>
          <p:cNvCxnSpPr>
            <a:stCxn id="14" idx="1"/>
            <a:endCxn id="46" idx="1"/>
          </p:cNvCxnSpPr>
          <p:nvPr/>
        </p:nvCxnSpPr>
        <p:spPr>
          <a:xfrm rot="16200000" flipH="1">
            <a:off x="4032170" y="3688792"/>
            <a:ext cx="2663836" cy="151216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CuadroTexto"/>
          <p:cNvSpPr txBox="1"/>
          <p:nvPr/>
        </p:nvSpPr>
        <p:spPr>
          <a:xfrm>
            <a:off x="7128792" y="3142709"/>
            <a:ext cx="1763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Condición inicial de las variables dependientes</a:t>
            </a:r>
            <a:endParaRPr lang="es-AR" dirty="0"/>
          </a:p>
        </p:txBody>
      </p:sp>
      <p:sp>
        <p:nvSpPr>
          <p:cNvPr id="45" name="44 CuadroTexto"/>
          <p:cNvSpPr txBox="1"/>
          <p:nvPr/>
        </p:nvSpPr>
        <p:spPr>
          <a:xfrm>
            <a:off x="7278149" y="4415046"/>
            <a:ext cx="226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Valores de la variable independiente</a:t>
            </a:r>
            <a:endParaRPr lang="es-AR" dirty="0"/>
          </a:p>
        </p:txBody>
      </p:sp>
      <p:sp>
        <p:nvSpPr>
          <p:cNvPr id="46" name="45 CuadroTexto"/>
          <p:cNvSpPr txBox="1"/>
          <p:nvPr/>
        </p:nvSpPr>
        <p:spPr>
          <a:xfrm>
            <a:off x="6120172" y="5453628"/>
            <a:ext cx="280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Nombre del sistema de ecuaciones</a:t>
            </a:r>
            <a:endParaRPr lang="es-AR" dirty="0"/>
          </a:p>
        </p:txBody>
      </p:sp>
      <p:sp>
        <p:nvSpPr>
          <p:cNvPr id="48" name="47 Abrir llave"/>
          <p:cNvSpPr/>
          <p:nvPr/>
        </p:nvSpPr>
        <p:spPr>
          <a:xfrm rot="16200000">
            <a:off x="1165625" y="2586903"/>
            <a:ext cx="332031" cy="72007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0" name="49 Conector recto de flecha"/>
          <p:cNvCxnSpPr>
            <a:stCxn id="48" idx="1"/>
          </p:cNvCxnSpPr>
          <p:nvPr/>
        </p:nvCxnSpPr>
        <p:spPr>
          <a:xfrm>
            <a:off x="1331641" y="3112958"/>
            <a:ext cx="18002" cy="7434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CuadroTexto"/>
          <p:cNvSpPr txBox="1"/>
          <p:nvPr/>
        </p:nvSpPr>
        <p:spPr>
          <a:xfrm>
            <a:off x="-36512" y="3861048"/>
            <a:ext cx="4465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t: Valores de la variable independiente</a:t>
            </a:r>
          </a:p>
          <a:p>
            <a:pPr algn="ctr"/>
            <a:endParaRPr lang="es-AR" dirty="0" smtClean="0"/>
          </a:p>
          <a:p>
            <a:pPr algn="ctr"/>
            <a:r>
              <a:rPr lang="es-AR" dirty="0" smtClean="0"/>
              <a:t>y: Valores de las variables independientes</a:t>
            </a:r>
            <a:endParaRPr lang="es-AR" dirty="0"/>
          </a:p>
        </p:txBody>
      </p:sp>
      <p:sp>
        <p:nvSpPr>
          <p:cNvPr id="7" name="6 Rectángulo"/>
          <p:cNvSpPr/>
          <p:nvPr/>
        </p:nvSpPr>
        <p:spPr>
          <a:xfrm>
            <a:off x="902297" y="2232506"/>
            <a:ext cx="77845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dirty="0"/>
              <a:t>[t,y] = ode45</a:t>
            </a:r>
            <a:r>
              <a:rPr lang="fr-FR" sz="3200" dirty="0" smtClean="0"/>
              <a:t>(@diferencial2,(</a:t>
            </a:r>
            <a:r>
              <a:rPr lang="fr-FR" sz="3200" dirty="0"/>
              <a:t>0:0.1:2</a:t>
            </a:r>
            <a:r>
              <a:rPr lang="fr-FR" sz="3200" dirty="0" smtClean="0"/>
              <a:t>),[1;2])</a:t>
            </a:r>
            <a:endParaRPr lang="es-AR" sz="1600" dirty="0"/>
          </a:p>
        </p:txBody>
      </p:sp>
      <p:sp>
        <p:nvSpPr>
          <p:cNvPr id="17" name="1 Título"/>
          <p:cNvSpPr>
            <a:spLocks noGrp="1"/>
          </p:cNvSpPr>
          <p:nvPr>
            <p:ph type="title"/>
          </p:nvPr>
        </p:nvSpPr>
        <p:spPr>
          <a:xfrm>
            <a:off x="0" y="365760"/>
            <a:ext cx="9144000" cy="548640"/>
          </a:xfrm>
        </p:spPr>
        <p:txBody>
          <a:bodyPr/>
          <a:lstStyle/>
          <a:p>
            <a:pPr algn="ctr"/>
            <a:r>
              <a:rPr lang="es-AR" dirty="0" smtClean="0"/>
              <a:t>Resolución numérica de ecuaciones diferenciales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1494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  <p:bldP spid="41" grpId="0"/>
      <p:bldP spid="45" grpId="0"/>
      <p:bldP spid="46" grpId="0"/>
      <p:bldP spid="48" grpId="0" animBg="1"/>
      <p:bldP spid="5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SCILAB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6405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52 CuadroTexto"/>
          <p:cNvSpPr txBox="1"/>
          <p:nvPr/>
        </p:nvSpPr>
        <p:spPr>
          <a:xfrm>
            <a:off x="2627784" y="3034695"/>
            <a:ext cx="59766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 err="1"/>
              <a:t>f</a:t>
            </a:r>
            <a:r>
              <a:rPr lang="es-AR" sz="3200" dirty="0" err="1" smtClean="0"/>
              <a:t>unction</a:t>
            </a:r>
            <a:r>
              <a:rPr lang="es-AR" sz="3200" dirty="0" smtClean="0"/>
              <a:t> </a:t>
            </a:r>
            <a:r>
              <a:rPr lang="es-AR" sz="3200" dirty="0" err="1" smtClean="0"/>
              <a:t>dzdt</a:t>
            </a:r>
            <a:r>
              <a:rPr lang="es-AR" sz="3200" dirty="0" smtClean="0"/>
              <a:t> = diferencial2(</a:t>
            </a:r>
            <a:r>
              <a:rPr lang="es-AR" sz="3200" dirty="0" err="1" smtClean="0"/>
              <a:t>t,z</a:t>
            </a:r>
            <a:r>
              <a:rPr lang="es-AR" sz="3200" dirty="0" smtClean="0"/>
              <a:t>)</a:t>
            </a:r>
          </a:p>
          <a:p>
            <a:r>
              <a:rPr lang="es-AR" sz="3200" dirty="0"/>
              <a:t> </a:t>
            </a:r>
            <a:r>
              <a:rPr lang="es-AR" sz="3200" dirty="0" smtClean="0"/>
              <a:t>   </a:t>
            </a:r>
          </a:p>
          <a:p>
            <a:r>
              <a:rPr lang="es-AR" sz="3200" dirty="0" err="1" smtClean="0"/>
              <a:t>dzdt</a:t>
            </a:r>
            <a:r>
              <a:rPr lang="es-AR" sz="3200" dirty="0" smtClean="0"/>
              <a:t> = </a:t>
            </a:r>
            <a:r>
              <a:rPr lang="pl-PL" sz="3200" dirty="0"/>
              <a:t>[z(2)+t; -z(1)]</a:t>
            </a:r>
          </a:p>
          <a:p>
            <a:endParaRPr lang="es-AR" sz="3200" dirty="0" smtClean="0"/>
          </a:p>
          <a:p>
            <a:r>
              <a:rPr lang="es-AR" sz="3200" dirty="0" err="1" smtClean="0"/>
              <a:t>endfunction</a:t>
            </a:r>
            <a:endParaRPr lang="es-AR" sz="3200" dirty="0"/>
          </a:p>
        </p:txBody>
      </p:sp>
      <p:grpSp>
        <p:nvGrpSpPr>
          <p:cNvPr id="4" name="3 Grupo"/>
          <p:cNvGrpSpPr/>
          <p:nvPr/>
        </p:nvGrpSpPr>
        <p:grpSpPr>
          <a:xfrm>
            <a:off x="723353" y="3674237"/>
            <a:ext cx="1299523" cy="1296144"/>
            <a:chOff x="7092280" y="908720"/>
            <a:chExt cx="1299523" cy="1296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4 CuadroTexto"/>
                <p:cNvSpPr txBox="1"/>
                <p:nvPr/>
              </p:nvSpPr>
              <p:spPr>
                <a:xfrm>
                  <a:off x="7092280" y="908720"/>
                  <a:ext cx="1299523" cy="618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/>
                              </a:rPr>
                              <m:t>𝑑𝑦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/>
                              </a:rPr>
                              <m:t>𝑑𝑥</m:t>
                            </m:r>
                          </m:den>
                        </m:f>
                        <m:r>
                          <a:rPr lang="es-AR" b="0" i="1" smtClean="0">
                            <a:latin typeface="Cambria Math"/>
                          </a:rPr>
                          <m:t>=</m:t>
                        </m:r>
                        <m:r>
                          <a:rPr lang="es-AR" b="0" i="1" smtClean="0">
                            <a:latin typeface="Cambria Math"/>
                          </a:rPr>
                          <m:t>𝑧</m:t>
                        </m:r>
                        <m:r>
                          <a:rPr lang="es-AR" b="0" i="1" smtClean="0">
                            <a:latin typeface="Cambria Math"/>
                          </a:rPr>
                          <m:t>+</m:t>
                        </m:r>
                        <m:r>
                          <a:rPr lang="es-AR" b="0" i="1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es-AR" b="0" dirty="0" smtClean="0"/>
                </a:p>
              </p:txBody>
            </p:sp>
          </mc:Choice>
          <mc:Fallback xmlns="">
            <p:sp>
              <p:nvSpPr>
                <p:cNvPr id="5" name="4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280" y="908720"/>
                  <a:ext cx="1299523" cy="618246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5 CuadroTexto"/>
                <p:cNvSpPr txBox="1"/>
                <p:nvPr/>
              </p:nvSpPr>
              <p:spPr>
                <a:xfrm>
                  <a:off x="7092280" y="1586618"/>
                  <a:ext cx="1097352" cy="6182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s-AR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s-AR" b="0" i="1" smtClean="0">
                                <a:latin typeface="Cambria Math"/>
                              </a:rPr>
                              <m:t>𝑑𝑧</m:t>
                            </m:r>
                          </m:num>
                          <m:den>
                            <m:r>
                              <a:rPr lang="es-AR" b="0" i="1" smtClean="0">
                                <a:latin typeface="Cambria Math"/>
                              </a:rPr>
                              <m:t>𝑑𝑥</m:t>
                            </m:r>
                          </m:den>
                        </m:f>
                        <m:r>
                          <a:rPr lang="es-AR" b="0" i="1" smtClean="0">
                            <a:latin typeface="Cambria Math"/>
                          </a:rPr>
                          <m:t>=</m:t>
                        </m:r>
                        <m:r>
                          <a:rPr lang="es-AR" b="0" i="0" smtClean="0">
                            <a:latin typeface="Cambria Math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s-AR" b="0" i="0" smtClean="0">
                            <a:latin typeface="Cambria Math"/>
                          </a:rPr>
                          <m:t>y</m:t>
                        </m:r>
                      </m:oMath>
                    </m:oMathPara>
                  </a14:m>
                  <a:endParaRPr lang="es-AR" b="0" dirty="0" smtClean="0"/>
                </a:p>
              </p:txBody>
            </p:sp>
          </mc:Choice>
          <mc:Fallback xmlns="">
            <p:sp>
              <p:nvSpPr>
                <p:cNvPr id="6" name="5 CuadroTexto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2280" y="1586618"/>
                  <a:ext cx="1097352" cy="61824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7 Elipse"/>
          <p:cNvSpPr/>
          <p:nvPr/>
        </p:nvSpPr>
        <p:spPr>
          <a:xfrm>
            <a:off x="4907934" y="4117871"/>
            <a:ext cx="308238" cy="3625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Elipse"/>
          <p:cNvSpPr/>
          <p:nvPr/>
        </p:nvSpPr>
        <p:spPr>
          <a:xfrm>
            <a:off x="1362400" y="3932443"/>
            <a:ext cx="233012" cy="1949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9" name="48 Rectángulo"/>
          <p:cNvSpPr/>
          <p:nvPr/>
        </p:nvSpPr>
        <p:spPr>
          <a:xfrm>
            <a:off x="845370" y="3674237"/>
            <a:ext cx="295751" cy="129614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0" name="49 Rectángulo"/>
          <p:cNvSpPr/>
          <p:nvPr/>
        </p:nvSpPr>
        <p:spPr>
          <a:xfrm>
            <a:off x="1297722" y="3870702"/>
            <a:ext cx="725154" cy="256481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1" name="1 Título"/>
          <p:cNvSpPr txBox="1">
            <a:spLocks/>
          </p:cNvSpPr>
          <p:nvPr/>
        </p:nvSpPr>
        <p:spPr>
          <a:xfrm>
            <a:off x="35496" y="332656"/>
            <a:ext cx="9141256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 smtClean="0"/>
              <a:t>Resolución numérica de Ecuaciones diferenciales</a:t>
            </a:r>
            <a:endParaRPr lang="es-AR" dirty="0"/>
          </a:p>
        </p:txBody>
      </p:sp>
      <p:sp>
        <p:nvSpPr>
          <p:cNvPr id="42" name="41 CuadroTexto"/>
          <p:cNvSpPr txBox="1"/>
          <p:nvPr/>
        </p:nvSpPr>
        <p:spPr>
          <a:xfrm>
            <a:off x="179512" y="1045631"/>
            <a:ext cx="8140455" cy="1350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s-AR" sz="1900" dirty="0"/>
              <a:t>El sistema de ecuaciones se define del mismo modo que en Matlab y </a:t>
            </a:r>
            <a:r>
              <a:rPr lang="es-AR" sz="1900" dirty="0" err="1"/>
              <a:t>O</a:t>
            </a:r>
            <a:r>
              <a:rPr lang="es-AR" sz="1900" dirty="0" err="1" smtClean="0"/>
              <a:t>ctave</a:t>
            </a:r>
            <a:endParaRPr lang="es-AR" sz="1900" dirty="0" smtClean="0"/>
          </a:p>
          <a:p>
            <a:pPr marL="342900" indent="-3429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endParaRPr lang="es-AR" sz="1900" dirty="0"/>
          </a:p>
          <a:p>
            <a:pPr marL="342900" indent="-342900" algn="just">
              <a:lnSpc>
                <a:spcPct val="90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s-AR" sz="1900" dirty="0" smtClean="0"/>
              <a:t>El único cambio es en el llamado del comando “</a:t>
            </a:r>
            <a:r>
              <a:rPr lang="es-AR" sz="1900" dirty="0" err="1" smtClean="0"/>
              <a:t>ode</a:t>
            </a:r>
            <a:r>
              <a:rPr lang="es-AR" sz="1900" dirty="0" smtClean="0"/>
              <a:t>”</a:t>
            </a:r>
            <a:endParaRPr lang="es-AR" sz="1900" dirty="0"/>
          </a:p>
        </p:txBody>
      </p:sp>
      <p:sp>
        <p:nvSpPr>
          <p:cNvPr id="51" name="50 Cerrar llave"/>
          <p:cNvSpPr/>
          <p:nvPr/>
        </p:nvSpPr>
        <p:spPr>
          <a:xfrm rot="10800000">
            <a:off x="2339752" y="3084080"/>
            <a:ext cx="446321" cy="2444766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6" name="55 Rectángulo"/>
          <p:cNvSpPr/>
          <p:nvPr/>
        </p:nvSpPr>
        <p:spPr>
          <a:xfrm>
            <a:off x="2692029" y="4107248"/>
            <a:ext cx="799851" cy="43104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56 Rectángulo"/>
          <p:cNvSpPr/>
          <p:nvPr/>
        </p:nvSpPr>
        <p:spPr>
          <a:xfrm>
            <a:off x="4070291" y="4117871"/>
            <a:ext cx="1083313" cy="42042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9" name="58 Elipse"/>
          <p:cNvSpPr/>
          <p:nvPr/>
        </p:nvSpPr>
        <p:spPr>
          <a:xfrm>
            <a:off x="1752012" y="3932250"/>
            <a:ext cx="233012" cy="19493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0" name="59 Elipse"/>
          <p:cNvSpPr/>
          <p:nvPr/>
        </p:nvSpPr>
        <p:spPr>
          <a:xfrm>
            <a:off x="4031507" y="4061452"/>
            <a:ext cx="756517" cy="5504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75 Rectángulo"/>
          <p:cNvSpPr/>
          <p:nvPr/>
        </p:nvSpPr>
        <p:spPr>
          <a:xfrm>
            <a:off x="1383875" y="4581128"/>
            <a:ext cx="368138" cy="22156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5" name="75 Rectángulo"/>
          <p:cNvSpPr/>
          <p:nvPr/>
        </p:nvSpPr>
        <p:spPr>
          <a:xfrm>
            <a:off x="5273514" y="4117871"/>
            <a:ext cx="882661" cy="4289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7 Elipse"/>
          <p:cNvSpPr/>
          <p:nvPr/>
        </p:nvSpPr>
        <p:spPr>
          <a:xfrm>
            <a:off x="5327651" y="4107247"/>
            <a:ext cx="881966" cy="476483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2" name="7 Elipse"/>
          <p:cNvSpPr/>
          <p:nvPr/>
        </p:nvSpPr>
        <p:spPr>
          <a:xfrm>
            <a:off x="1357573" y="4546863"/>
            <a:ext cx="394439" cy="289427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641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49" grpId="0" animBg="1"/>
      <p:bldP spid="49" grpId="1" animBg="1"/>
      <p:bldP spid="50" grpId="0" animBg="1"/>
      <p:bldP spid="50" grpId="1" animBg="1"/>
      <p:bldP spid="56" grpId="0" animBg="1"/>
      <p:bldP spid="56" grpId="1" animBg="1"/>
      <p:bldP spid="57" grpId="0" animBg="1"/>
      <p:bldP spid="57" grpId="1" animBg="1"/>
      <p:bldP spid="59" grpId="0" animBg="1"/>
      <p:bldP spid="60" grpId="0" animBg="1"/>
      <p:bldP spid="54" grpId="0" animBg="1"/>
      <p:bldP spid="54" grpId="1" animBg="1"/>
      <p:bldP spid="55" grpId="0" animBg="1"/>
      <p:bldP spid="55" grpId="1" animBg="1"/>
      <p:bldP spid="58" grpId="0" animBg="1"/>
      <p:bldP spid="6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34533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s-AR" sz="1900" b="0" dirty="0"/>
              <a:t>El comando </a:t>
            </a:r>
            <a:r>
              <a:rPr lang="es-AR" sz="1900" b="0" dirty="0" err="1"/>
              <a:t>ode</a:t>
            </a:r>
            <a:r>
              <a:rPr lang="es-AR" sz="1900" b="0" dirty="0"/>
              <a:t> requiere definir condiciones iniciales y de contorno</a:t>
            </a:r>
          </a:p>
          <a:p>
            <a:pPr algn="just">
              <a:lnSpc>
                <a:spcPct val="110000"/>
              </a:lnSpc>
              <a:buFont typeface="Wingdings" panose="05000000000000000000" pitchFamily="2" charset="2"/>
              <a:buChar char="q"/>
            </a:pPr>
            <a:endParaRPr lang="es-AR" sz="1900" b="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43609" y="2134733"/>
            <a:ext cx="756649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4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onospaced"/>
                <a:cs typeface="Arial" pitchFamily="34" charset="0"/>
              </a:rPr>
              <a:t>y</a:t>
            </a:r>
            <a:r>
              <a:rPr kumimoji="0" lang="es-AR" altLang="es-AR" sz="4800" b="0" i="0" u="none" strike="noStrike" cap="none" normalizeH="0" baseline="0" dirty="0" smtClean="0">
                <a:ln>
                  <a:noFill/>
                </a:ln>
                <a:solidFill>
                  <a:srgbClr val="5C5C5C"/>
                </a:solidFill>
                <a:effectLst/>
                <a:latin typeface="Monospaced"/>
                <a:cs typeface="Arial" pitchFamily="34" charset="0"/>
              </a:rPr>
              <a:t>=</a:t>
            </a:r>
            <a:r>
              <a:rPr kumimoji="0" lang="es-AR" altLang="es-AR" sz="4800" b="0" i="0" u="none" strike="noStrike" cap="none" normalizeH="0" baseline="0" dirty="0" err="1" smtClean="0">
                <a:ln>
                  <a:noFill/>
                </a:ln>
                <a:solidFill>
                  <a:srgbClr val="32B9B9"/>
                </a:solidFill>
                <a:effectLst/>
                <a:latin typeface="Monospaced"/>
                <a:cs typeface="Arial" pitchFamily="34" charset="0"/>
              </a:rPr>
              <a:t>ode</a:t>
            </a:r>
            <a:r>
              <a:rPr kumimoji="0" lang="es-AR" altLang="es-AR" sz="4800" b="0" i="0" u="none" strike="noStrike" cap="none" normalizeH="0" baseline="0" dirty="0" smtClean="0">
                <a:ln>
                  <a:noFill/>
                </a:ln>
                <a:solidFill>
                  <a:srgbClr val="4A55DB"/>
                </a:solidFill>
                <a:effectLst/>
                <a:latin typeface="Monospaced"/>
                <a:cs typeface="Arial" pitchFamily="34" charset="0"/>
              </a:rPr>
              <a:t>(</a:t>
            </a:r>
            <a:r>
              <a:rPr kumimoji="0" lang="es-AR" altLang="es-AR" sz="4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Monospaced"/>
                <a:cs typeface="Arial" pitchFamily="34" charset="0"/>
              </a:rPr>
              <a:t>y0,x0,x,diferencial2</a:t>
            </a:r>
            <a:r>
              <a:rPr kumimoji="0" lang="es-AR" altLang="es-AR" sz="4800" b="0" i="0" u="none" strike="noStrike" cap="none" normalizeH="0" baseline="0" dirty="0" smtClean="0">
                <a:ln>
                  <a:noFill/>
                </a:ln>
                <a:solidFill>
                  <a:srgbClr val="4A55DB"/>
                </a:solidFill>
                <a:effectLst/>
                <a:latin typeface="Monospaced"/>
                <a:cs typeface="Arial" pitchFamily="34" charset="0"/>
              </a:rPr>
              <a:t>)</a:t>
            </a:r>
            <a:endParaRPr kumimoji="0" lang="es-AR" altLang="es-AR" sz="9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4 Abrir llave"/>
          <p:cNvSpPr/>
          <p:nvPr/>
        </p:nvSpPr>
        <p:spPr>
          <a:xfrm rot="16200000">
            <a:off x="6524740" y="1351031"/>
            <a:ext cx="270986" cy="3168353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" name="5 Conector angular"/>
          <p:cNvCxnSpPr>
            <a:stCxn id="5" idx="1"/>
            <a:endCxn id="41" idx="1"/>
          </p:cNvCxnSpPr>
          <p:nvPr/>
        </p:nvCxnSpPr>
        <p:spPr>
          <a:xfrm rot="16200000" flipH="1">
            <a:off x="6601440" y="3129495"/>
            <a:ext cx="333611" cy="216022"/>
          </a:xfrm>
          <a:prstGeom prst="bentConnector4">
            <a:avLst>
              <a:gd name="adj1" fmla="val 99929"/>
              <a:gd name="adj2" fmla="val 8136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8 Abrir llave"/>
          <p:cNvSpPr/>
          <p:nvPr/>
        </p:nvSpPr>
        <p:spPr>
          <a:xfrm rot="16200000">
            <a:off x="4586006" y="2694916"/>
            <a:ext cx="332030" cy="50405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angular"/>
          <p:cNvCxnSpPr>
            <a:stCxn id="9" idx="1"/>
          </p:cNvCxnSpPr>
          <p:nvPr/>
        </p:nvCxnSpPr>
        <p:spPr>
          <a:xfrm rot="16200000" flipH="1">
            <a:off x="4828027" y="3036953"/>
            <a:ext cx="892107" cy="104411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Abrir llave"/>
          <p:cNvSpPr/>
          <p:nvPr/>
        </p:nvSpPr>
        <p:spPr>
          <a:xfrm rot="16200000">
            <a:off x="3865534" y="2623298"/>
            <a:ext cx="350817" cy="66607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6" name="25 Conector angular"/>
          <p:cNvCxnSpPr>
            <a:stCxn id="14" idx="1"/>
          </p:cNvCxnSpPr>
          <p:nvPr/>
        </p:nvCxnSpPr>
        <p:spPr>
          <a:xfrm rot="16200000" flipH="1">
            <a:off x="4067835" y="3104853"/>
            <a:ext cx="1593401" cy="164718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32 Abrir llave"/>
          <p:cNvSpPr/>
          <p:nvPr/>
        </p:nvSpPr>
        <p:spPr>
          <a:xfrm rot="16200000">
            <a:off x="3109447" y="2623299"/>
            <a:ext cx="350817" cy="66607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4" name="33 Conector angular"/>
          <p:cNvCxnSpPr>
            <a:stCxn id="33" idx="1"/>
            <a:endCxn id="46" idx="1"/>
          </p:cNvCxnSpPr>
          <p:nvPr/>
        </p:nvCxnSpPr>
        <p:spPr>
          <a:xfrm rot="16200000" flipH="1">
            <a:off x="2430086" y="3986515"/>
            <a:ext cx="2564636" cy="85509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40 CuadroTexto"/>
          <p:cNvSpPr txBox="1"/>
          <p:nvPr/>
        </p:nvSpPr>
        <p:spPr>
          <a:xfrm>
            <a:off x="6876256" y="3081146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Nombre del sistema de ecuaciones</a:t>
            </a:r>
            <a:endParaRPr lang="es-AR" dirty="0"/>
          </a:p>
        </p:txBody>
      </p:sp>
      <p:sp>
        <p:nvSpPr>
          <p:cNvPr id="44" name="43 CuadroTexto"/>
          <p:cNvSpPr txBox="1"/>
          <p:nvPr/>
        </p:nvSpPr>
        <p:spPr>
          <a:xfrm>
            <a:off x="5796139" y="3681900"/>
            <a:ext cx="280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Valores en que se evalúa la variable independiente</a:t>
            </a:r>
            <a:endParaRPr lang="es-AR" dirty="0"/>
          </a:p>
        </p:txBody>
      </p:sp>
      <p:sp>
        <p:nvSpPr>
          <p:cNvPr id="45" name="44 CuadroTexto"/>
          <p:cNvSpPr txBox="1"/>
          <p:nvPr/>
        </p:nvSpPr>
        <p:spPr>
          <a:xfrm>
            <a:off x="5688128" y="4437112"/>
            <a:ext cx="280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 inicial de la variable dependiente</a:t>
            </a:r>
            <a:endParaRPr lang="es-AR" dirty="0"/>
          </a:p>
        </p:txBody>
      </p:sp>
      <p:sp>
        <p:nvSpPr>
          <p:cNvPr id="46" name="45 CuadroTexto"/>
          <p:cNvSpPr txBox="1"/>
          <p:nvPr/>
        </p:nvSpPr>
        <p:spPr>
          <a:xfrm>
            <a:off x="4139953" y="5373216"/>
            <a:ext cx="2808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 inicial de las variables independientes</a:t>
            </a:r>
            <a:endParaRPr lang="es-AR" dirty="0"/>
          </a:p>
        </p:txBody>
      </p:sp>
      <p:sp>
        <p:nvSpPr>
          <p:cNvPr id="48" name="47 Abrir llave"/>
          <p:cNvSpPr/>
          <p:nvPr/>
        </p:nvSpPr>
        <p:spPr>
          <a:xfrm rot="16200000">
            <a:off x="1129621" y="2838932"/>
            <a:ext cx="332031" cy="36004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50" name="49 Conector recto de flecha"/>
          <p:cNvCxnSpPr>
            <a:stCxn id="48" idx="1"/>
          </p:cNvCxnSpPr>
          <p:nvPr/>
        </p:nvCxnSpPr>
        <p:spPr>
          <a:xfrm flipH="1">
            <a:off x="1295636" y="3184968"/>
            <a:ext cx="1" cy="7434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CuadroTexto"/>
          <p:cNvSpPr txBox="1"/>
          <p:nvPr/>
        </p:nvSpPr>
        <p:spPr>
          <a:xfrm>
            <a:off x="-108518" y="3920036"/>
            <a:ext cx="2808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Vector o matriz que contiene los resultados de la discretización</a:t>
            </a:r>
            <a:endParaRPr lang="es-AR" dirty="0"/>
          </a:p>
        </p:txBody>
      </p:sp>
      <p:sp>
        <p:nvSpPr>
          <p:cNvPr id="23" name="1 Título"/>
          <p:cNvSpPr txBox="1">
            <a:spLocks/>
          </p:cNvSpPr>
          <p:nvPr/>
        </p:nvSpPr>
        <p:spPr>
          <a:xfrm>
            <a:off x="35496" y="332656"/>
            <a:ext cx="9141256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 smtClean="0"/>
              <a:t>Resolución numérica de Ecuaciones diferenciales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85548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  <p:bldP spid="33" grpId="0" animBg="1"/>
      <p:bldP spid="41" grpId="0"/>
      <p:bldP spid="44" grpId="0"/>
      <p:bldP spid="45" grpId="0"/>
      <p:bldP spid="46" grpId="0"/>
      <p:bldP spid="48" grpId="0" animBg="1"/>
      <p:bldP spid="5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de sistemas de ecuaciones lineales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5653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de sistemas de ecuaciones no lineales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9163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Matlab / </a:t>
            </a:r>
            <a:r>
              <a:rPr lang="es-AR" dirty="0" err="1" smtClean="0"/>
              <a:t>octave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01889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AR" sz="2800" dirty="0" smtClean="0"/>
              <a:t>Requiere que se cree una función que contenga el sistema de ecuaciones.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AR" sz="2800" dirty="0" smtClean="0"/>
              <a:t>Luego, desde un script o la consola se introducen los siguientes comandos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AR" sz="2800" dirty="0" smtClean="0"/>
          </a:p>
        </p:txBody>
      </p:sp>
      <p:sp>
        <p:nvSpPr>
          <p:cNvPr id="7" name="6 Rectángulo"/>
          <p:cNvSpPr/>
          <p:nvPr/>
        </p:nvSpPr>
        <p:spPr>
          <a:xfrm>
            <a:off x="3635896" y="5373216"/>
            <a:ext cx="18758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s-AR" sz="2400" dirty="0" err="1" smtClean="0"/>
              <a:t>fun</a:t>
            </a:r>
            <a:r>
              <a:rPr lang="es-AR" sz="2400" dirty="0" smtClean="0"/>
              <a:t>=@root2d</a:t>
            </a:r>
            <a:endParaRPr lang="es-AR" sz="2400" dirty="0">
              <a:solidFill>
                <a:srgbClr val="000000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3635896" y="5742548"/>
            <a:ext cx="12955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/>
              <a:t>x0=[0,0</a:t>
            </a:r>
            <a:r>
              <a:rPr lang="es-AR" sz="2400" dirty="0" smtClean="0"/>
              <a:t>]</a:t>
            </a:r>
            <a:endParaRPr lang="es-AR" sz="2400" dirty="0"/>
          </a:p>
        </p:txBody>
      </p:sp>
      <p:sp>
        <p:nvSpPr>
          <p:cNvPr id="9" name="8 Rectángulo"/>
          <p:cNvSpPr/>
          <p:nvPr/>
        </p:nvSpPr>
        <p:spPr>
          <a:xfrm>
            <a:off x="3638013" y="6111880"/>
            <a:ext cx="2249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/>
              <a:t>x=</a:t>
            </a:r>
            <a:r>
              <a:rPr lang="es-AR" sz="2400" dirty="0" err="1"/>
              <a:t>fsolve</a:t>
            </a:r>
            <a:r>
              <a:rPr lang="es-AR" sz="2400" dirty="0"/>
              <a:t>(fun,x0)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2655234" y="3356992"/>
            <a:ext cx="2387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000" dirty="0" err="1"/>
              <a:t>function</a:t>
            </a:r>
            <a:r>
              <a:rPr lang="es-AR" sz="2000" dirty="0"/>
              <a:t> F=root2d(x)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2627784" y="3807624"/>
            <a:ext cx="4803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  <a:r>
              <a:rPr lang="en-US" sz="2000" dirty="0"/>
              <a:t>F(1)=</a:t>
            </a:r>
            <a:r>
              <a:rPr lang="en-US" sz="2000" dirty="0" err="1"/>
              <a:t>exp</a:t>
            </a:r>
            <a:r>
              <a:rPr lang="en-US" sz="2000" dirty="0"/>
              <a:t>(-</a:t>
            </a:r>
            <a:r>
              <a:rPr lang="en-US" sz="2000" dirty="0" err="1"/>
              <a:t>exp</a:t>
            </a:r>
            <a:r>
              <a:rPr lang="en-US" sz="2000" dirty="0"/>
              <a:t>(-x(1)+x(2)))-x(2)*(1+x(1)^2);</a:t>
            </a:r>
            <a:endParaRPr lang="es-AR" sz="2000" dirty="0"/>
          </a:p>
        </p:txBody>
      </p:sp>
      <p:sp>
        <p:nvSpPr>
          <p:cNvPr id="12" name="11 Rectángulo"/>
          <p:cNvSpPr/>
          <p:nvPr/>
        </p:nvSpPr>
        <p:spPr>
          <a:xfrm>
            <a:off x="2618105" y="4283804"/>
            <a:ext cx="4402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 </a:t>
            </a:r>
            <a:r>
              <a:rPr lang="es-ES" sz="2000" dirty="0"/>
              <a:t>F(2)=x(1)*</a:t>
            </a:r>
            <a:r>
              <a:rPr lang="es-ES" sz="2000" dirty="0" err="1"/>
              <a:t>cos</a:t>
            </a:r>
            <a:r>
              <a:rPr lang="es-ES" sz="2000" dirty="0"/>
              <a:t>(x(2))+x(2)*sin(x(1))-0.5;</a:t>
            </a:r>
            <a:endParaRPr lang="es-AR" sz="2000" dirty="0"/>
          </a:p>
        </p:txBody>
      </p:sp>
      <p:sp>
        <p:nvSpPr>
          <p:cNvPr id="13" name="12 Rectángulo"/>
          <p:cNvSpPr/>
          <p:nvPr/>
        </p:nvSpPr>
        <p:spPr>
          <a:xfrm>
            <a:off x="2615551" y="4787860"/>
            <a:ext cx="595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 err="1" smtClean="0"/>
              <a:t>end</a:t>
            </a:r>
            <a:endParaRPr lang="es-AR" sz="2000" dirty="0"/>
          </a:p>
        </p:txBody>
      </p:sp>
      <p:sp>
        <p:nvSpPr>
          <p:cNvPr id="15" name="14 Rectángulo"/>
          <p:cNvSpPr/>
          <p:nvPr/>
        </p:nvSpPr>
        <p:spPr>
          <a:xfrm>
            <a:off x="3951378" y="3429000"/>
            <a:ext cx="758533" cy="3057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4283968" y="5435932"/>
            <a:ext cx="1150934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7" name="16 Rectángulo"/>
          <p:cNvSpPr/>
          <p:nvPr/>
        </p:nvSpPr>
        <p:spPr>
          <a:xfrm>
            <a:off x="2727242" y="3820696"/>
            <a:ext cx="4659800" cy="83244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17 Rectángulo"/>
          <p:cNvSpPr/>
          <p:nvPr/>
        </p:nvSpPr>
        <p:spPr>
          <a:xfrm>
            <a:off x="3696826" y="5809044"/>
            <a:ext cx="1122362" cy="35626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19" name="18 Rectángulo"/>
          <p:cNvSpPr/>
          <p:nvPr/>
        </p:nvSpPr>
        <p:spPr>
          <a:xfrm>
            <a:off x="3696825" y="6203924"/>
            <a:ext cx="2190650" cy="321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400"/>
          </a:p>
        </p:txBody>
      </p:sp>
      <p:sp>
        <p:nvSpPr>
          <p:cNvPr id="21" name="1 Título"/>
          <p:cNvSpPr txBox="1">
            <a:spLocks/>
          </p:cNvSpPr>
          <p:nvPr/>
        </p:nvSpPr>
        <p:spPr>
          <a:xfrm>
            <a:off x="0" y="332656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de sistemas de Ecuaciones no lineales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30601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SCILAB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4448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Marcador de contenido"/>
          <p:cNvSpPr>
            <a:spLocks noGrp="1"/>
          </p:cNvSpPr>
          <p:nvPr>
            <p:ph idx="1"/>
          </p:nvPr>
        </p:nvSpPr>
        <p:spPr>
          <a:xfrm>
            <a:off x="457202" y="2647978"/>
            <a:ext cx="8229600" cy="604664"/>
          </a:xfrm>
        </p:spPr>
        <p:txBody>
          <a:bodyPr/>
          <a:lstStyle/>
          <a:p>
            <a:r>
              <a:rPr lang="es-AR" sz="2000" b="0" dirty="0" smtClean="0"/>
              <a:t>Definición del sistema de ecuaciones</a:t>
            </a:r>
            <a:endParaRPr lang="es-AR" sz="2000" b="0" dirty="0"/>
          </a:p>
          <a:p>
            <a:pPr marL="0" indent="0">
              <a:buNone/>
            </a:pPr>
            <a:endParaRPr lang="es-A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4 CuadroTexto"/>
              <p:cNvSpPr txBox="1"/>
              <p:nvPr/>
            </p:nvSpPr>
            <p:spPr>
              <a:xfrm>
                <a:off x="0" y="1340768"/>
                <a:ext cx="91440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/>
                        </a:rPr>
                        <m:t>𝐸𝑐𝑢𝑎𝑐𝑖</m:t>
                      </m:r>
                      <m:r>
                        <a:rPr lang="es-AR" sz="2400" b="0" i="1" smtClean="0">
                          <a:latin typeface="Cambria Math"/>
                        </a:rPr>
                        <m:t>ó</m:t>
                      </m:r>
                      <m:r>
                        <a:rPr lang="es-AR" sz="2400" b="0" i="1" smtClean="0">
                          <a:latin typeface="Cambria Math"/>
                        </a:rPr>
                        <m:t>𝑛</m:t>
                      </m:r>
                      <m:r>
                        <a:rPr lang="es-AR" sz="2400" b="0" i="1" smtClean="0">
                          <a:latin typeface="Cambria Math"/>
                        </a:rPr>
                        <m:t> 1: 2.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s-AR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/>
                        </a:rPr>
                        <m:t>+3.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sz="2400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s-AR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/>
                        </a:rPr>
                        <m:t>−32=0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5" name="4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340768"/>
                <a:ext cx="9144000" cy="461665"/>
              </a:xfrm>
              <a:prstGeom prst="rect">
                <a:avLst/>
              </a:prstGeom>
              <a:blipFill rotWithShape="1">
                <a:blip r:embed="rId2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5 CuadroTexto"/>
              <p:cNvSpPr txBox="1"/>
              <p:nvPr/>
            </p:nvSpPr>
            <p:spPr>
              <a:xfrm>
                <a:off x="0" y="1979548"/>
                <a:ext cx="914400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smtClean="0">
                          <a:latin typeface="Cambria Math"/>
                        </a:rPr>
                        <m:t>𝐸𝑐𝑢𝑎𝑐𝑖</m:t>
                      </m:r>
                      <m:r>
                        <a:rPr lang="es-AR" sz="2400" b="0" i="1" smtClean="0">
                          <a:latin typeface="Cambria Math"/>
                        </a:rPr>
                        <m:t>ó</m:t>
                      </m:r>
                      <m:r>
                        <a:rPr lang="es-AR" sz="2400" b="0" i="1" smtClean="0">
                          <a:latin typeface="Cambria Math"/>
                        </a:rPr>
                        <m:t>𝑛</m:t>
                      </m:r>
                      <m:r>
                        <a:rPr lang="es-AR" sz="2400" b="0" i="1" smtClean="0">
                          <a:latin typeface="Cambria Math"/>
                        </a:rPr>
                        <m:t> 2: </m:t>
                      </m:r>
                      <m:d>
                        <m:dPr>
                          <m:ctrlPr>
                            <a:rPr lang="es-AR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s-AR" sz="2400" b="0" i="1" smtClean="0">
                          <a:latin typeface="Cambria Math"/>
                        </a:rPr>
                        <m:t>.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s-AR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/>
                        </a:rPr>
                        <m:t>+4.</m:t>
                      </m:r>
                      <m:sSup>
                        <m:sSupPr>
                          <m:ctrlPr>
                            <a:rPr lang="es-AR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s-AR" sz="2400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s-AR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s-AR" sz="2400" b="0" i="1" smtClean="0">
                          <a:latin typeface="Cambria Math"/>
                        </a:rPr>
                        <m:t>+48=0</m:t>
                      </m:r>
                    </m:oMath>
                  </m:oMathPara>
                </a14:m>
                <a:endParaRPr lang="es-AR" sz="2400" dirty="0"/>
              </a:p>
            </p:txBody>
          </p:sp>
        </mc:Choice>
        <mc:Fallback xmlns="">
          <p:sp>
            <p:nvSpPr>
              <p:cNvPr id="6" name="5 CuadroTex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79548"/>
                <a:ext cx="9144002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7 Rectángulo"/>
          <p:cNvSpPr/>
          <p:nvPr/>
        </p:nvSpPr>
        <p:spPr>
          <a:xfrm>
            <a:off x="2" y="3252641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 err="1"/>
              <a:t>deff</a:t>
            </a:r>
            <a:r>
              <a:rPr lang="es-ES" sz="2400" dirty="0"/>
              <a:t>('[y</a:t>
            </a:r>
            <a:r>
              <a:rPr lang="es-ES" sz="2400" dirty="0" smtClean="0"/>
              <a:t>]=</a:t>
            </a:r>
            <a:r>
              <a:rPr lang="es-ES" sz="2400" dirty="0" err="1" smtClean="0"/>
              <a:t>sist</a:t>
            </a:r>
            <a:r>
              <a:rPr lang="es-ES" sz="2400" dirty="0" smtClean="0"/>
              <a:t>(x</a:t>
            </a:r>
            <a:r>
              <a:rPr lang="es-ES" sz="2400" dirty="0"/>
              <a:t>)','y=[2*x(1)^2+3*x(2)^2-32</a:t>
            </a:r>
            <a:r>
              <a:rPr lang="es-ES" sz="2400" dirty="0" smtClean="0"/>
              <a:t>,(-3</a:t>
            </a:r>
            <a:r>
              <a:rPr lang="es-ES" sz="2400" dirty="0"/>
              <a:t>)*x(1)^2+4*x(2)+48]');</a:t>
            </a:r>
            <a:endParaRPr lang="es-AR" sz="2400" dirty="0"/>
          </a:p>
        </p:txBody>
      </p:sp>
      <p:sp>
        <p:nvSpPr>
          <p:cNvPr id="9" name="8 Abrir llave"/>
          <p:cNvSpPr/>
          <p:nvPr/>
        </p:nvSpPr>
        <p:spPr>
          <a:xfrm rot="16200000">
            <a:off x="1268827" y="3110332"/>
            <a:ext cx="341657" cy="136815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angular"/>
          <p:cNvCxnSpPr>
            <a:stCxn id="9" idx="1"/>
            <a:endCxn id="11" idx="1"/>
          </p:cNvCxnSpPr>
          <p:nvPr/>
        </p:nvCxnSpPr>
        <p:spPr>
          <a:xfrm rot="16200000" flipH="1">
            <a:off x="1146520" y="4258374"/>
            <a:ext cx="1522377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2375760" y="5025950"/>
            <a:ext cx="6768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err="1" smtClean="0"/>
              <a:t>sist</a:t>
            </a:r>
            <a:r>
              <a:rPr lang="es-AR" dirty="0" smtClean="0"/>
              <a:t>: Nombre del sistema de ecuaciones</a:t>
            </a:r>
          </a:p>
          <a:p>
            <a:r>
              <a:rPr lang="es-AR" dirty="0"/>
              <a:t>x</a:t>
            </a:r>
            <a:r>
              <a:rPr lang="es-AR" dirty="0" smtClean="0"/>
              <a:t>: Vector de variables independientes (incógnitas)</a:t>
            </a:r>
          </a:p>
          <a:p>
            <a:r>
              <a:rPr lang="es-AR" dirty="0"/>
              <a:t>y</a:t>
            </a:r>
            <a:r>
              <a:rPr lang="es-AR" dirty="0" smtClean="0"/>
              <a:t>:  Vector de variables dependientes (ceros)</a:t>
            </a:r>
            <a:endParaRPr lang="es-AR" dirty="0"/>
          </a:p>
        </p:txBody>
      </p:sp>
      <p:sp>
        <p:nvSpPr>
          <p:cNvPr id="12" name="11 Abrir llave"/>
          <p:cNvSpPr/>
          <p:nvPr/>
        </p:nvSpPr>
        <p:spPr>
          <a:xfrm rot="16200000">
            <a:off x="3964545" y="2286822"/>
            <a:ext cx="350817" cy="302433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3" name="12 Conector angular"/>
          <p:cNvCxnSpPr>
            <a:stCxn id="12" idx="1"/>
            <a:endCxn id="14" idx="1"/>
          </p:cNvCxnSpPr>
          <p:nvPr/>
        </p:nvCxnSpPr>
        <p:spPr>
          <a:xfrm rot="16200000" flipH="1">
            <a:off x="4171350" y="3943003"/>
            <a:ext cx="585280" cy="648072"/>
          </a:xfrm>
          <a:prstGeom prst="bentConnector4">
            <a:avLst>
              <a:gd name="adj1" fmla="val 99793"/>
              <a:gd name="adj2" fmla="val 63533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4788026" y="4375013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Ecuación 1</a:t>
            </a:r>
            <a:endParaRPr lang="es-AR" dirty="0"/>
          </a:p>
        </p:txBody>
      </p:sp>
      <p:sp>
        <p:nvSpPr>
          <p:cNvPr id="17" name="16 Abrir llave"/>
          <p:cNvSpPr/>
          <p:nvPr/>
        </p:nvSpPr>
        <p:spPr>
          <a:xfrm rot="16200000">
            <a:off x="7060888" y="2286821"/>
            <a:ext cx="350817" cy="302433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8" name="17 Conector angular"/>
          <p:cNvCxnSpPr>
            <a:stCxn id="17" idx="1"/>
            <a:endCxn id="19" idx="1"/>
          </p:cNvCxnSpPr>
          <p:nvPr/>
        </p:nvCxnSpPr>
        <p:spPr>
          <a:xfrm rot="16200000" flipH="1">
            <a:off x="7105420" y="4105274"/>
            <a:ext cx="585281" cy="323527"/>
          </a:xfrm>
          <a:prstGeom prst="bentConnector4">
            <a:avLst>
              <a:gd name="adj1" fmla="val 99823"/>
              <a:gd name="adj2" fmla="val 7710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CuadroTexto"/>
          <p:cNvSpPr txBox="1"/>
          <p:nvPr/>
        </p:nvSpPr>
        <p:spPr>
          <a:xfrm>
            <a:off x="7559824" y="4375013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Ecuación 2</a:t>
            </a:r>
            <a:endParaRPr lang="es-AR" dirty="0"/>
          </a:p>
        </p:txBody>
      </p:sp>
      <p:sp>
        <p:nvSpPr>
          <p:cNvPr id="20" name="1 Título"/>
          <p:cNvSpPr txBox="1">
            <a:spLocks/>
          </p:cNvSpPr>
          <p:nvPr/>
        </p:nvSpPr>
        <p:spPr>
          <a:xfrm>
            <a:off x="0" y="332656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de sistemas de Ecuaciones no lineales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30100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7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1115616" y="1628800"/>
            <a:ext cx="65346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4000" dirty="0"/>
              <a:t>[</a:t>
            </a:r>
            <a:r>
              <a:rPr lang="es-AR" sz="4000" dirty="0" err="1"/>
              <a:t>x,v</a:t>
            </a:r>
            <a:r>
              <a:rPr lang="es-AR" sz="4000" dirty="0"/>
              <a:t>]=</a:t>
            </a:r>
            <a:r>
              <a:rPr lang="es-AR" sz="4000" dirty="0" err="1"/>
              <a:t>fsolve</a:t>
            </a:r>
            <a:r>
              <a:rPr lang="es-AR" sz="4000" dirty="0"/>
              <a:t>([10,0</a:t>
            </a:r>
            <a:r>
              <a:rPr lang="es-AR" sz="4000" dirty="0" smtClean="0"/>
              <a:t>],sist,1e-30</a:t>
            </a:r>
            <a:r>
              <a:rPr lang="es-AR" sz="4000" dirty="0"/>
              <a:t>)</a:t>
            </a:r>
          </a:p>
        </p:txBody>
      </p:sp>
      <p:sp>
        <p:nvSpPr>
          <p:cNvPr id="5" name="4 Abrir llave"/>
          <p:cNvSpPr/>
          <p:nvPr/>
        </p:nvSpPr>
        <p:spPr>
          <a:xfrm rot="16200000">
            <a:off x="4240484" y="1724617"/>
            <a:ext cx="350817" cy="122413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6" name="5 Conector angular"/>
          <p:cNvCxnSpPr>
            <a:stCxn id="5" idx="1"/>
            <a:endCxn id="7" idx="1"/>
          </p:cNvCxnSpPr>
          <p:nvPr/>
        </p:nvCxnSpPr>
        <p:spPr>
          <a:xfrm rot="16200000" flipH="1">
            <a:off x="4027602" y="2900384"/>
            <a:ext cx="2168918" cy="139233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6 CuadroTexto"/>
          <p:cNvSpPr txBox="1"/>
          <p:nvPr/>
        </p:nvSpPr>
        <p:spPr>
          <a:xfrm>
            <a:off x="5808230" y="4496346"/>
            <a:ext cx="2628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Valor semilla</a:t>
            </a:r>
            <a:endParaRPr lang="es-AR" dirty="0"/>
          </a:p>
        </p:txBody>
      </p:sp>
      <p:sp>
        <p:nvSpPr>
          <p:cNvPr id="10" name="9 Abrir llave"/>
          <p:cNvSpPr/>
          <p:nvPr/>
        </p:nvSpPr>
        <p:spPr>
          <a:xfrm rot="16200000">
            <a:off x="5413282" y="1870250"/>
            <a:ext cx="350817" cy="953255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1" name="10 Conector angular"/>
          <p:cNvCxnSpPr>
            <a:stCxn id="10" idx="1"/>
          </p:cNvCxnSpPr>
          <p:nvPr/>
        </p:nvCxnSpPr>
        <p:spPr>
          <a:xfrm rot="16200000" flipH="1">
            <a:off x="5675096" y="2435880"/>
            <a:ext cx="1486888" cy="165969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7253713" y="3573016"/>
            <a:ext cx="1398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Nombre del sistema de ecuaciones</a:t>
            </a:r>
            <a:endParaRPr lang="es-AR" dirty="0"/>
          </a:p>
        </p:txBody>
      </p:sp>
      <p:sp>
        <p:nvSpPr>
          <p:cNvPr id="14" name="13 Abrir llave"/>
          <p:cNvSpPr/>
          <p:nvPr/>
        </p:nvSpPr>
        <p:spPr>
          <a:xfrm rot="16200000">
            <a:off x="6547407" y="1689380"/>
            <a:ext cx="350817" cy="1314996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5" name="14 Conector angular"/>
          <p:cNvCxnSpPr>
            <a:stCxn id="14" idx="1"/>
            <a:endCxn id="16" idx="1"/>
          </p:cNvCxnSpPr>
          <p:nvPr/>
        </p:nvCxnSpPr>
        <p:spPr>
          <a:xfrm rot="16200000" flipH="1">
            <a:off x="6818654" y="2426449"/>
            <a:ext cx="364079" cy="555754"/>
          </a:xfrm>
          <a:prstGeom prst="bentConnector4">
            <a:avLst>
              <a:gd name="adj1" fmla="val 62789"/>
              <a:gd name="adj2" fmla="val 6578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CuadroTexto"/>
          <p:cNvSpPr txBox="1"/>
          <p:nvPr/>
        </p:nvSpPr>
        <p:spPr>
          <a:xfrm>
            <a:off x="7278570" y="2563200"/>
            <a:ext cx="1311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Tolerancia del cálculo</a:t>
            </a:r>
            <a:endParaRPr lang="es-AR" dirty="0"/>
          </a:p>
        </p:txBody>
      </p:sp>
      <p:sp>
        <p:nvSpPr>
          <p:cNvPr id="21" name="20 Abrir llave"/>
          <p:cNvSpPr/>
          <p:nvPr/>
        </p:nvSpPr>
        <p:spPr>
          <a:xfrm rot="16200000">
            <a:off x="1474594" y="2040906"/>
            <a:ext cx="350817" cy="65749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2" name="21 Conector angular"/>
          <p:cNvCxnSpPr>
            <a:stCxn id="21" idx="1"/>
            <a:endCxn id="23" idx="1"/>
          </p:cNvCxnSpPr>
          <p:nvPr/>
        </p:nvCxnSpPr>
        <p:spPr>
          <a:xfrm rot="16200000" flipH="1">
            <a:off x="1869278" y="2325789"/>
            <a:ext cx="445952" cy="88450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2534505" y="2667850"/>
            <a:ext cx="1398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 smtClean="0"/>
              <a:t>x: </a:t>
            </a:r>
            <a:r>
              <a:rPr lang="es-AR" dirty="0" err="1" smtClean="0"/>
              <a:t>Raices</a:t>
            </a:r>
            <a:endParaRPr lang="es-AR" dirty="0" smtClean="0"/>
          </a:p>
          <a:p>
            <a:r>
              <a:rPr lang="es-AR" dirty="0" smtClean="0"/>
              <a:t>v: Error</a:t>
            </a:r>
            <a:endParaRPr lang="es-AR" dirty="0"/>
          </a:p>
        </p:txBody>
      </p:sp>
      <p:sp>
        <p:nvSpPr>
          <p:cNvPr id="18" name="1 Título"/>
          <p:cNvSpPr txBox="1">
            <a:spLocks/>
          </p:cNvSpPr>
          <p:nvPr/>
        </p:nvSpPr>
        <p:spPr>
          <a:xfrm>
            <a:off x="0" y="332656"/>
            <a:ext cx="914400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Resolución de sistemas de Ecuaciones no lineales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0426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4" grpId="0" animBg="1"/>
      <p:bldP spid="21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0" y="1882803"/>
            <a:ext cx="9144000" cy="1204306"/>
          </a:xfrm>
          <a:prstGeom prst="rect">
            <a:avLst/>
          </a:prstGeom>
        </p:spPr>
        <p:txBody>
          <a:bodyPr vert="horz" lIns="91440" tIns="45720" rIns="91440" bIns="9144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Control automático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9299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72816"/>
            <a:ext cx="4048125" cy="2286000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272" y="1772816"/>
            <a:ext cx="3886200" cy="1914525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-396552" y="4221088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Funciones de transferencia</a:t>
            </a:r>
            <a:endParaRPr lang="es-AR" dirty="0"/>
          </a:p>
        </p:txBody>
      </p:sp>
      <p:sp>
        <p:nvSpPr>
          <p:cNvPr id="22" name="CuadroTexto 21"/>
          <p:cNvSpPr txBox="1"/>
          <p:nvPr/>
        </p:nvSpPr>
        <p:spPr>
          <a:xfrm>
            <a:off x="2915816" y="4221088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Sirven para modelar el lazo de control (proceso incluido)</a:t>
            </a:r>
            <a:endParaRPr lang="es-AR" dirty="0"/>
          </a:p>
        </p:txBody>
      </p:sp>
      <p:sp>
        <p:nvSpPr>
          <p:cNvPr id="23" name="CuadroTexto 22"/>
          <p:cNvSpPr txBox="1"/>
          <p:nvPr/>
        </p:nvSpPr>
        <p:spPr>
          <a:xfrm>
            <a:off x="2987824" y="4643844"/>
            <a:ext cx="5724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Conocer la variación temporal de las variables involucradas en el proceso (especialmente la variable controlada) por un cambio en las otras variables</a:t>
            </a:r>
            <a:endParaRPr lang="es-AR" dirty="0"/>
          </a:p>
        </p:txBody>
      </p:sp>
      <p:cxnSp>
        <p:nvCxnSpPr>
          <p:cNvPr id="25" name="Conector recto de flecha 24"/>
          <p:cNvCxnSpPr>
            <a:stCxn id="21" idx="3"/>
            <a:endCxn id="22" idx="1"/>
          </p:cNvCxnSpPr>
          <p:nvPr/>
        </p:nvCxnSpPr>
        <p:spPr>
          <a:xfrm>
            <a:off x="2339752" y="4405754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>
            <a:stCxn id="21" idx="3"/>
            <a:endCxn id="23" idx="1"/>
          </p:cNvCxnSpPr>
          <p:nvPr/>
        </p:nvCxnSpPr>
        <p:spPr>
          <a:xfrm>
            <a:off x="2339752" y="4405754"/>
            <a:ext cx="648072" cy="699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/>
          <p:cNvSpPr txBox="1"/>
          <p:nvPr/>
        </p:nvSpPr>
        <p:spPr>
          <a:xfrm>
            <a:off x="-396552" y="5661248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PID (controlador)</a:t>
            </a:r>
            <a:endParaRPr lang="es-AR" dirty="0"/>
          </a:p>
        </p:txBody>
      </p:sp>
      <p:sp>
        <p:nvSpPr>
          <p:cNvPr id="33" name="CuadroTexto 32"/>
          <p:cNvSpPr txBox="1"/>
          <p:nvPr/>
        </p:nvSpPr>
        <p:spPr>
          <a:xfrm>
            <a:off x="2915816" y="5589240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Calcula el error y envía una respuesta correctiva</a:t>
            </a:r>
            <a:endParaRPr lang="es-AR" dirty="0"/>
          </a:p>
        </p:txBody>
      </p:sp>
      <p:sp>
        <p:nvSpPr>
          <p:cNvPr id="34" name="CuadroTexto 33"/>
          <p:cNvSpPr txBox="1"/>
          <p:nvPr/>
        </p:nvSpPr>
        <p:spPr>
          <a:xfrm>
            <a:off x="2987824" y="6011996"/>
            <a:ext cx="57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Se modela con una función de transferencia</a:t>
            </a:r>
            <a:endParaRPr lang="es-AR" dirty="0"/>
          </a:p>
        </p:txBody>
      </p:sp>
      <p:cxnSp>
        <p:nvCxnSpPr>
          <p:cNvPr id="35" name="Conector recto de flecha 34"/>
          <p:cNvCxnSpPr>
            <a:endCxn id="33" idx="1"/>
          </p:cNvCxnSpPr>
          <p:nvPr/>
        </p:nvCxnSpPr>
        <p:spPr>
          <a:xfrm>
            <a:off x="2339752" y="5773906"/>
            <a:ext cx="576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/>
          <p:cNvCxnSpPr>
            <a:endCxn id="34" idx="1"/>
          </p:cNvCxnSpPr>
          <p:nvPr/>
        </p:nvCxnSpPr>
        <p:spPr>
          <a:xfrm>
            <a:off x="2339752" y="5773906"/>
            <a:ext cx="648072" cy="422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Control automático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19467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514475"/>
            <a:ext cx="3886200" cy="1914525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35496" y="3717032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Funciones de transferencia</a:t>
            </a:r>
            <a:endParaRPr lang="es-AR" dirty="0"/>
          </a:p>
        </p:txBody>
      </p:sp>
      <p:sp>
        <p:nvSpPr>
          <p:cNvPr id="22" name="CuadroTexto 21"/>
          <p:cNvSpPr txBox="1"/>
          <p:nvPr/>
        </p:nvSpPr>
        <p:spPr>
          <a:xfrm>
            <a:off x="3423515" y="3709407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Se pueden sumar, restar, multiplicar y dividir</a:t>
            </a:r>
            <a:endParaRPr lang="es-AR" dirty="0"/>
          </a:p>
        </p:txBody>
      </p:sp>
      <p:sp>
        <p:nvSpPr>
          <p:cNvPr id="23" name="CuadroTexto 22"/>
          <p:cNvSpPr txBox="1"/>
          <p:nvPr/>
        </p:nvSpPr>
        <p:spPr>
          <a:xfrm>
            <a:off x="3419872" y="4139788"/>
            <a:ext cx="5724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Matlab y </a:t>
            </a:r>
            <a:r>
              <a:rPr lang="es-AR" dirty="0" err="1" smtClean="0"/>
              <a:t>Octave</a:t>
            </a:r>
            <a:r>
              <a:rPr lang="es-AR" dirty="0" smtClean="0"/>
              <a:t> permiten realizar operaciones con funciones de transferencia</a:t>
            </a:r>
            <a:endParaRPr lang="es-AR" dirty="0"/>
          </a:p>
        </p:txBody>
      </p:sp>
      <p:cxnSp>
        <p:nvCxnSpPr>
          <p:cNvPr id="25" name="Conector recto de flecha 24"/>
          <p:cNvCxnSpPr>
            <a:stCxn id="21" idx="3"/>
            <a:endCxn id="22" idx="1"/>
          </p:cNvCxnSpPr>
          <p:nvPr/>
        </p:nvCxnSpPr>
        <p:spPr>
          <a:xfrm flipV="1">
            <a:off x="2771800" y="3894073"/>
            <a:ext cx="651715" cy="7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>
            <a:stCxn id="21" idx="3"/>
            <a:endCxn id="23" idx="1"/>
          </p:cNvCxnSpPr>
          <p:nvPr/>
        </p:nvCxnSpPr>
        <p:spPr>
          <a:xfrm>
            <a:off x="2771800" y="3901698"/>
            <a:ext cx="648072" cy="56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3419872" y="4726885"/>
            <a:ext cx="5724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Muchas veces es importante saber cual va a ser la salida de una función de transferencia ante una entrada determinada (salto, rampa o impulso, casi siempre)</a:t>
            </a:r>
            <a:endParaRPr lang="es-AR" dirty="0"/>
          </a:p>
        </p:txBody>
      </p:sp>
      <p:cxnSp>
        <p:nvCxnSpPr>
          <p:cNvPr id="17" name="Conector recto de flecha 16"/>
          <p:cNvCxnSpPr>
            <a:stCxn id="21" idx="3"/>
            <a:endCxn id="16" idx="1"/>
          </p:cNvCxnSpPr>
          <p:nvPr/>
        </p:nvCxnSpPr>
        <p:spPr>
          <a:xfrm>
            <a:off x="2771800" y="3901698"/>
            <a:ext cx="648072" cy="1286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n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2" y="1556792"/>
            <a:ext cx="3886200" cy="1914525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 rotWithShape="1">
          <a:blip r:embed="rId2"/>
          <a:srcRect l="33353" t="61969" r="44412" b="419"/>
          <a:stretch/>
        </p:blipFill>
        <p:spPr>
          <a:xfrm>
            <a:off x="5868144" y="2370899"/>
            <a:ext cx="864096" cy="720079"/>
          </a:xfrm>
          <a:prstGeom prst="rect">
            <a:avLst/>
          </a:prstGeom>
        </p:spPr>
      </p:pic>
      <p:grpSp>
        <p:nvGrpSpPr>
          <p:cNvPr id="19" name="Grupo 18"/>
          <p:cNvGrpSpPr/>
          <p:nvPr/>
        </p:nvGrpSpPr>
        <p:grpSpPr>
          <a:xfrm>
            <a:off x="5076056" y="2204864"/>
            <a:ext cx="432048" cy="432048"/>
            <a:chOff x="4355976" y="2204864"/>
            <a:chExt cx="432048" cy="432048"/>
          </a:xfrm>
        </p:grpSpPr>
        <p:cxnSp>
          <p:nvCxnSpPr>
            <p:cNvPr id="9" name="Conector angular 8"/>
            <p:cNvCxnSpPr/>
            <p:nvPr/>
          </p:nvCxnSpPr>
          <p:spPr>
            <a:xfrm flipV="1">
              <a:off x="4355976" y="2276872"/>
              <a:ext cx="432048" cy="288032"/>
            </a:xfrm>
            <a:prstGeom prst="bentConnector3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ángulo 9"/>
            <p:cNvSpPr/>
            <p:nvPr/>
          </p:nvSpPr>
          <p:spPr>
            <a:xfrm>
              <a:off x="4355976" y="2204864"/>
              <a:ext cx="432048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5076056" y="2780928"/>
            <a:ext cx="432048" cy="432048"/>
            <a:chOff x="4355976" y="2780928"/>
            <a:chExt cx="432048" cy="432048"/>
          </a:xfrm>
        </p:grpSpPr>
        <p:sp>
          <p:nvSpPr>
            <p:cNvPr id="29" name="Rectángulo 28"/>
            <p:cNvSpPr/>
            <p:nvPr/>
          </p:nvSpPr>
          <p:spPr>
            <a:xfrm>
              <a:off x="4355976" y="2780928"/>
              <a:ext cx="432048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13" name="Conector recto 12"/>
            <p:cNvCxnSpPr/>
            <p:nvPr/>
          </p:nvCxnSpPr>
          <p:spPr>
            <a:xfrm>
              <a:off x="4355976" y="3140968"/>
              <a:ext cx="72008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>
            <a:xfrm flipV="1">
              <a:off x="4427984" y="2852936"/>
              <a:ext cx="360040" cy="288032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/>
          <p:cNvGrpSpPr/>
          <p:nvPr/>
        </p:nvGrpSpPr>
        <p:grpSpPr>
          <a:xfrm>
            <a:off x="7236295" y="2171292"/>
            <a:ext cx="1080121" cy="1041684"/>
            <a:chOff x="6804248" y="1412776"/>
            <a:chExt cx="1368153" cy="1257708"/>
          </a:xfrm>
        </p:grpSpPr>
        <p:sp>
          <p:nvSpPr>
            <p:cNvPr id="31" name="Arco 30"/>
            <p:cNvSpPr/>
            <p:nvPr/>
          </p:nvSpPr>
          <p:spPr>
            <a:xfrm rot="16200000">
              <a:off x="6931578" y="1429661"/>
              <a:ext cx="1219273" cy="1262373"/>
            </a:xfrm>
            <a:prstGeom prst="arc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7" name="Rectángulo 36"/>
            <p:cNvSpPr/>
            <p:nvPr/>
          </p:nvSpPr>
          <p:spPr>
            <a:xfrm>
              <a:off x="6804248" y="1412776"/>
              <a:ext cx="720080" cy="6432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40" name="Arco 39"/>
          <p:cNvSpPr/>
          <p:nvPr/>
        </p:nvSpPr>
        <p:spPr>
          <a:xfrm rot="5400000">
            <a:off x="6826791" y="2554356"/>
            <a:ext cx="980162" cy="853766"/>
          </a:xfrm>
          <a:prstGeom prst="arc">
            <a:avLst>
              <a:gd name="adj1" fmla="val 15863414"/>
              <a:gd name="adj2" fmla="val 27433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Rectángulo 40"/>
          <p:cNvSpPr/>
          <p:nvPr/>
        </p:nvSpPr>
        <p:spPr>
          <a:xfrm>
            <a:off x="7219094" y="2940351"/>
            <a:ext cx="613751" cy="532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4" name="Imagen 43"/>
          <p:cNvPicPr>
            <a:picLocks noChangeAspect="1"/>
          </p:cNvPicPr>
          <p:nvPr/>
        </p:nvPicPr>
        <p:blipFill rotWithShape="1">
          <a:blip r:embed="rId2"/>
          <a:srcRect l="33352" t="30090" r="44413" b="51104"/>
          <a:stretch/>
        </p:blipFill>
        <p:spPr>
          <a:xfrm>
            <a:off x="5868144" y="2564903"/>
            <a:ext cx="864096" cy="360041"/>
          </a:xfrm>
          <a:prstGeom prst="rect">
            <a:avLst/>
          </a:prstGeom>
        </p:spPr>
      </p:pic>
      <p:cxnSp>
        <p:nvCxnSpPr>
          <p:cNvPr id="46" name="Conector recto de flecha 45"/>
          <p:cNvCxnSpPr>
            <a:stCxn id="10" idx="3"/>
          </p:cNvCxnSpPr>
          <p:nvPr/>
        </p:nvCxnSpPr>
        <p:spPr>
          <a:xfrm>
            <a:off x="5508104" y="2420888"/>
            <a:ext cx="432048" cy="240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/>
          <p:cNvCxnSpPr>
            <a:stCxn id="29" idx="3"/>
          </p:cNvCxnSpPr>
          <p:nvPr/>
        </p:nvCxnSpPr>
        <p:spPr>
          <a:xfrm flipV="1">
            <a:off x="5508104" y="2873236"/>
            <a:ext cx="432048" cy="12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>
            <a:endCxn id="37" idx="1"/>
          </p:cNvCxnSpPr>
          <p:nvPr/>
        </p:nvCxnSpPr>
        <p:spPr>
          <a:xfrm flipV="1">
            <a:off x="6680861" y="2437658"/>
            <a:ext cx="555434" cy="206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endCxn id="41" idx="1"/>
          </p:cNvCxnSpPr>
          <p:nvPr/>
        </p:nvCxnSpPr>
        <p:spPr>
          <a:xfrm>
            <a:off x="6689461" y="2867993"/>
            <a:ext cx="529633" cy="338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/>
          <p:cNvSpPr txBox="1"/>
          <p:nvPr/>
        </p:nvSpPr>
        <p:spPr>
          <a:xfrm>
            <a:off x="1115616" y="6021288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¿Converge o diverge? ¿Como?</a:t>
            </a:r>
            <a:endParaRPr lang="es-AR" dirty="0"/>
          </a:p>
        </p:txBody>
      </p:sp>
      <p:cxnSp>
        <p:nvCxnSpPr>
          <p:cNvPr id="64" name="Conector recto de flecha 63"/>
          <p:cNvCxnSpPr/>
          <p:nvPr/>
        </p:nvCxnSpPr>
        <p:spPr>
          <a:xfrm flipV="1">
            <a:off x="4058816" y="6205954"/>
            <a:ext cx="6572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>
            <a:off x="4716015" y="6021288"/>
            <a:ext cx="3675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El lugar de las raíces (</a:t>
            </a:r>
            <a:r>
              <a:rPr lang="es-AR" dirty="0" err="1" smtClean="0"/>
              <a:t>Root</a:t>
            </a:r>
            <a:r>
              <a:rPr lang="es-AR" dirty="0" smtClean="0"/>
              <a:t> Locus)</a:t>
            </a:r>
            <a:endParaRPr lang="es-AR" dirty="0"/>
          </a:p>
        </p:txBody>
      </p:sp>
      <p:sp>
        <p:nvSpPr>
          <p:cNvPr id="33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Control automático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5211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6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856" y="1514475"/>
            <a:ext cx="3886200" cy="1914525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-72008" y="3717032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 smtClean="0"/>
              <a:t>Funciones de transferencia</a:t>
            </a:r>
            <a:endParaRPr lang="es-AR" dirty="0"/>
          </a:p>
        </p:txBody>
      </p:sp>
      <p:sp>
        <p:nvSpPr>
          <p:cNvPr id="22" name="CuadroTexto 21"/>
          <p:cNvSpPr txBox="1"/>
          <p:nvPr/>
        </p:nvSpPr>
        <p:spPr>
          <a:xfrm>
            <a:off x="3460027" y="3709407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Se pueden sumar, restar, multiplicar y dividir</a:t>
            </a:r>
            <a:endParaRPr lang="es-AR" dirty="0"/>
          </a:p>
        </p:txBody>
      </p:sp>
      <p:sp>
        <p:nvSpPr>
          <p:cNvPr id="23" name="CuadroTexto 22"/>
          <p:cNvSpPr txBox="1"/>
          <p:nvPr/>
        </p:nvSpPr>
        <p:spPr>
          <a:xfrm>
            <a:off x="3456384" y="4139788"/>
            <a:ext cx="5724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Matlab y </a:t>
            </a:r>
            <a:r>
              <a:rPr lang="es-AR" dirty="0" err="1" smtClean="0"/>
              <a:t>Octave</a:t>
            </a:r>
            <a:r>
              <a:rPr lang="es-AR" dirty="0" smtClean="0"/>
              <a:t> permiten realizar operaciones con funciones de transferencia</a:t>
            </a:r>
            <a:endParaRPr lang="es-AR" dirty="0"/>
          </a:p>
        </p:txBody>
      </p:sp>
      <p:cxnSp>
        <p:nvCxnSpPr>
          <p:cNvPr id="25" name="Conector recto de flecha 24"/>
          <p:cNvCxnSpPr>
            <a:stCxn id="21" idx="3"/>
            <a:endCxn id="22" idx="1"/>
          </p:cNvCxnSpPr>
          <p:nvPr/>
        </p:nvCxnSpPr>
        <p:spPr>
          <a:xfrm flipV="1">
            <a:off x="2808312" y="3894073"/>
            <a:ext cx="651715" cy="7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>
            <a:stCxn id="21" idx="3"/>
            <a:endCxn id="23" idx="1"/>
          </p:cNvCxnSpPr>
          <p:nvPr/>
        </p:nvCxnSpPr>
        <p:spPr>
          <a:xfrm>
            <a:off x="2808312" y="3901698"/>
            <a:ext cx="648072" cy="561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/>
          <p:cNvSpPr txBox="1"/>
          <p:nvPr/>
        </p:nvSpPr>
        <p:spPr>
          <a:xfrm>
            <a:off x="3456384" y="4726885"/>
            <a:ext cx="5724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Muchas veces es importante saber cual va a ser la salida de una función de transferencia ante una entrada determinada (salto, rampa o impulso, casi siempre)</a:t>
            </a:r>
            <a:endParaRPr lang="es-AR" dirty="0"/>
          </a:p>
        </p:txBody>
      </p:sp>
      <p:cxnSp>
        <p:nvCxnSpPr>
          <p:cNvPr id="17" name="Conector recto de flecha 16"/>
          <p:cNvCxnSpPr>
            <a:stCxn id="21" idx="3"/>
            <a:endCxn id="16" idx="1"/>
          </p:cNvCxnSpPr>
          <p:nvPr/>
        </p:nvCxnSpPr>
        <p:spPr>
          <a:xfrm>
            <a:off x="2808312" y="3901698"/>
            <a:ext cx="648072" cy="1286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Imagen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2" y="1556792"/>
            <a:ext cx="3886200" cy="1914525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 rotWithShape="1">
          <a:blip r:embed="rId2"/>
          <a:srcRect l="33353" t="61969" r="44412" b="419"/>
          <a:stretch/>
        </p:blipFill>
        <p:spPr>
          <a:xfrm>
            <a:off x="5868144" y="2370899"/>
            <a:ext cx="864096" cy="720079"/>
          </a:xfrm>
          <a:prstGeom prst="rect">
            <a:avLst/>
          </a:prstGeom>
        </p:spPr>
      </p:pic>
      <p:grpSp>
        <p:nvGrpSpPr>
          <p:cNvPr id="19" name="Grupo 18"/>
          <p:cNvGrpSpPr/>
          <p:nvPr/>
        </p:nvGrpSpPr>
        <p:grpSpPr>
          <a:xfrm>
            <a:off x="5076056" y="2204864"/>
            <a:ext cx="432048" cy="432048"/>
            <a:chOff x="4355976" y="2204864"/>
            <a:chExt cx="432048" cy="432048"/>
          </a:xfrm>
        </p:grpSpPr>
        <p:cxnSp>
          <p:nvCxnSpPr>
            <p:cNvPr id="9" name="Conector angular 8"/>
            <p:cNvCxnSpPr/>
            <p:nvPr/>
          </p:nvCxnSpPr>
          <p:spPr>
            <a:xfrm flipV="1">
              <a:off x="4355976" y="2276872"/>
              <a:ext cx="432048" cy="288032"/>
            </a:xfrm>
            <a:prstGeom prst="bentConnector3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ángulo 9"/>
            <p:cNvSpPr/>
            <p:nvPr/>
          </p:nvSpPr>
          <p:spPr>
            <a:xfrm>
              <a:off x="4355976" y="2204864"/>
              <a:ext cx="432048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0" name="Grupo 29"/>
          <p:cNvGrpSpPr/>
          <p:nvPr/>
        </p:nvGrpSpPr>
        <p:grpSpPr>
          <a:xfrm>
            <a:off x="5076056" y="2780928"/>
            <a:ext cx="432048" cy="432048"/>
            <a:chOff x="4355976" y="2780928"/>
            <a:chExt cx="432048" cy="432048"/>
          </a:xfrm>
        </p:grpSpPr>
        <p:sp>
          <p:nvSpPr>
            <p:cNvPr id="29" name="Rectángulo 28"/>
            <p:cNvSpPr/>
            <p:nvPr/>
          </p:nvSpPr>
          <p:spPr>
            <a:xfrm>
              <a:off x="4355976" y="2780928"/>
              <a:ext cx="432048" cy="4320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cxnSp>
          <p:nvCxnSpPr>
            <p:cNvPr id="13" name="Conector recto 12"/>
            <p:cNvCxnSpPr/>
            <p:nvPr/>
          </p:nvCxnSpPr>
          <p:spPr>
            <a:xfrm>
              <a:off x="4355976" y="3140968"/>
              <a:ext cx="72008" cy="0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/>
            <p:cNvCxnSpPr/>
            <p:nvPr/>
          </p:nvCxnSpPr>
          <p:spPr>
            <a:xfrm flipV="1">
              <a:off x="4427984" y="2852936"/>
              <a:ext cx="360040" cy="288032"/>
            </a:xfrm>
            <a:prstGeom prst="line">
              <a:avLst/>
            </a:prstGeom>
            <a:ln w="317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/>
          <p:cNvGrpSpPr/>
          <p:nvPr/>
        </p:nvGrpSpPr>
        <p:grpSpPr>
          <a:xfrm>
            <a:off x="7236295" y="2171292"/>
            <a:ext cx="1080121" cy="1041684"/>
            <a:chOff x="6804248" y="1412776"/>
            <a:chExt cx="1368153" cy="1257708"/>
          </a:xfrm>
        </p:grpSpPr>
        <p:sp>
          <p:nvSpPr>
            <p:cNvPr id="31" name="Arco 30"/>
            <p:cNvSpPr/>
            <p:nvPr/>
          </p:nvSpPr>
          <p:spPr>
            <a:xfrm rot="16200000">
              <a:off x="6931578" y="1429661"/>
              <a:ext cx="1219273" cy="1262373"/>
            </a:xfrm>
            <a:prstGeom prst="arc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7" name="Rectángulo 36"/>
            <p:cNvSpPr/>
            <p:nvPr/>
          </p:nvSpPr>
          <p:spPr>
            <a:xfrm>
              <a:off x="6804248" y="1412776"/>
              <a:ext cx="720080" cy="6432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40" name="Arco 39"/>
          <p:cNvSpPr/>
          <p:nvPr/>
        </p:nvSpPr>
        <p:spPr>
          <a:xfrm rot="5400000">
            <a:off x="6826791" y="2554356"/>
            <a:ext cx="980162" cy="853766"/>
          </a:xfrm>
          <a:prstGeom prst="arc">
            <a:avLst>
              <a:gd name="adj1" fmla="val 15863414"/>
              <a:gd name="adj2" fmla="val 27433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1" name="Rectángulo 40"/>
          <p:cNvSpPr/>
          <p:nvPr/>
        </p:nvSpPr>
        <p:spPr>
          <a:xfrm>
            <a:off x="7219094" y="2940351"/>
            <a:ext cx="613751" cy="5327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44" name="Imagen 43"/>
          <p:cNvPicPr>
            <a:picLocks noChangeAspect="1"/>
          </p:cNvPicPr>
          <p:nvPr/>
        </p:nvPicPr>
        <p:blipFill rotWithShape="1">
          <a:blip r:embed="rId2"/>
          <a:srcRect l="33352" t="30090" r="44413" b="51104"/>
          <a:stretch/>
        </p:blipFill>
        <p:spPr>
          <a:xfrm>
            <a:off x="5868144" y="2564903"/>
            <a:ext cx="864096" cy="360041"/>
          </a:xfrm>
          <a:prstGeom prst="rect">
            <a:avLst/>
          </a:prstGeom>
        </p:spPr>
      </p:pic>
      <p:cxnSp>
        <p:nvCxnSpPr>
          <p:cNvPr id="46" name="Conector recto de flecha 45"/>
          <p:cNvCxnSpPr>
            <a:stCxn id="10" idx="3"/>
          </p:cNvCxnSpPr>
          <p:nvPr/>
        </p:nvCxnSpPr>
        <p:spPr>
          <a:xfrm>
            <a:off x="5508104" y="2420888"/>
            <a:ext cx="432048" cy="240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/>
          <p:cNvCxnSpPr>
            <a:stCxn id="29" idx="3"/>
          </p:cNvCxnSpPr>
          <p:nvPr/>
        </p:nvCxnSpPr>
        <p:spPr>
          <a:xfrm flipV="1">
            <a:off x="5508104" y="2873236"/>
            <a:ext cx="432048" cy="123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>
            <a:endCxn id="37" idx="1"/>
          </p:cNvCxnSpPr>
          <p:nvPr/>
        </p:nvCxnSpPr>
        <p:spPr>
          <a:xfrm flipV="1">
            <a:off x="6680861" y="2437658"/>
            <a:ext cx="555434" cy="206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/>
          <p:cNvCxnSpPr>
            <a:endCxn id="41" idx="1"/>
          </p:cNvCxnSpPr>
          <p:nvPr/>
        </p:nvCxnSpPr>
        <p:spPr>
          <a:xfrm>
            <a:off x="6689461" y="2867993"/>
            <a:ext cx="529633" cy="338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uadroTexto 62"/>
          <p:cNvSpPr txBox="1"/>
          <p:nvPr/>
        </p:nvSpPr>
        <p:spPr>
          <a:xfrm>
            <a:off x="1043608" y="6021288"/>
            <a:ext cx="316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¿Converge o diverge? ¿Como?</a:t>
            </a:r>
            <a:endParaRPr lang="es-AR" dirty="0"/>
          </a:p>
        </p:txBody>
      </p:sp>
      <p:cxnSp>
        <p:nvCxnSpPr>
          <p:cNvPr id="64" name="Conector recto de flecha 63"/>
          <p:cNvCxnSpPr/>
          <p:nvPr/>
        </p:nvCxnSpPr>
        <p:spPr>
          <a:xfrm flipV="1">
            <a:off x="4200600" y="6205954"/>
            <a:ext cx="6572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uadroTexto 65"/>
          <p:cNvSpPr txBox="1"/>
          <p:nvPr/>
        </p:nvSpPr>
        <p:spPr>
          <a:xfrm>
            <a:off x="5070421" y="6021288"/>
            <a:ext cx="3675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dirty="0" smtClean="0"/>
              <a:t>El lugar de las raíces (</a:t>
            </a:r>
            <a:r>
              <a:rPr lang="es-AR" dirty="0" err="1" smtClean="0"/>
              <a:t>Root</a:t>
            </a:r>
            <a:r>
              <a:rPr lang="es-AR" dirty="0" smtClean="0"/>
              <a:t> Locus)</a:t>
            </a:r>
            <a:endParaRPr lang="es-AR" dirty="0"/>
          </a:p>
        </p:txBody>
      </p:sp>
      <p:sp>
        <p:nvSpPr>
          <p:cNvPr id="33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Control automático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1757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63" grpId="0"/>
      <p:bldP spid="66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028457"/>
              </p:ext>
            </p:extLst>
          </p:nvPr>
        </p:nvGraphicFramePr>
        <p:xfrm>
          <a:off x="35496" y="1268760"/>
          <a:ext cx="9098203" cy="5232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4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9334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86740">
                <a:tc rowSpan="2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Descripción</a:t>
                      </a:r>
                      <a:endParaRPr lang="es-AR" dirty="0"/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Comando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2241">
                <a:tc vMerge="1">
                  <a:txBody>
                    <a:bodyPr/>
                    <a:lstStyle/>
                    <a:p>
                      <a:pPr algn="ctr"/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Matlab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Scilab</a:t>
                      </a:r>
                      <a:endParaRPr lang="es-AR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Octave</a:t>
                      </a:r>
                      <a:endParaRPr lang="es-AR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4249">
                <a:tc rowSpan="2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función de transferencia</a:t>
                      </a:r>
                      <a:endParaRPr lang="es-AR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zpk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zpk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zpk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95668">
                <a:tc v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s-A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tl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baseline="0" dirty="0" err="1" smtClean="0"/>
                        <a:t>s</a:t>
                      </a:r>
                      <a:r>
                        <a:rPr lang="es-AR" dirty="0" err="1" smtClean="0"/>
                        <a:t>yslin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tl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2681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Introducir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entrada de salto a una función de transferencia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step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csim</a:t>
                      </a:r>
                      <a:r>
                        <a:rPr lang="es-AR" dirty="0" smtClean="0"/>
                        <a:t>(“</a:t>
                      </a:r>
                      <a:r>
                        <a:rPr lang="es-AR" dirty="0" err="1" smtClean="0"/>
                        <a:t>step</a:t>
                      </a:r>
                      <a:r>
                        <a:rPr lang="es-AR" dirty="0" smtClean="0"/>
                        <a:t>”)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step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6896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Introducir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entrada de rampa a una función de transferencia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ramp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csim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ramp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7527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Introducir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entrada impulso a una función de transferencia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smtClean="0"/>
                        <a:t>impulse()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csim</a:t>
                      </a:r>
                      <a:r>
                        <a:rPr lang="es-AR" dirty="0" smtClean="0"/>
                        <a:t>(“impulse”)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impulse()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26938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Introducir</a:t>
                      </a:r>
                      <a:r>
                        <a:rPr lang="es-AR" sz="18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una entrada específica a una función de transferencia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lsim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dirty="0" err="1" smtClean="0"/>
                        <a:t>csim</a:t>
                      </a:r>
                      <a:r>
                        <a:rPr lang="es-AR" dirty="0" smtClean="0"/>
                        <a:t>()</a:t>
                      </a:r>
                      <a:endParaRPr lang="es-A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lsim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9634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Hallar</a:t>
                      </a:r>
                      <a:r>
                        <a:rPr lang="es-AR" baseline="0" dirty="0" smtClean="0"/>
                        <a:t> el lugar de las </a:t>
                      </a:r>
                      <a:r>
                        <a:rPr lang="es-AR" baseline="0" dirty="0" err="1" smtClean="0"/>
                        <a:t>raices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rlocus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evans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rlocus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96349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Calcular el diagrama</a:t>
                      </a:r>
                      <a:r>
                        <a:rPr lang="es-AR" baseline="0" dirty="0" smtClean="0"/>
                        <a:t> de bode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bode()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29451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Crear</a:t>
                      </a:r>
                      <a:r>
                        <a:rPr lang="es-AR" baseline="0" dirty="0" smtClean="0"/>
                        <a:t> un PID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pid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smtClean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pid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29451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Feedback</a:t>
                      </a:r>
                      <a:endParaRPr lang="es-AR" dirty="0" smtClean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Feedback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Sl1 /. Sl2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Feedback</a:t>
                      </a:r>
                      <a:r>
                        <a:rPr lang="es-AR" dirty="0" smtClean="0"/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</a:tbl>
          </a:graphicData>
        </a:graphic>
      </p:graphicFrame>
      <p:sp>
        <p:nvSpPr>
          <p:cNvPr id="14" name="1 Título"/>
          <p:cNvSpPr txBox="1">
            <a:spLocks/>
          </p:cNvSpPr>
          <p:nvPr/>
        </p:nvSpPr>
        <p:spPr>
          <a:xfrm>
            <a:off x="975360" y="5181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dirty="0" smtClean="0"/>
              <a:t>Control automático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53857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Ángulos">
  <a:themeElements>
    <a:clrScheme name="Á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Á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Á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5790160</TotalTime>
  <Words>8207</Words>
  <Application>Microsoft Office PowerPoint</Application>
  <PresentationFormat>Presentación en pantalla (4:3)</PresentationFormat>
  <Paragraphs>2296</Paragraphs>
  <Slides>132</Slides>
  <Notes>5</Notes>
  <HiddenSlides>9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132</vt:i4>
      </vt:variant>
    </vt:vector>
  </HeadingPairs>
  <TitlesOfParts>
    <vt:vector size="133" baseType="lpstr">
      <vt:lpstr>Ángulos</vt:lpstr>
      <vt:lpstr>Matlab, Octave, Scilab y sus entornos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Operaciones matemáticas básicas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Funciones matemáticas especiales</vt:lpstr>
      <vt:lpstr>Presentación de PowerPoint</vt:lpstr>
      <vt:lpstr>Presentación de PowerPoint</vt:lpstr>
      <vt:lpstr>Vectores y matrices</vt:lpstr>
      <vt:lpstr>Vectores y matrices</vt:lpstr>
      <vt:lpstr>B/A→x.A=B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Formato</vt:lpstr>
      <vt:lpstr>Scilab</vt:lpstr>
      <vt:lpstr>Presentación de PowerPoint</vt:lpstr>
      <vt:lpstr>Presentación de PowerPoint</vt:lpstr>
      <vt:lpstr>Scilab</vt:lpstr>
      <vt:lpstr>Errores</vt:lpstr>
      <vt:lpstr>Presentación de PowerPoint</vt:lpstr>
      <vt:lpstr>Formato</vt:lpstr>
      <vt:lpstr>Matlab / octave</vt:lpstr>
      <vt:lpstr>Matlab</vt:lpstr>
      <vt:lpstr>Errores</vt:lpstr>
      <vt:lpstr>Matlab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Operaciones con word y excel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Integrales definidas e indefinidas</vt:lpstr>
      <vt:lpstr>Presentación de PowerPoint</vt:lpstr>
      <vt:lpstr>Derivadas</vt:lpstr>
      <vt:lpstr>Presentación de PowerPoint</vt:lpstr>
      <vt:lpstr>Presentación de PowerPoint</vt:lpstr>
      <vt:lpstr>Presentación de PowerPoint</vt:lpstr>
      <vt:lpstr>Introducción a la resolución numérica de ecuaciones diferenciales</vt:lpstr>
      <vt:lpstr>Introducción a la resolución numérica de ecuaciones diferenciales</vt:lpstr>
      <vt:lpstr>Presentación de PowerPoint</vt:lpstr>
      <vt:lpstr>Presentación de PowerPoint</vt:lpstr>
      <vt:lpstr>Resolución numérica de ecuaciones diferenciales</vt:lpstr>
      <vt:lpstr>Resolución numérica de ecuaciones diferenciales</vt:lpstr>
      <vt:lpstr>Resolución numérica de ecuaciones diferenciales</vt:lpstr>
      <vt:lpstr>Resolución numérica de ecuaciones diferenciales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función</dc:title>
  <dc:creator>Juan Pedro</dc:creator>
  <cp:lastModifiedBy>Juan Pedro</cp:lastModifiedBy>
  <cp:revision>203</cp:revision>
  <dcterms:created xsi:type="dcterms:W3CDTF">2022-06-22T11:13:56Z</dcterms:created>
  <dcterms:modified xsi:type="dcterms:W3CDTF">2023-11-23T17:51:12Z</dcterms:modified>
</cp:coreProperties>
</file>